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2000"/>
  <p:notesSz cx="6858000" cy="9144000"/>
  <p:embeddedFontLst>
    <p:embeddedFont>
      <p:font typeface="Libre Franklin"/>
      <p:regular r:id="rId34"/>
      <p:bold r:id="rId35"/>
      <p:italic r:id="rId36"/>
      <p:boldItalic r:id="rId37"/>
    </p:embeddedFont>
    <p:embeddedFont>
      <p:font typeface="Arimo"/>
      <p:regular r:id="rId38"/>
      <p:bold r:id="rId39"/>
      <p:italic r:id="rId40"/>
      <p:boldItalic r:id="rId41"/>
    </p:embeddedFont>
    <p:embeddedFont>
      <p:font typeface="Arial Black"/>
      <p:regular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ho6MFvxqLBW8QdQPGkuT/2HFhU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99A6F3-D952-429E-B19D-6FA7876C0030}">
  <a:tblStyle styleId="{B499A6F3-D952-429E-B19D-6FA7876C00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48DD74A-A1A7-4777-8AA3-1E47BC875A0D}" styleName="Table_1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E2C20AF3-28AD-4B50-9251-37FC827B966A}" styleName="Table_2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4E6"/>
          </a:solidFill>
        </a:fill>
      </a:tcStyle>
    </a:wholeTbl>
    <a:band1H>
      <a:tcTxStyle/>
      <a:tcStyle>
        <a:fill>
          <a:solidFill>
            <a:srgbClr val="FFE8CA"/>
          </a:solidFill>
        </a:fill>
      </a:tcStyle>
    </a:band1H>
    <a:band2H>
      <a:tcTxStyle/>
    </a:band2H>
    <a:band1V>
      <a:tcTxStyle/>
      <a:tcStyle>
        <a:fill>
          <a:solidFill>
            <a:srgbClr val="FFE8C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4E6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FFF4E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-italic.fntdata"/><Relationship Id="rId20" Type="http://schemas.openxmlformats.org/officeDocument/2006/relationships/slide" Target="slides/slide14.xml"/><Relationship Id="rId42" Type="http://schemas.openxmlformats.org/officeDocument/2006/relationships/font" Target="fonts/ArialBlack-regular.fntdata"/><Relationship Id="rId41" Type="http://schemas.openxmlformats.org/officeDocument/2006/relationships/font" Target="fonts/Arim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LibreFranklin-bold.fntdata"/><Relationship Id="rId12" Type="http://schemas.openxmlformats.org/officeDocument/2006/relationships/slide" Target="slides/slide6.xml"/><Relationship Id="rId34" Type="http://schemas.openxmlformats.org/officeDocument/2006/relationships/font" Target="fonts/LibreFranklin-regular.fntdata"/><Relationship Id="rId15" Type="http://schemas.openxmlformats.org/officeDocument/2006/relationships/slide" Target="slides/slide9.xml"/><Relationship Id="rId37" Type="http://schemas.openxmlformats.org/officeDocument/2006/relationships/font" Target="fonts/LibreFranklin-boldItalic.fntdata"/><Relationship Id="rId14" Type="http://schemas.openxmlformats.org/officeDocument/2006/relationships/slide" Target="slides/slide8.xml"/><Relationship Id="rId36" Type="http://schemas.openxmlformats.org/officeDocument/2006/relationships/font" Target="fonts/LibreFranklin-italic.fntdata"/><Relationship Id="rId17" Type="http://schemas.openxmlformats.org/officeDocument/2006/relationships/slide" Target="slides/slide11.xml"/><Relationship Id="rId39" Type="http://schemas.openxmlformats.org/officeDocument/2006/relationships/font" Target="fonts/Arimo-bold.fntdata"/><Relationship Id="rId16" Type="http://schemas.openxmlformats.org/officeDocument/2006/relationships/slide" Target="slides/slide10.xml"/><Relationship Id="rId38" Type="http://schemas.openxmlformats.org/officeDocument/2006/relationships/font" Target="fonts/Arim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>
  <p:cSld name="Diapositive de titr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9"/>
          <p:cNvSpPr txBox="1"/>
          <p:nvPr>
            <p:ph type="ctrTitle"/>
          </p:nvPr>
        </p:nvSpPr>
        <p:spPr>
          <a:xfrm>
            <a:off x="3385429" y="3768778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800"/>
              <a:buFont typeface="Arimo"/>
              <a:buNone/>
              <a:defRPr sz="4800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1" name="Google Shape;2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810" y="0"/>
            <a:ext cx="12215810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" name="Google Shape;29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mo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bg>
      <p:bgPr>
        <a:gradFill>
          <a:gsLst>
            <a:gs pos="0">
              <a:srgbClr val="DDEAF6"/>
            </a:gs>
            <a:gs pos="14276">
              <a:srgbClr val="F1F7FC"/>
            </a:gs>
            <a:gs pos="24785">
              <a:schemeClr val="lt1"/>
            </a:gs>
            <a:gs pos="36289">
              <a:schemeClr val="lt1"/>
            </a:gs>
            <a:gs pos="54900">
              <a:schemeClr val="lt1"/>
            </a:gs>
            <a:gs pos="75000">
              <a:schemeClr val="lt1"/>
            </a:gs>
            <a:gs pos="83000">
              <a:schemeClr val="lt1"/>
            </a:gs>
            <a:gs pos="100000">
              <a:schemeClr val="lt1"/>
            </a:gs>
          </a:gsLst>
          <a:lin ang="5400000" scaled="0"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4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mo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m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1" name="Google Shape;5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m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" type="body"/>
          </p:nvPr>
        </p:nvSpPr>
        <p:spPr>
          <a:xfrm rot="5400000">
            <a:off x="3920331" y="-12819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EAF6"/>
            </a:gs>
            <a:gs pos="24785">
              <a:schemeClr val="lt1"/>
            </a:gs>
            <a:gs pos="36289">
              <a:schemeClr val="lt1"/>
            </a:gs>
            <a:gs pos="54900">
              <a:schemeClr val="lt1"/>
            </a:gs>
            <a:gs pos="75000">
              <a:schemeClr val="lt1"/>
            </a:gs>
            <a:gs pos="83000">
              <a:schemeClr val="lt1"/>
            </a:gs>
            <a:gs pos="100000">
              <a:schemeClr val="lt1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mo"/>
              <a:buNone/>
              <a:defRPr b="0" i="0" sz="4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6045198" y="6356350"/>
            <a:ext cx="2489201" cy="3651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14" name="Google Shape;14;p28"/>
          <p:cNvCxnSpPr/>
          <p:nvPr/>
        </p:nvCxnSpPr>
        <p:spPr>
          <a:xfrm rot="10800000">
            <a:off x="406399" y="1354138"/>
            <a:ext cx="11556998" cy="0"/>
          </a:xfrm>
          <a:prstGeom prst="straightConnector1">
            <a:avLst/>
          </a:prstGeom>
          <a:noFill/>
          <a:ln cap="flat" cmpd="sng" w="28575">
            <a:solidFill>
              <a:srgbClr val="0049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28"/>
          <p:cNvCxnSpPr/>
          <p:nvPr/>
        </p:nvCxnSpPr>
        <p:spPr>
          <a:xfrm rot="10800000">
            <a:off x="406397" y="6280147"/>
            <a:ext cx="11556999" cy="1"/>
          </a:xfrm>
          <a:prstGeom prst="straightConnector1">
            <a:avLst/>
          </a:prstGeom>
          <a:noFill/>
          <a:ln cap="flat" cmpd="sng" w="9525">
            <a:solidFill>
              <a:srgbClr val="00489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" name="Google Shape;16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06396" y="6327774"/>
            <a:ext cx="685803" cy="5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8"/>
          <p:cNvSpPr/>
          <p:nvPr/>
        </p:nvSpPr>
        <p:spPr>
          <a:xfrm>
            <a:off x="1130300" y="6311900"/>
            <a:ext cx="4483100" cy="5207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Libre Franklin"/>
              <a:buNone/>
            </a:pPr>
            <a:r>
              <a:rPr b="0" i="0" lang="fr-FR" sz="1800" u="none" cap="none" strike="noStrike">
                <a:solidFill>
                  <a:srgbClr val="2F549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Vacciner c’est aimer, vacciner c’est protéger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0" y="3768778"/>
            <a:ext cx="11957929" cy="2341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4000"/>
              <a:buFont typeface="Arial Black"/>
              <a:buNone/>
            </a:pPr>
            <a:br>
              <a:rPr b="1" lang="fr-FR" sz="4000">
                <a:solidFill>
                  <a:srgbClr val="3333CC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fr-FR"/>
              <a:t> </a:t>
            </a:r>
            <a:br>
              <a:rPr b="1" lang="fr-FR" sz="2400">
                <a:solidFill>
                  <a:srgbClr val="002060"/>
                </a:solidFill>
              </a:rPr>
            </a:br>
            <a:r>
              <a:rPr b="1" lang="fr-FR" sz="2400">
                <a:solidFill>
                  <a:srgbClr val="3333CC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00"/>
          </a:p>
        </p:txBody>
      </p:sp>
      <p:sp>
        <p:nvSpPr>
          <p:cNvPr id="70" name="Google Shape;70;p1"/>
          <p:cNvSpPr txBox="1"/>
          <p:nvPr/>
        </p:nvSpPr>
        <p:spPr>
          <a:xfrm>
            <a:off x="2392472" y="3823839"/>
            <a:ext cx="7766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39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</a:t>
            </a:r>
            <a:r>
              <a:rPr b="1" i="0" lang="fr-FR" sz="3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fr-FR" sz="39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FORMATIVE PEV 202</a:t>
            </a:r>
            <a:r>
              <a:rPr b="1" lang="fr-FR" sz="39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i="0" lang="fr-FR" sz="39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263050" y="4572000"/>
            <a:ext cx="1174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PRÉSENTATION</a:t>
            </a:r>
            <a:r>
              <a:rPr b="1" i="0" lang="fr-FR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PERFORMANCES  </a:t>
            </a:r>
            <a:r>
              <a:rPr b="1" lang="fr-FR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JANVIER À AVRIL 2026</a:t>
            </a:r>
            <a:r>
              <a:rPr b="1" i="0" lang="fr-FR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 ZONE DE </a:t>
            </a:r>
            <a:r>
              <a:rPr b="1" lang="fr-FR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SANTÉ</a:t>
            </a:r>
            <a:r>
              <a:rPr b="1" i="0" lang="fr-FR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DE:      </a:t>
            </a:r>
            <a:r>
              <a:rPr b="1" i="0" lang="fr-FR" sz="2000" u="none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3767534" y="5423798"/>
            <a:ext cx="412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5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PRÉSENTÉE</a:t>
            </a:r>
            <a:r>
              <a:rPr b="1" lang="fr-FR" sz="2400">
                <a:solidFill>
                  <a:srgbClr val="00B05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PAR 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192088" y="115888"/>
            <a:ext cx="11736387" cy="8651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Times New Roman"/>
              <a:buNone/>
            </a:pPr>
            <a:r>
              <a:rPr b="1" lang="fr-FR" sz="48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48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444661" y="144141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54483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Informations générales.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Objectifs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Résultats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19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De processus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19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De Couverture (Performances Janvier - Avril 2026)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Leçons apprises et bonnes pratiques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Problèmes prioritaires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Analyse causale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Plan de redressement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Besoins en formation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7035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tantia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idx="1" type="body"/>
          </p:nvPr>
        </p:nvSpPr>
        <p:spPr>
          <a:xfrm>
            <a:off x="444661" y="144141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Carte postale de la zone de santé.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tantia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850900" lvl="0" marL="857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300"/>
              <a:buFont typeface="Times New Roman"/>
              <a:buAutoNum type="romanUcPeriod"/>
            </a:pPr>
            <a:r>
              <a:rPr b="1" i="0" lang="fr-FR" sz="4300" u="none" cap="none" strike="noStrike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Informations Générales</a:t>
            </a:r>
            <a:endParaRPr i="0" sz="4300" u="none" cap="none" strike="noStrike">
              <a:solidFill>
                <a:srgbClr val="2F4D8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idx="1" type="body"/>
          </p:nvPr>
        </p:nvSpPr>
        <p:spPr>
          <a:xfrm>
            <a:off x="444661" y="144141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.</a:t>
            </a:r>
            <a:endParaRPr/>
          </a:p>
          <a:p>
            <a:pPr indent="-3937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tantia"/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 txBox="1"/>
          <p:nvPr>
            <p:ph type="title"/>
          </p:nvPr>
        </p:nvSpPr>
        <p:spPr>
          <a:xfrm>
            <a:off x="1092200" y="114605"/>
            <a:ext cx="10261600" cy="599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857250" lvl="0" marL="857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Times New Roman"/>
              <a:buAutoNum type="romanUcPeriod"/>
            </a:pPr>
            <a:r>
              <a:rPr b="1" i="0" lang="fr-FR" sz="4400" u="none" cap="none" strike="noStrike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Informations Générales</a:t>
            </a:r>
            <a:endParaRPr i="0" sz="4400" u="none" cap="none" strike="noStrike">
              <a:solidFill>
                <a:srgbClr val="2F4D8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4" name="Google Shape;94;p4"/>
          <p:cNvGraphicFramePr/>
          <p:nvPr/>
        </p:nvGraphicFramePr>
        <p:xfrm>
          <a:off x="228598" y="957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5640175"/>
                <a:gridCol w="6109850"/>
              </a:tblGrid>
              <a:tr h="384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Année 202</a:t>
                      </a:r>
                      <a:r>
                        <a:rPr b="1" lang="fr-FR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i="0"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Zone de Santé</a:t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Superficie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totale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Densité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cible 0-11 mois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cible 12-23 mois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cible 24-59 mois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spéciale (Accès difficile, Campements, ilots, ….)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d’AS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CS fonctionnels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CS opérationnels en PEV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CS d’accès difficile</a:t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Poids démographique des AS d’accès difficile</a:t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444661" y="144141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.</a:t>
            </a:r>
            <a:endParaRPr/>
          </a:p>
          <a:p>
            <a:pPr indent="-3937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tantia"/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 txBox="1"/>
          <p:nvPr>
            <p:ph type="title"/>
          </p:nvPr>
        </p:nvSpPr>
        <p:spPr>
          <a:xfrm>
            <a:off x="1092200" y="114605"/>
            <a:ext cx="10261600" cy="599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857250" lvl="0" marL="857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Times New Roman"/>
              <a:buAutoNum type="romanUcPeriod"/>
            </a:pPr>
            <a:r>
              <a:rPr b="1" i="0" lang="fr-FR" sz="4400" u="none" cap="none" strike="noStrike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Informations Générales</a:t>
            </a:r>
            <a:endParaRPr i="0" sz="4400" u="none" cap="none" strike="noStrike">
              <a:solidFill>
                <a:srgbClr val="2F4D8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2" name="Google Shape;102;p5"/>
          <p:cNvGraphicFramePr/>
          <p:nvPr/>
        </p:nvGraphicFramePr>
        <p:xfrm>
          <a:off x="266007" y="1507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5602775"/>
                <a:gridCol w="6109850"/>
              </a:tblGrid>
              <a:tr h="4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Année 202</a:t>
                      </a:r>
                      <a:r>
                        <a:rPr b="1" lang="fr-FR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i="0"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CS avec réfrigérateurs fonctionnels  solaire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CS avec réfrigérateurs non fonctionnels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CAC planifiées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CAC fonctionnelles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RECO planifiés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RECO Fonctionnels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Moyens roulants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326003" y="365125"/>
            <a:ext cx="11712272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fr-FR" sz="31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 des partenaires techniques et financiers en appui</a:t>
            </a:r>
            <a:br>
              <a:rPr lang="fr-FR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326003" y="1386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{248DD74A-A1A7-4777-8AA3-1E47BC875A0D}</a:tableStyleId>
              </a:tblPr>
              <a:tblGrid>
                <a:gridCol w="884125"/>
                <a:gridCol w="3006200"/>
                <a:gridCol w="2628225"/>
                <a:gridCol w="2781300"/>
                <a:gridCol w="2324950"/>
              </a:tblGrid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u="none" cap="none" strike="noStrike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N°</a:t>
                      </a:r>
                      <a:endParaRPr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PTF</a:t>
                      </a:r>
                      <a:endParaRPr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d’intervention</a:t>
                      </a:r>
                      <a:endParaRPr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Partielle/Globale</a:t>
                      </a:r>
                      <a:endParaRPr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Observation</a:t>
                      </a:r>
                      <a:endParaRPr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713984" y="338203"/>
            <a:ext cx="10639816" cy="8936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400"/>
              <a:buFont typeface="Arial"/>
              <a:buNone/>
            </a:pPr>
            <a:r>
              <a:rPr b="1" lang="fr-FR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II. Objectifs  ZS en 2025</a:t>
            </a:r>
            <a:endParaRPr/>
          </a:p>
        </p:txBody>
      </p:sp>
      <p:sp>
        <p:nvSpPr>
          <p:cNvPr id="114" name="Google Shape;114;p7"/>
          <p:cNvSpPr txBox="1"/>
          <p:nvPr>
            <p:ph idx="1" type="body"/>
          </p:nvPr>
        </p:nvSpPr>
        <p:spPr>
          <a:xfrm>
            <a:off x="413359" y="1615858"/>
            <a:ext cx="10940441" cy="4535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II.1. Objectifs de processus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II.2. Objectifs de Couverture Vaccinale et réduction du taux de perte par antigène.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690825" y="307775"/>
            <a:ext cx="10261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1. Résultats de processus</a:t>
            </a:r>
            <a:r>
              <a:rPr b="1" lang="fr-FR" sz="4000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aphicFrame>
        <p:nvGraphicFramePr>
          <p:cNvPr id="120" name="Google Shape;120;p8"/>
          <p:cNvGraphicFramePr/>
          <p:nvPr/>
        </p:nvGraphicFramePr>
        <p:xfrm>
          <a:off x="465549" y="13745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6320625"/>
                <a:gridCol w="2470150"/>
                <a:gridCol w="2470150"/>
              </a:tblGrid>
              <a:tr h="6192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ITEMS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Janvier- Avril 2025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</a:t>
                      </a: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Avril 2026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d’activités planifiées (PAO 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0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d’activités réalisées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9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personnel formés en gestion technique PEV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Ressources financières allouées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Ressources financières reçues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Ressources financières utilisées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Ressources financières justifiés (Avances ouvertes)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III. 1. Résultats de processus </a:t>
            </a:r>
            <a:endParaRPr/>
          </a:p>
        </p:txBody>
      </p:sp>
      <p:graphicFrame>
        <p:nvGraphicFramePr>
          <p:cNvPr id="126" name="Google Shape;126;p9"/>
          <p:cNvGraphicFramePr/>
          <p:nvPr/>
        </p:nvGraphicFramePr>
        <p:xfrm>
          <a:off x="463462" y="13828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6320625"/>
                <a:gridCol w="2470150"/>
                <a:gridCol w="2470150"/>
              </a:tblGrid>
              <a:tr h="6192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ITEMS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Janvier- Avril 2025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18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supervisions effectuées BCZS vers les AS (réalisées sur prévues)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620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supervisions effectuées du BCZS vers les AS ayant intégrées PEV et Surveillance (réalisées sur prévues)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</a:t>
                      </a:r>
                      <a:r>
                        <a:rPr lang="fr-FR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supervisions</a:t>
                      </a: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reçues de l’antenne / coordination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9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réunions de monitorages effectués au BCZS (réalisées sur prévues)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9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réunions de monitorages effectués au CS(réalisées sur prévues)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39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1. Résultats de processus 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2" name="Google Shape;132;p10"/>
          <p:cNvGraphicFramePr/>
          <p:nvPr/>
        </p:nvGraphicFramePr>
        <p:xfrm>
          <a:off x="438411" y="140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6081575"/>
                <a:gridCol w="2376725"/>
                <a:gridCol w="2376725"/>
              </a:tblGrid>
              <a:tr h="4995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ITEMS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Janvier- Avril 2025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CS  avec stratégie avancées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CS avec stratégie mobile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4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séances de vaccination en stratégie fixe (Prévue/réalisée)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4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séances de vaccination en stratégie avancée (Prévue/réalisée)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8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séances de vaccination en stratégie mobile (Prévue/réalisée)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8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8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>
            <p:ph type="title"/>
          </p:nvPr>
        </p:nvSpPr>
        <p:spPr>
          <a:xfrm>
            <a:off x="339150" y="365125"/>
            <a:ext cx="11546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3960"/>
              <a:buFont typeface="Arial"/>
              <a:buNone/>
            </a:pPr>
            <a:r>
              <a:rPr b="1" lang="fr-FR" sz="376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Performances  par AS et ZS/Janvier  - Avril 2026</a:t>
            </a:r>
            <a:endParaRPr sz="37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87683" y="1365336"/>
            <a:ext cx="11962355" cy="4910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8595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Complétude et Promptitude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Couvertures vaccinales AS/ZS par antigène.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Proportion des AS avec au moins 80% dans tous les antigènes.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Nombres enfants ZD et SV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catégorisation AS/ZS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Taux de disponibilité des intrants par AS (BCG, DTC, VAR, VPO)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Taux de perte par AS et Antigène tracer: VPO, DTC, VAR, VAA et Td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Disponibilité des outils de rapportage des données (Registre de vacc, carte CPS, Canevas SNIS, fiche de pointage, Jeton de récupération,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451375" y="365125"/>
            <a:ext cx="11546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3960"/>
              <a:buFont typeface="Arial"/>
              <a:buNone/>
            </a:pPr>
            <a:r>
              <a:rPr b="1" lang="fr-FR" sz="386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Performances  par AS et ZS/Janvier - Avril 2026</a:t>
            </a:r>
            <a:endParaRPr sz="38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2"/>
          <p:cNvSpPr txBox="1"/>
          <p:nvPr>
            <p:ph idx="1" type="body"/>
          </p:nvPr>
        </p:nvSpPr>
        <p:spPr>
          <a:xfrm>
            <a:off x="87683" y="1365336"/>
            <a:ext cx="11962355" cy="4910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lang="fr-FR" sz="2500">
                <a:latin typeface="Times New Roman"/>
                <a:ea typeface="Times New Roman"/>
                <a:cs typeface="Times New Roman"/>
                <a:sym typeface="Times New Roman"/>
              </a:rPr>
              <a:t>Performance communication: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2" marL="1143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fr-FR" sz="2100">
                <a:latin typeface="Times New Roman"/>
                <a:ea typeface="Times New Roman"/>
                <a:cs typeface="Times New Roman"/>
                <a:sym typeface="Times New Roman"/>
              </a:rPr>
              <a:t>Nombres enfants identifiés et récupérés (DHIS2)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2" marL="1143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fr-FR" sz="2100">
                <a:latin typeface="Times New Roman"/>
                <a:ea typeface="Times New Roman"/>
                <a:cs typeface="Times New Roman"/>
                <a:sym typeface="Times New Roman"/>
              </a:rPr>
              <a:t>taux d’abandon en BCG/VAR-RR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2" marL="1143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fr-FR" sz="2100">
                <a:latin typeface="Times New Roman"/>
                <a:ea typeface="Times New Roman"/>
                <a:cs typeface="Times New Roman"/>
                <a:sym typeface="Times New Roman"/>
              </a:rPr>
              <a:t>Taux d’abandon en DTC1/DTC3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CONCERNE PROVINCES AVEC FINANCEMENT FAE: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TSHOPO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TSHUAPA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MAINDOMBE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KASAI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HAUT KATANGA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MONGALA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DEAF6"/>
              </a:gs>
              <a:gs pos="24785">
                <a:schemeClr val="lt1"/>
              </a:gs>
              <a:gs pos="36289">
                <a:schemeClr val="lt1"/>
              </a:gs>
              <a:gs pos="54900">
                <a:schemeClr val="lt1"/>
              </a:gs>
              <a:gs pos="75000">
                <a:schemeClr val="lt1"/>
              </a:gs>
              <a:gs pos="83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5" name="Google Shape;155;p1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E75B5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6" name="Google Shape;156;p14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5B9BD5">
                  <a:alpha val="0"/>
                </a:srgbClr>
              </a:gs>
              <a:gs pos="20000">
                <a:srgbClr val="5B9BD5">
                  <a:alpha val="0"/>
                </a:srgbClr>
              </a:gs>
              <a:gs pos="100000">
                <a:srgbClr val="1E4E79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5B9BD5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E4E79">
                  <a:alpha val="52156"/>
                </a:srgbClr>
              </a:gs>
              <a:gs pos="100000">
                <a:srgbClr val="1E4E79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4"/>
          <p:cNvSpPr txBox="1"/>
          <p:nvPr>
            <p:ph type="title"/>
          </p:nvPr>
        </p:nvSpPr>
        <p:spPr>
          <a:xfrm>
            <a:off x="315687" y="294538"/>
            <a:ext cx="10951864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mo"/>
              <a:buNone/>
            </a:pPr>
            <a:r>
              <a:rPr lang="fr-FR" sz="3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 de septembre 2023 à septembre 2025 (FAE)</a:t>
            </a:r>
            <a:endParaRPr sz="37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0" name="Google Shape;160;p14"/>
          <p:cNvGraphicFramePr/>
          <p:nvPr/>
        </p:nvGraphicFramePr>
        <p:xfrm>
          <a:off x="315687" y="1706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3069925"/>
                <a:gridCol w="1816900"/>
                <a:gridCol w="1190375"/>
                <a:gridCol w="1399225"/>
                <a:gridCol w="1399225"/>
                <a:gridCol w="1399225"/>
                <a:gridCol w="1190375"/>
              </a:tblGrid>
              <a:tr h="5184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Stratégies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de ZS mettant en œuvre la stratégie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 d'AS mettant en œuvre la stratégie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d'enfants vaccinés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16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1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Septembre à décembre 2023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à </a:t>
                      </a:r>
                      <a:r>
                        <a:rPr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Décembre </a:t>
                      </a: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à Décembre 2025</a:t>
                      </a:r>
                      <a:endParaRPr i="0" sz="1700" u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8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Fixe/horaire adapté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Avancée/cartographie des ZS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Porte à porte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 de concentration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Vaccination à tout contact pour la réduction des OVM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Autres à préciser (Initiatives locales de récupération des EZD et SV)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DEAF6"/>
              </a:gs>
              <a:gs pos="24785">
                <a:schemeClr val="lt1"/>
              </a:gs>
              <a:gs pos="36289">
                <a:schemeClr val="lt1"/>
              </a:gs>
              <a:gs pos="54900">
                <a:schemeClr val="lt1"/>
              </a:gs>
              <a:gs pos="75000">
                <a:schemeClr val="lt1"/>
              </a:gs>
              <a:gs pos="83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6" name="Google Shape;166;p15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E75B5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7" name="Google Shape;167;p15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5B9BD5">
                  <a:alpha val="0"/>
                </a:srgbClr>
              </a:gs>
              <a:gs pos="20000">
                <a:srgbClr val="5B9BD5">
                  <a:alpha val="0"/>
                </a:srgbClr>
              </a:gs>
              <a:gs pos="100000">
                <a:srgbClr val="1E4E79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8" name="Google Shape;168;p15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5B9BD5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E4E79">
                  <a:alpha val="52156"/>
                </a:srgbClr>
              </a:gs>
              <a:gs pos="100000">
                <a:srgbClr val="1E4E79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0" name="Google Shape;170;p15"/>
          <p:cNvSpPr txBox="1"/>
          <p:nvPr>
            <p:ph type="title"/>
          </p:nvPr>
        </p:nvSpPr>
        <p:spPr>
          <a:xfrm>
            <a:off x="315687" y="294538"/>
            <a:ext cx="10951864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mo"/>
              <a:buNone/>
            </a:pPr>
            <a:r>
              <a:rPr lang="fr-FR" sz="3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: identification / récupération des ZD et SV de septembre 2023 à décembre 2025 (FAE)</a:t>
            </a:r>
            <a:endParaRPr sz="37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1" name="Google Shape;171;p15"/>
          <p:cNvGraphicFramePr/>
          <p:nvPr/>
        </p:nvGraphicFramePr>
        <p:xfrm>
          <a:off x="259884" y="162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396525"/>
                <a:gridCol w="3046450"/>
                <a:gridCol w="1212875"/>
                <a:gridCol w="1271550"/>
                <a:gridCol w="1173750"/>
                <a:gridCol w="1017250"/>
                <a:gridCol w="1017250"/>
                <a:gridCol w="1017250"/>
                <a:gridCol w="1017250"/>
                <a:gridCol w="674900"/>
              </a:tblGrid>
              <a:tr h="2825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 de la Zone de santé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130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Identification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130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Récupération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9687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de ZD identifié au démarrage FAE ( UNICEF)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de SV identifié au démarrage FAE ( UNICEF)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de ZD identifié en continu ( SANRU/OSC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de SV identifié en continu ( SANRU/OSC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ZD récupérés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SV récupérés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ZD récupérés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SV récupérés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title"/>
          </p:nvPr>
        </p:nvSpPr>
        <p:spPr>
          <a:xfrm>
            <a:off x="1092200" y="365125"/>
            <a:ext cx="10261600" cy="662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39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4.10. Surveillance PFA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7" name="Google Shape;177;p16"/>
          <p:cNvGraphicFramePr/>
          <p:nvPr/>
        </p:nvGraphicFramePr>
        <p:xfrm>
          <a:off x="179388" y="1327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7605050"/>
                <a:gridCol w="1067850"/>
                <a:gridCol w="1067850"/>
                <a:gridCol w="1032550"/>
                <a:gridCol w="1034750"/>
              </a:tblGrid>
              <a:tr h="7046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b="1" i="0" lang="fr-FR" sz="3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janvier - avril 2026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849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visites des</a:t>
                      </a: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sites par priorité pour la surveillance PFA</a:t>
                      </a: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(THP, HP,MP,FP)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THP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HP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MP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1092200" y="365125"/>
            <a:ext cx="10261600" cy="662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4.10. Surveillance PFA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3" name="Google Shape;183;p17"/>
          <p:cNvGraphicFramePr/>
          <p:nvPr/>
        </p:nvGraphicFramePr>
        <p:xfrm>
          <a:off x="286247" y="1327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7498200"/>
                <a:gridCol w="1067850"/>
                <a:gridCol w="1067850"/>
                <a:gridCol w="1032550"/>
                <a:gridCol w="1034750"/>
              </a:tblGrid>
              <a:tr h="7046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b="1" i="0" lang="fr-FR" sz="3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b="1" lang="fr-FR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janvier - avril 2026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849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i="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i="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Actualisation  de la classification des sites par priorité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PFA notifiés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PFA prélevés dans les 14 jrs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PFA investigués dans les 48 h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de Cvdpv</a:t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526093" y="277443"/>
            <a:ext cx="10827707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4.11. Surveillance rougeole</a:t>
            </a:r>
            <a:endParaRPr/>
          </a:p>
        </p:txBody>
      </p:sp>
      <p:graphicFrame>
        <p:nvGraphicFramePr>
          <p:cNvPr id="189" name="Google Shape;189;p18"/>
          <p:cNvGraphicFramePr/>
          <p:nvPr/>
        </p:nvGraphicFramePr>
        <p:xfrm>
          <a:off x="206374" y="1484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7388350"/>
                <a:gridCol w="1055775"/>
                <a:gridCol w="1055775"/>
                <a:gridCol w="1121775"/>
                <a:gridCol w="1121775"/>
              </a:tblGrid>
              <a:tr h="581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i="0" lang="fr-FR" sz="2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janvier - avril 2026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876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dans le REH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par la surveillance au cas par cas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investigués et prélevés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épidémies notifiées dans le délai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Epidémies avec riposte/prise en charge</a:t>
                      </a:r>
                      <a:endParaRPr i="0" sz="19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839788" y="77027"/>
            <a:ext cx="10515600" cy="61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Arial"/>
              <a:buNone/>
            </a:pPr>
            <a:r>
              <a:rPr b="1" lang="fr-FR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4.12. surveillance TNN</a:t>
            </a:r>
            <a:endParaRPr/>
          </a:p>
        </p:txBody>
      </p:sp>
      <p:graphicFrame>
        <p:nvGraphicFramePr>
          <p:cNvPr id="195" name="Google Shape;195;p19"/>
          <p:cNvGraphicFramePr/>
          <p:nvPr/>
        </p:nvGraphicFramePr>
        <p:xfrm>
          <a:off x="0" y="1453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6375400"/>
                <a:gridCol w="1397000"/>
                <a:gridCol w="1307475"/>
                <a:gridCol w="1418600"/>
                <a:gridCol w="1306825"/>
              </a:tblGrid>
              <a:tr h="4908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i="0" lang="fr-FR" sz="3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80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dans le REH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par la surveillance au cas par cas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investigués et prélevés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avec riposte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839788" y="77027"/>
            <a:ext cx="10515600" cy="61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Arial"/>
              <a:buNone/>
            </a:pPr>
            <a:r>
              <a:rPr b="1" lang="fr-FR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4.12. surveillance FJ</a:t>
            </a:r>
            <a:endParaRPr/>
          </a:p>
        </p:txBody>
      </p:sp>
      <p:graphicFrame>
        <p:nvGraphicFramePr>
          <p:cNvPr id="201" name="Google Shape;201;p20"/>
          <p:cNvGraphicFramePr/>
          <p:nvPr/>
        </p:nvGraphicFramePr>
        <p:xfrm>
          <a:off x="400685" y="1299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{E2C20AF3-28AD-4B50-9251-37FC827B966A}</a:tableStyleId>
              </a:tblPr>
              <a:tblGrid>
                <a:gridCol w="6868150"/>
                <a:gridCol w="1294775"/>
                <a:gridCol w="1294125"/>
                <a:gridCol w="1293500"/>
                <a:gridCol w="1040775"/>
              </a:tblGrid>
              <a:tr h="4768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Libre Franklin"/>
                        <a:buNone/>
                      </a:pPr>
                      <a:r>
                        <a:rPr lang="fr-FR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 i="0" sz="3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9683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7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rPr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dans le REH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8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rPr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par la surveillance au cas par cas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rPr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investigués et prélevés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Leçons apprises et bonnes pratiques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1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ANALYSE FFOM par composante ACZ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2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VI. Problèmes prioritaires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VI. Analyses causales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688932" y="365125"/>
            <a:ext cx="10664868" cy="586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VII. Plan de redressement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325677" y="1402915"/>
            <a:ext cx="11028123" cy="4748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688932" y="365125"/>
            <a:ext cx="10664868" cy="586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VII. Besoins en formation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325677" y="1402915"/>
            <a:ext cx="11028123" cy="4748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type="title"/>
          </p:nvPr>
        </p:nvSpPr>
        <p:spPr>
          <a:xfrm rot="-1997459">
            <a:off x="1531057" y="3042541"/>
            <a:ext cx="6581775" cy="1632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420"/>
              <a:buFont typeface="Arimo"/>
              <a:buNone/>
            </a:pPr>
            <a:r>
              <a:rPr b="1" lang="fr-FR" sz="1222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 !</a:t>
            </a:r>
            <a:endParaRPr sz="37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ésentation révue annuelle PEV 2017_Ir Dav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2017-11-22T23:57:00Z</dcterms:created>
  <dc:creator>David OLELA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CE351DEDF0EC43A685784B40C14E27B8_13</vt:lpwstr>
  </property>
  <property fmtid="{D5CDD505-2E9C-101B-9397-08002B2CF9AE}" pid="3" name="KSOProductBuildVer">
    <vt:lpwstr>3084-12.2.0.23196</vt:lpwstr>
  </property>
</Properties>
</file>