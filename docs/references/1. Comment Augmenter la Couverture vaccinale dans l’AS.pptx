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4" r:id="rId3"/>
    <p:sldMasterId id="2147483688" r:id="rId4"/>
  </p:sldMasterIdLst>
  <p:sldIdLst>
    <p:sldId id="472" r:id="rId5"/>
    <p:sldId id="473" r:id="rId6"/>
    <p:sldId id="418" r:id="rId7"/>
    <p:sldId id="403" r:id="rId8"/>
    <p:sldId id="467" r:id="rId9"/>
    <p:sldId id="471" r:id="rId10"/>
    <p:sldId id="475" r:id="rId11"/>
    <p:sldId id="469" r:id="rId12"/>
    <p:sldId id="415" r:id="rId13"/>
    <p:sldId id="416" r:id="rId14"/>
    <p:sldId id="420" r:id="rId15"/>
    <p:sldId id="258" r:id="rId16"/>
    <p:sldId id="422" r:id="rId17"/>
    <p:sldId id="257" r:id="rId18"/>
    <p:sldId id="419" r:id="rId19"/>
    <p:sldId id="260" r:id="rId20"/>
    <p:sldId id="462" r:id="rId21"/>
    <p:sldId id="478" r:id="rId22"/>
    <p:sldId id="482" r:id="rId23"/>
    <p:sldId id="484" r:id="rId24"/>
    <p:sldId id="476" r:id="rId25"/>
    <p:sldId id="486" r:id="rId26"/>
    <p:sldId id="454" r:id="rId27"/>
    <p:sldId id="485" r:id="rId2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A7ECA23F-0ADE-CF99-2298-58AA635060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D"/>
          </a:p>
        </p:txBody>
      </p:sp>
      <p:sp>
        <p:nvSpPr>
          <p:cNvPr id="3" name="Sous-titre 2">
            <a:extLst>
              <a:ext uri="{FF2B5EF4-FFF2-40B4-BE49-F238E27FC236}">
                <a16:creationId xmlns="" xmlns:a16="http://schemas.microsoft.com/office/drawing/2014/main" id="{3030F996-823A-9AC6-354D-D31CDC41C5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D"/>
          </a:p>
        </p:txBody>
      </p:sp>
      <p:sp>
        <p:nvSpPr>
          <p:cNvPr id="4" name="Espace réservé de la date 3">
            <a:extLst>
              <a:ext uri="{FF2B5EF4-FFF2-40B4-BE49-F238E27FC236}">
                <a16:creationId xmlns="" xmlns:a16="http://schemas.microsoft.com/office/drawing/2014/main" id="{BAB9989E-85D4-DE12-68E6-0E2E86393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30ADC-C648-474C-8254-EB230B7E29C4}" type="datetimeFigureOut">
              <a:rPr lang="fr-CD" smtClean="0"/>
              <a:t>03/07/2025</a:t>
            </a:fld>
            <a:endParaRPr lang="fr-CD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="" xmlns:a16="http://schemas.microsoft.com/office/drawing/2014/main" id="{820679C9-C231-B3C5-900F-41F262016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="" xmlns:a16="http://schemas.microsoft.com/office/drawing/2014/main" id="{81E88600-A912-C8C4-99B1-24BE09800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49F6F-393C-40D2-85FD-F56663460A4F}" type="slidenum">
              <a:rPr lang="fr-CD" smtClean="0"/>
              <a:t>‹N°›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3196490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8E7FFCC2-EED5-2D15-0678-D809FE723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D"/>
          </a:p>
        </p:txBody>
      </p:sp>
      <p:sp>
        <p:nvSpPr>
          <p:cNvPr id="3" name="Espace réservé du contenu 2">
            <a:extLst>
              <a:ext uri="{FF2B5EF4-FFF2-40B4-BE49-F238E27FC236}">
                <a16:creationId xmlns="" xmlns:a16="http://schemas.microsoft.com/office/drawing/2014/main" id="{96AA2A8A-DC2C-1AC5-4FDD-897A3864A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D"/>
          </a:p>
        </p:txBody>
      </p:sp>
      <p:sp>
        <p:nvSpPr>
          <p:cNvPr id="4" name="Espace réservé de la date 3">
            <a:extLst>
              <a:ext uri="{FF2B5EF4-FFF2-40B4-BE49-F238E27FC236}">
                <a16:creationId xmlns="" xmlns:a16="http://schemas.microsoft.com/office/drawing/2014/main" id="{7A69ABBD-D94B-7971-59D4-85D07B993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30ADC-C648-474C-8254-EB230B7E29C4}" type="datetimeFigureOut">
              <a:rPr lang="fr-CD" smtClean="0"/>
              <a:t>03/07/2025</a:t>
            </a:fld>
            <a:endParaRPr lang="fr-CD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="" xmlns:a16="http://schemas.microsoft.com/office/drawing/2014/main" id="{04D9FC6F-53A2-22ED-B131-F2E96A61E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="" xmlns:a16="http://schemas.microsoft.com/office/drawing/2014/main" id="{7461782A-5D1F-267F-D4B6-8334DE096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49F6F-393C-40D2-85FD-F56663460A4F}" type="slidenum">
              <a:rPr lang="fr-CD" smtClean="0"/>
              <a:t>‹N°›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2052465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0E667C7E-9E62-D394-B9F9-AF6547A65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D"/>
          </a:p>
        </p:txBody>
      </p:sp>
      <p:sp>
        <p:nvSpPr>
          <p:cNvPr id="3" name="Espace réservé du texte 2">
            <a:extLst>
              <a:ext uri="{FF2B5EF4-FFF2-40B4-BE49-F238E27FC236}">
                <a16:creationId xmlns="" xmlns:a16="http://schemas.microsoft.com/office/drawing/2014/main" id="{05F6D366-731D-0265-80BF-BF4A6CF0C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="" xmlns:a16="http://schemas.microsoft.com/office/drawing/2014/main" id="{728FF170-5332-E155-BBC8-CF4D60DE6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30ADC-C648-474C-8254-EB230B7E29C4}" type="datetimeFigureOut">
              <a:rPr lang="fr-CD" smtClean="0"/>
              <a:t>03/07/2025</a:t>
            </a:fld>
            <a:endParaRPr lang="fr-CD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="" xmlns:a16="http://schemas.microsoft.com/office/drawing/2014/main" id="{1BC04B95-2BFB-FDE3-1DAA-EC25B6645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="" xmlns:a16="http://schemas.microsoft.com/office/drawing/2014/main" id="{6372C37E-F190-47F3-7982-0FF2F327D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49F6F-393C-40D2-85FD-F56663460A4F}" type="slidenum">
              <a:rPr lang="fr-CD" smtClean="0"/>
              <a:t>‹N°›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1141636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2C45A468-4EA6-C622-ACDC-66BBEB09F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D"/>
          </a:p>
        </p:txBody>
      </p:sp>
      <p:sp>
        <p:nvSpPr>
          <p:cNvPr id="3" name="Espace réservé du contenu 2">
            <a:extLst>
              <a:ext uri="{FF2B5EF4-FFF2-40B4-BE49-F238E27FC236}">
                <a16:creationId xmlns="" xmlns:a16="http://schemas.microsoft.com/office/drawing/2014/main" id="{43C2FF7F-D852-1A43-86E1-FFFDAEE71B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D"/>
          </a:p>
        </p:txBody>
      </p:sp>
      <p:sp>
        <p:nvSpPr>
          <p:cNvPr id="4" name="Espace réservé du contenu 3">
            <a:extLst>
              <a:ext uri="{FF2B5EF4-FFF2-40B4-BE49-F238E27FC236}">
                <a16:creationId xmlns="" xmlns:a16="http://schemas.microsoft.com/office/drawing/2014/main" id="{7DF95C8D-D33C-420A-AA66-EC00BEE2D9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D"/>
          </a:p>
        </p:txBody>
      </p:sp>
      <p:sp>
        <p:nvSpPr>
          <p:cNvPr id="5" name="Espace réservé de la date 4">
            <a:extLst>
              <a:ext uri="{FF2B5EF4-FFF2-40B4-BE49-F238E27FC236}">
                <a16:creationId xmlns="" xmlns:a16="http://schemas.microsoft.com/office/drawing/2014/main" id="{92601ACC-29AA-E03F-B4A5-C9D0B8E08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30ADC-C648-474C-8254-EB230B7E29C4}" type="datetimeFigureOut">
              <a:rPr lang="fr-CD" smtClean="0"/>
              <a:t>03/07/2025</a:t>
            </a:fld>
            <a:endParaRPr lang="fr-CD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="" xmlns:a16="http://schemas.microsoft.com/office/drawing/2014/main" id="{B27D94F7-86AD-9FEA-42F1-7D2A85AE0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="" xmlns:a16="http://schemas.microsoft.com/office/drawing/2014/main" id="{A0481F7B-FED0-9451-8BFD-2FE3E7785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49F6F-393C-40D2-85FD-F56663460A4F}" type="slidenum">
              <a:rPr lang="fr-CD" smtClean="0"/>
              <a:t>‹N°›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2809699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485055DA-F33A-1A6C-277B-316AB8472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D"/>
          </a:p>
        </p:txBody>
      </p:sp>
      <p:sp>
        <p:nvSpPr>
          <p:cNvPr id="3" name="Espace réservé du texte 2">
            <a:extLst>
              <a:ext uri="{FF2B5EF4-FFF2-40B4-BE49-F238E27FC236}">
                <a16:creationId xmlns="" xmlns:a16="http://schemas.microsoft.com/office/drawing/2014/main" id="{7E476927-D594-7340-2D63-D6B20F31E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="" xmlns:a16="http://schemas.microsoft.com/office/drawing/2014/main" id="{E2A1C7BC-638E-4ED7-66CF-2DCBEDE536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D"/>
          </a:p>
        </p:txBody>
      </p:sp>
      <p:sp>
        <p:nvSpPr>
          <p:cNvPr id="5" name="Espace réservé du texte 4">
            <a:extLst>
              <a:ext uri="{FF2B5EF4-FFF2-40B4-BE49-F238E27FC236}">
                <a16:creationId xmlns="" xmlns:a16="http://schemas.microsoft.com/office/drawing/2014/main" id="{069C6695-69D3-C3CD-B478-3822EC1138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="" xmlns:a16="http://schemas.microsoft.com/office/drawing/2014/main" id="{BF2F2F15-0694-78C0-3B11-32FE74A9ED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D"/>
          </a:p>
        </p:txBody>
      </p:sp>
      <p:sp>
        <p:nvSpPr>
          <p:cNvPr id="7" name="Espace réservé de la date 6">
            <a:extLst>
              <a:ext uri="{FF2B5EF4-FFF2-40B4-BE49-F238E27FC236}">
                <a16:creationId xmlns="" xmlns:a16="http://schemas.microsoft.com/office/drawing/2014/main" id="{687933EF-9485-803F-3E0E-D3922A197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30ADC-C648-474C-8254-EB230B7E29C4}" type="datetimeFigureOut">
              <a:rPr lang="fr-CD" smtClean="0"/>
              <a:t>03/07/2025</a:t>
            </a:fld>
            <a:endParaRPr lang="fr-CD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="" xmlns:a16="http://schemas.microsoft.com/office/drawing/2014/main" id="{8B0358EB-80FD-6FDD-68A3-B92AF5641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="" xmlns:a16="http://schemas.microsoft.com/office/drawing/2014/main" id="{27A35EAD-553E-A328-EB5E-F8A462602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49F6F-393C-40D2-85FD-F56663460A4F}" type="slidenum">
              <a:rPr lang="fr-CD" smtClean="0"/>
              <a:t>‹N°›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1251549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73C19F6A-2526-DD3E-B9DD-FAB882F97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D"/>
          </a:p>
        </p:txBody>
      </p:sp>
      <p:sp>
        <p:nvSpPr>
          <p:cNvPr id="3" name="Espace réservé de la date 2">
            <a:extLst>
              <a:ext uri="{FF2B5EF4-FFF2-40B4-BE49-F238E27FC236}">
                <a16:creationId xmlns="" xmlns:a16="http://schemas.microsoft.com/office/drawing/2014/main" id="{4432060E-349A-C5C4-346B-C11413F67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30ADC-C648-474C-8254-EB230B7E29C4}" type="datetimeFigureOut">
              <a:rPr lang="fr-CD" smtClean="0"/>
              <a:t>03/07/2025</a:t>
            </a:fld>
            <a:endParaRPr lang="fr-CD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="" xmlns:a16="http://schemas.microsoft.com/office/drawing/2014/main" id="{5B535252-CEDD-A9E7-4E2C-C6CCA2C2A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="" xmlns:a16="http://schemas.microsoft.com/office/drawing/2014/main" id="{A392B6EE-C6E1-6B6A-1F8C-0544F06AF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49F6F-393C-40D2-85FD-F56663460A4F}" type="slidenum">
              <a:rPr lang="fr-CD" smtClean="0"/>
              <a:t>‹N°›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790122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="" xmlns:a16="http://schemas.microsoft.com/office/drawing/2014/main" id="{137BD4C9-B738-58C8-1192-A8F4C86A4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30ADC-C648-474C-8254-EB230B7E29C4}" type="datetimeFigureOut">
              <a:rPr lang="fr-CD" smtClean="0"/>
              <a:t>03/07/2025</a:t>
            </a:fld>
            <a:endParaRPr lang="fr-CD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="" xmlns:a16="http://schemas.microsoft.com/office/drawing/2014/main" id="{D8E71F15-9C98-06BB-08E1-9D61923DE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="" xmlns:a16="http://schemas.microsoft.com/office/drawing/2014/main" id="{342E2D3B-AFC0-45D7-F275-2ACEBA821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49F6F-393C-40D2-85FD-F56663460A4F}" type="slidenum">
              <a:rPr lang="fr-CD" smtClean="0"/>
              <a:t>‹N°›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2561324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F91262AE-DFAD-8447-2A97-8E8C70F84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D"/>
          </a:p>
        </p:txBody>
      </p:sp>
      <p:sp>
        <p:nvSpPr>
          <p:cNvPr id="3" name="Espace réservé du contenu 2">
            <a:extLst>
              <a:ext uri="{FF2B5EF4-FFF2-40B4-BE49-F238E27FC236}">
                <a16:creationId xmlns="" xmlns:a16="http://schemas.microsoft.com/office/drawing/2014/main" id="{EA8BCCCB-FA66-446A-33EC-62D2C4F592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D"/>
          </a:p>
        </p:txBody>
      </p:sp>
      <p:sp>
        <p:nvSpPr>
          <p:cNvPr id="4" name="Espace réservé du texte 3">
            <a:extLst>
              <a:ext uri="{FF2B5EF4-FFF2-40B4-BE49-F238E27FC236}">
                <a16:creationId xmlns="" xmlns:a16="http://schemas.microsoft.com/office/drawing/2014/main" id="{F602F9BE-ABA9-5977-211E-7409DB23F1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="" xmlns:a16="http://schemas.microsoft.com/office/drawing/2014/main" id="{7B5B97F7-BC4E-EE2D-3245-DEDA31E97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30ADC-C648-474C-8254-EB230B7E29C4}" type="datetimeFigureOut">
              <a:rPr lang="fr-CD" smtClean="0"/>
              <a:t>03/07/2025</a:t>
            </a:fld>
            <a:endParaRPr lang="fr-CD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="" xmlns:a16="http://schemas.microsoft.com/office/drawing/2014/main" id="{295881E9-19B6-5758-5FA8-E74B38C5B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="" xmlns:a16="http://schemas.microsoft.com/office/drawing/2014/main" id="{A47753F3-DFF9-4D3C-7F83-33E91F9A6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49F6F-393C-40D2-85FD-F56663460A4F}" type="slidenum">
              <a:rPr lang="fr-CD" smtClean="0"/>
              <a:t>‹N°›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514341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A528886D-E4C2-D88D-0D9A-9F3211904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D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="" xmlns:a16="http://schemas.microsoft.com/office/drawing/2014/main" id="{3ED432CD-8C12-09A1-77CF-BCE4ACCB0F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D"/>
          </a:p>
        </p:txBody>
      </p:sp>
      <p:sp>
        <p:nvSpPr>
          <p:cNvPr id="4" name="Espace réservé du texte 3">
            <a:extLst>
              <a:ext uri="{FF2B5EF4-FFF2-40B4-BE49-F238E27FC236}">
                <a16:creationId xmlns="" xmlns:a16="http://schemas.microsoft.com/office/drawing/2014/main" id="{E69C7850-5C96-1212-092A-A7DCF50A55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="" xmlns:a16="http://schemas.microsoft.com/office/drawing/2014/main" id="{4A1AABA6-724B-31EF-98EF-B530C0932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30ADC-C648-474C-8254-EB230B7E29C4}" type="datetimeFigureOut">
              <a:rPr lang="fr-CD" smtClean="0"/>
              <a:t>03/07/2025</a:t>
            </a:fld>
            <a:endParaRPr lang="fr-CD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="" xmlns:a16="http://schemas.microsoft.com/office/drawing/2014/main" id="{D4E78488-92BF-3502-D167-F646B02F3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="" xmlns:a16="http://schemas.microsoft.com/office/drawing/2014/main" id="{538E7DCC-FE06-FA4F-F773-39F3D8B8E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49F6F-393C-40D2-85FD-F56663460A4F}" type="slidenum">
              <a:rPr lang="fr-CD" smtClean="0"/>
              <a:t>‹N°›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2556272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8F9CD818-2B4E-DB1A-843E-6F8AD6274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D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="" xmlns:a16="http://schemas.microsoft.com/office/drawing/2014/main" id="{985D0A38-CA36-B80A-FBAA-00F36D6AE8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D"/>
          </a:p>
        </p:txBody>
      </p:sp>
      <p:sp>
        <p:nvSpPr>
          <p:cNvPr id="4" name="Espace réservé de la date 3">
            <a:extLst>
              <a:ext uri="{FF2B5EF4-FFF2-40B4-BE49-F238E27FC236}">
                <a16:creationId xmlns="" xmlns:a16="http://schemas.microsoft.com/office/drawing/2014/main" id="{459427EF-9169-9B76-7948-27F8AB430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30ADC-C648-474C-8254-EB230B7E29C4}" type="datetimeFigureOut">
              <a:rPr lang="fr-CD" smtClean="0"/>
              <a:t>03/07/2025</a:t>
            </a:fld>
            <a:endParaRPr lang="fr-CD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="" xmlns:a16="http://schemas.microsoft.com/office/drawing/2014/main" id="{ECCC79EE-E637-F8F4-F326-29938FB9D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="" xmlns:a16="http://schemas.microsoft.com/office/drawing/2014/main" id="{D287A4A7-C894-256D-70AB-84B551EA0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49F6F-393C-40D2-85FD-F56663460A4F}" type="slidenum">
              <a:rPr lang="fr-CD" smtClean="0"/>
              <a:t>‹N°›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47251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="" xmlns:a16="http://schemas.microsoft.com/office/drawing/2014/main" id="{3D190995-4D06-2B65-D674-92FC727A3F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D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="" xmlns:a16="http://schemas.microsoft.com/office/drawing/2014/main" id="{F18F54ED-6CB6-A9A1-1725-69FA13689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D"/>
          </a:p>
        </p:txBody>
      </p:sp>
      <p:sp>
        <p:nvSpPr>
          <p:cNvPr id="4" name="Espace réservé de la date 3">
            <a:extLst>
              <a:ext uri="{FF2B5EF4-FFF2-40B4-BE49-F238E27FC236}">
                <a16:creationId xmlns="" xmlns:a16="http://schemas.microsoft.com/office/drawing/2014/main" id="{F3849630-4A59-D4AD-103E-B6EE19EB2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30ADC-C648-474C-8254-EB230B7E29C4}" type="datetimeFigureOut">
              <a:rPr lang="fr-CD" smtClean="0"/>
              <a:t>03/07/2025</a:t>
            </a:fld>
            <a:endParaRPr lang="fr-CD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="" xmlns:a16="http://schemas.microsoft.com/office/drawing/2014/main" id="{539B787F-FD8B-0171-2385-C786BFB5D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="" xmlns:a16="http://schemas.microsoft.com/office/drawing/2014/main" id="{AF946627-D017-C582-1CC7-31DBE05D2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49F6F-393C-40D2-85FD-F56663460A4F}" type="slidenum">
              <a:rPr lang="fr-CD" smtClean="0"/>
              <a:t>‹N°›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10888164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="" xmlns:a16="http://schemas.microsoft.com/office/drawing/2014/main" id="{DC8D2E7A-5D19-0FC0-9883-BF3746E7B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D99806-DA19-48DC-B0DA-0BFE526A2960}" type="datetimeFigureOut">
              <a:rPr lang="fr-FR"/>
              <a:pPr>
                <a:defRPr/>
              </a:pPr>
              <a:t>03/07/2025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="" xmlns:a16="http://schemas.microsoft.com/office/drawing/2014/main" id="{1F0E169C-4559-90EF-108D-D70EE6458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="" xmlns:a16="http://schemas.microsoft.com/office/drawing/2014/main" id="{99C63BDB-8CBD-8A15-9F99-BA1B81207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4D87E3-8FF7-41F7-929F-48DD3A6D0020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7251667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="" xmlns:a16="http://schemas.microsoft.com/office/drawing/2014/main" id="{B50224C1-5AC8-DBE5-131A-8BCC62299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4B8709-16CE-43E7-9E24-6B682B597AF1}" type="datetimeFigureOut">
              <a:rPr lang="fr-FR"/>
              <a:pPr>
                <a:defRPr/>
              </a:pPr>
              <a:t>03/07/2025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="" xmlns:a16="http://schemas.microsoft.com/office/drawing/2014/main" id="{3042FE05-2D32-D192-D14B-3E50B2F9E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="" xmlns:a16="http://schemas.microsoft.com/office/drawing/2014/main" id="{2C08B173-4EAE-452C-6E19-8B1B42DF6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674FCD-A509-4D14-83A2-C824BC6BD193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6166750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="" xmlns:a16="http://schemas.microsoft.com/office/drawing/2014/main" id="{1CFDCDFD-5E09-A40A-2C84-6BAEC29D0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AB986C-58FD-43D7-95E9-97066419AB9E}" type="datetimeFigureOut">
              <a:rPr lang="fr-FR"/>
              <a:pPr>
                <a:defRPr/>
              </a:pPr>
              <a:t>03/07/2025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="" xmlns:a16="http://schemas.microsoft.com/office/drawing/2014/main" id="{13B7C77A-A29F-606D-5526-477EA8F4A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="" xmlns:a16="http://schemas.microsoft.com/office/drawing/2014/main" id="{0DE228BD-4343-4D76-9718-DB54888F5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E2B445-58BC-410A-836B-7DE5653D4286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7032343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3">
            <a:extLst>
              <a:ext uri="{FF2B5EF4-FFF2-40B4-BE49-F238E27FC236}">
                <a16:creationId xmlns="" xmlns:a16="http://schemas.microsoft.com/office/drawing/2014/main" id="{E758B668-F4C9-E739-6EAD-52303967F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EE4D9D-5ADB-4E9E-8CD0-DC7CF9782B4F}" type="datetimeFigureOut">
              <a:rPr lang="fr-FR"/>
              <a:pPr>
                <a:defRPr/>
              </a:pPr>
              <a:t>03/07/2025</a:t>
            </a:fld>
            <a:endParaRPr lang="fr-FR"/>
          </a:p>
        </p:txBody>
      </p:sp>
      <p:sp>
        <p:nvSpPr>
          <p:cNvPr id="6" name="Espace réservé du pied de page 4">
            <a:extLst>
              <a:ext uri="{FF2B5EF4-FFF2-40B4-BE49-F238E27FC236}">
                <a16:creationId xmlns="" xmlns:a16="http://schemas.microsoft.com/office/drawing/2014/main" id="{42D0F4CD-C573-B2CC-771A-EB2D08516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="" xmlns:a16="http://schemas.microsoft.com/office/drawing/2014/main" id="{AB124D3E-40EE-1025-FC16-D71E00277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CED714-356D-4309-BA84-E02E93725BE8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8205982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3">
            <a:extLst>
              <a:ext uri="{FF2B5EF4-FFF2-40B4-BE49-F238E27FC236}">
                <a16:creationId xmlns="" xmlns:a16="http://schemas.microsoft.com/office/drawing/2014/main" id="{00FBBC3F-0D59-70DE-110E-879CB6EC5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DA025A-76E8-4371-80FD-A311B9DA3AE7}" type="datetimeFigureOut">
              <a:rPr lang="fr-FR"/>
              <a:pPr>
                <a:defRPr/>
              </a:pPr>
              <a:t>03/07/2025</a:t>
            </a:fld>
            <a:endParaRPr lang="fr-FR"/>
          </a:p>
        </p:txBody>
      </p:sp>
      <p:sp>
        <p:nvSpPr>
          <p:cNvPr id="8" name="Espace réservé du pied de page 4">
            <a:extLst>
              <a:ext uri="{FF2B5EF4-FFF2-40B4-BE49-F238E27FC236}">
                <a16:creationId xmlns="" xmlns:a16="http://schemas.microsoft.com/office/drawing/2014/main" id="{BCE3D1E2-0DFF-51B1-AF91-001F2FC29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Espace réservé du numéro de diapositive 5">
            <a:extLst>
              <a:ext uri="{FF2B5EF4-FFF2-40B4-BE49-F238E27FC236}">
                <a16:creationId xmlns="" xmlns:a16="http://schemas.microsoft.com/office/drawing/2014/main" id="{0ACD02DD-072B-58F3-2C42-9DE49A366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CDC3F1-612A-46F8-82BD-072715007920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112503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3">
            <a:extLst>
              <a:ext uri="{FF2B5EF4-FFF2-40B4-BE49-F238E27FC236}">
                <a16:creationId xmlns="" xmlns:a16="http://schemas.microsoft.com/office/drawing/2014/main" id="{078299DB-38EE-C4E2-A7A5-CC0F71E21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3B456E-3778-462A-8FF4-D4C3BE53718A}" type="datetimeFigureOut">
              <a:rPr lang="fr-FR"/>
              <a:pPr>
                <a:defRPr/>
              </a:pPr>
              <a:t>03/07/2025</a:t>
            </a:fld>
            <a:endParaRPr lang="fr-FR"/>
          </a:p>
        </p:txBody>
      </p:sp>
      <p:sp>
        <p:nvSpPr>
          <p:cNvPr id="4" name="Espace réservé du pied de page 4">
            <a:extLst>
              <a:ext uri="{FF2B5EF4-FFF2-40B4-BE49-F238E27FC236}">
                <a16:creationId xmlns="" xmlns:a16="http://schemas.microsoft.com/office/drawing/2014/main" id="{BB91FBB1-3921-F747-EB24-B293EAF02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5">
            <a:extLst>
              <a:ext uri="{FF2B5EF4-FFF2-40B4-BE49-F238E27FC236}">
                <a16:creationId xmlns="" xmlns:a16="http://schemas.microsoft.com/office/drawing/2014/main" id="{F82862A7-7258-CEE1-A2F4-9FBB269B7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9C1A50-C254-469F-90AB-9E24808E2D1A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029706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3">
            <a:extLst>
              <a:ext uri="{FF2B5EF4-FFF2-40B4-BE49-F238E27FC236}">
                <a16:creationId xmlns="" xmlns:a16="http://schemas.microsoft.com/office/drawing/2014/main" id="{670809C9-4123-C5BE-206E-C7C75A85D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330022-AE61-4212-ADA6-D23F469A2926}" type="datetimeFigureOut">
              <a:rPr lang="fr-FR"/>
              <a:pPr>
                <a:defRPr/>
              </a:pPr>
              <a:t>03/07/2025</a:t>
            </a:fld>
            <a:endParaRPr lang="fr-FR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="" xmlns:a16="http://schemas.microsoft.com/office/drawing/2014/main" id="{C6382B43-0EBF-6F44-8912-B9F4101D1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="" xmlns:a16="http://schemas.microsoft.com/office/drawing/2014/main" id="{49F46170-7555-A219-638D-A98E56CB4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FEBBAF-F9F9-4366-B3D1-4131C2BCFCC5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7105802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3">
            <a:extLst>
              <a:ext uri="{FF2B5EF4-FFF2-40B4-BE49-F238E27FC236}">
                <a16:creationId xmlns="" xmlns:a16="http://schemas.microsoft.com/office/drawing/2014/main" id="{3AE0F904-49D7-3A7C-F470-9342FB949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F8F288-EF1A-4F41-9227-E787F86116C1}" type="datetimeFigureOut">
              <a:rPr lang="fr-FR"/>
              <a:pPr>
                <a:defRPr/>
              </a:pPr>
              <a:t>03/07/2025</a:t>
            </a:fld>
            <a:endParaRPr lang="fr-FR"/>
          </a:p>
        </p:txBody>
      </p:sp>
      <p:sp>
        <p:nvSpPr>
          <p:cNvPr id="6" name="Espace réservé du pied de page 4">
            <a:extLst>
              <a:ext uri="{FF2B5EF4-FFF2-40B4-BE49-F238E27FC236}">
                <a16:creationId xmlns="" xmlns:a16="http://schemas.microsoft.com/office/drawing/2014/main" id="{EFAA976E-031F-A5CA-4D58-1CD863375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="" xmlns:a16="http://schemas.microsoft.com/office/drawing/2014/main" id="{33AC1932-E6A7-F65F-1243-A14CE84BC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8F821A-A991-4A83-B8CD-6528E8D0A412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2288040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3">
            <a:extLst>
              <a:ext uri="{FF2B5EF4-FFF2-40B4-BE49-F238E27FC236}">
                <a16:creationId xmlns="" xmlns:a16="http://schemas.microsoft.com/office/drawing/2014/main" id="{F2A8DBF0-107E-0D6F-ABAA-E4CFC366B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AB8000-5EC8-4BD6-BE60-C5036497AB25}" type="datetimeFigureOut">
              <a:rPr lang="fr-FR"/>
              <a:pPr>
                <a:defRPr/>
              </a:pPr>
              <a:t>03/07/2025</a:t>
            </a:fld>
            <a:endParaRPr lang="fr-FR"/>
          </a:p>
        </p:txBody>
      </p:sp>
      <p:sp>
        <p:nvSpPr>
          <p:cNvPr id="6" name="Espace réservé du pied de page 4">
            <a:extLst>
              <a:ext uri="{FF2B5EF4-FFF2-40B4-BE49-F238E27FC236}">
                <a16:creationId xmlns="" xmlns:a16="http://schemas.microsoft.com/office/drawing/2014/main" id="{4901EB9F-A400-8E7C-B221-0412F60B9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="" xmlns:a16="http://schemas.microsoft.com/office/drawing/2014/main" id="{465C4691-0F4C-B0FA-22C8-7B91653AD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F5630F-4418-443E-BF31-E25F107964DC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5906185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="" xmlns:a16="http://schemas.microsoft.com/office/drawing/2014/main" id="{E58AA046-FB59-F68A-948B-EA63376FF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65431D-9F27-4C55-8FA5-48D4D9616294}" type="datetimeFigureOut">
              <a:rPr lang="fr-FR"/>
              <a:pPr>
                <a:defRPr/>
              </a:pPr>
              <a:t>03/07/2025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="" xmlns:a16="http://schemas.microsoft.com/office/drawing/2014/main" id="{CA22F46D-1EA2-9BDF-2BDA-50556EA45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="" xmlns:a16="http://schemas.microsoft.com/office/drawing/2014/main" id="{74941FE8-E4D4-F4F7-D837-E32730127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38C855-7FAA-461A-B6CD-66799A87C487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42106430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="" xmlns:a16="http://schemas.microsoft.com/office/drawing/2014/main" id="{1616A2E8-5651-2EB6-50EA-D8F1B3960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84C47A-F16B-4ECB-AFCA-BD3C3D19C93D}" type="datetimeFigureOut">
              <a:rPr lang="fr-FR"/>
              <a:pPr>
                <a:defRPr/>
              </a:pPr>
              <a:t>03/07/2025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="" xmlns:a16="http://schemas.microsoft.com/office/drawing/2014/main" id="{4F156C8C-E6DE-069E-9A51-B2EC52D2E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="" xmlns:a16="http://schemas.microsoft.com/office/drawing/2014/main" id="{4F28DDFD-4288-C444-9AB5-4CCE7DA26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FD73AE-A07B-428F-A68A-E380609E2572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2830331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lvl="0"/>
            <a:endParaRPr lang="fr-FR" noProof="0"/>
          </a:p>
        </p:txBody>
      </p:sp>
      <p:sp>
        <p:nvSpPr>
          <p:cNvPr id="4" name="Rectangle 4">
            <a:extLst>
              <a:ext uri="{FF2B5EF4-FFF2-40B4-BE49-F238E27FC236}">
                <a16:creationId xmlns="" xmlns:a16="http://schemas.microsoft.com/office/drawing/2014/main" id="{0BC85312-D372-6663-4F68-85B28E6709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>
            <a:extLst>
              <a:ext uri="{FF2B5EF4-FFF2-40B4-BE49-F238E27FC236}">
                <a16:creationId xmlns="" xmlns:a16="http://schemas.microsoft.com/office/drawing/2014/main" id="{8AC8F2FB-25BB-BEC6-A805-62EB837D53F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696DE16-5EB9-49C5-ADCD-EC181B49AB46}" type="slidenum">
              <a:rPr lang="en-US" altLang="fr-FR"/>
              <a:pPr/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424176803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re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>
            <a:extLst>
              <a:ext uri="{FF2B5EF4-FFF2-40B4-BE49-F238E27FC236}">
                <a16:creationId xmlns="" xmlns:a16="http://schemas.microsoft.com/office/drawing/2014/main" id="{D4324EE2-E9BB-CA11-E545-EEEA95B34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1277600" cy="1371600"/>
          </a:xfrm>
          <a:prstGeom prst="rect">
            <a:avLst/>
          </a:prstGeom>
          <a:gradFill rotWithShape="0">
            <a:gsLst>
              <a:gs pos="0">
                <a:srgbClr val="6699FF"/>
              </a:gs>
              <a:gs pos="100000">
                <a:srgbClr val="FFFFFF"/>
              </a:gs>
            </a:gsLst>
            <a:path path="shape">
              <a:fillToRect l="50000" t="50000" r="50000" b="50000"/>
            </a:path>
          </a:gra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lang="fr-FR" sz="1800"/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ECA1E91F-5AA7-DD86-5040-487659A46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172200"/>
            <a:ext cx="8026400" cy="6858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6699FF"/>
              </a:gs>
            </a:gsLst>
            <a:lin ang="540000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endParaRPr lang="en-GB" sz="1800">
              <a:latin typeface="Times New Roman" panose="02020603050405020304" pitchFamily="18" charset="0"/>
            </a:endParaRPr>
          </a:p>
        </p:txBody>
      </p:sp>
      <p:pic>
        <p:nvPicPr>
          <p:cNvPr id="6" name="Picture 10" descr="WHO-EN-BW-H">
            <a:extLst>
              <a:ext uri="{FF2B5EF4-FFF2-40B4-BE49-F238E27FC236}">
                <a16:creationId xmlns="" xmlns:a16="http://schemas.microsoft.com/office/drawing/2014/main" id="{2B080854-C23D-0005-56EC-7E48E4A20C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7600" y="6108700"/>
            <a:ext cx="3251200" cy="7493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12">
            <a:extLst>
              <a:ext uri="{FF2B5EF4-FFF2-40B4-BE49-F238E27FC236}">
                <a16:creationId xmlns="" xmlns:a16="http://schemas.microsoft.com/office/drawing/2014/main" id="{80ABD959-AD67-317C-D32E-557CF8B97A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07163"/>
            <a:ext cx="8026400" cy="2905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300">
                <a:solidFill>
                  <a:srgbClr val="000099"/>
                </a:solidFill>
              </a:rPr>
              <a:t>Bureau R</a:t>
            </a:r>
            <a:r>
              <a:rPr lang="fr-FR" sz="1300">
                <a:solidFill>
                  <a:srgbClr val="000099"/>
                </a:solidFill>
              </a:rPr>
              <a:t>é</a:t>
            </a:r>
            <a:r>
              <a:rPr lang="en-US" sz="1300">
                <a:solidFill>
                  <a:srgbClr val="000099"/>
                </a:solidFill>
              </a:rPr>
              <a:t>gional de l’OMS pour l’Afrique / WHO Regional Office for Africa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" name="Espace réservé de la date 7">
            <a:extLst>
              <a:ext uri="{FF2B5EF4-FFF2-40B4-BE49-F238E27FC236}">
                <a16:creationId xmlns="" xmlns:a16="http://schemas.microsoft.com/office/drawing/2014/main" id="{B8830777-D775-53A5-B442-00574ACCB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="" xmlns:a16="http://schemas.microsoft.com/office/drawing/2014/main" id="{EF6096C3-7CEB-854D-E553-D81864BB81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24E3385-1259-4B12-8323-E7AED652263D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40969152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="" xmlns:a16="http://schemas.microsoft.com/office/drawing/2014/main" id="{6237F245-9333-3FC3-21D0-5F6469666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1D1615-210A-4AF4-9496-8515F2A832FD}" type="datetimeFigureOut">
              <a:rPr lang="fr-FR"/>
              <a:pPr>
                <a:defRPr/>
              </a:pPr>
              <a:t>03/07/2025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="" xmlns:a16="http://schemas.microsoft.com/office/drawing/2014/main" id="{088AB4D2-348D-6C9C-C52D-35BCAB040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="" xmlns:a16="http://schemas.microsoft.com/office/drawing/2014/main" id="{1C979F94-90DD-8918-24F6-B46FAFDFF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DDB066-3D30-45DF-8C8A-0CA1023FB666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4675603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="" xmlns:a16="http://schemas.microsoft.com/office/drawing/2014/main" id="{5F658481-153A-79AA-D160-B7FB33466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63FFA2-81CF-407A-96A8-135E1FB9231C}" type="datetimeFigureOut">
              <a:rPr lang="fr-FR"/>
              <a:pPr>
                <a:defRPr/>
              </a:pPr>
              <a:t>03/07/2025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="" xmlns:a16="http://schemas.microsoft.com/office/drawing/2014/main" id="{D2F8684C-49E9-BAEF-8822-4FC98B116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="" xmlns:a16="http://schemas.microsoft.com/office/drawing/2014/main" id="{7A6D9150-2816-C50C-C566-EBC5DD555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CD6E9F-351E-4513-85BB-777211CACA89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10904649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="" xmlns:a16="http://schemas.microsoft.com/office/drawing/2014/main" id="{361FCFAC-C200-5D63-C3BC-060443E1D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001DB7-4E02-4D37-99AF-3959D58622A8}" type="datetimeFigureOut">
              <a:rPr lang="fr-FR"/>
              <a:pPr>
                <a:defRPr/>
              </a:pPr>
              <a:t>03/07/2025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="" xmlns:a16="http://schemas.microsoft.com/office/drawing/2014/main" id="{375D437E-7905-33A4-8EB2-649ABC921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="" xmlns:a16="http://schemas.microsoft.com/office/drawing/2014/main" id="{24375B78-7A2F-414A-4376-B8F8F34B3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7CAD30-2DB7-4379-A9DD-A1FE8676BB8B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6592060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3">
            <a:extLst>
              <a:ext uri="{FF2B5EF4-FFF2-40B4-BE49-F238E27FC236}">
                <a16:creationId xmlns="" xmlns:a16="http://schemas.microsoft.com/office/drawing/2014/main" id="{C1EE982C-3DAB-922B-E5E7-5E44F8AE5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4C57DD-002F-4E0A-B26F-8CB63DB6DA9E}" type="datetimeFigureOut">
              <a:rPr lang="fr-FR"/>
              <a:pPr>
                <a:defRPr/>
              </a:pPr>
              <a:t>03/07/2025</a:t>
            </a:fld>
            <a:endParaRPr lang="fr-FR"/>
          </a:p>
        </p:txBody>
      </p:sp>
      <p:sp>
        <p:nvSpPr>
          <p:cNvPr id="6" name="Espace réservé du pied de page 4">
            <a:extLst>
              <a:ext uri="{FF2B5EF4-FFF2-40B4-BE49-F238E27FC236}">
                <a16:creationId xmlns="" xmlns:a16="http://schemas.microsoft.com/office/drawing/2014/main" id="{5F7A2BDA-71A1-E433-8C37-1F9B9C860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="" xmlns:a16="http://schemas.microsoft.com/office/drawing/2014/main" id="{BC87B7CF-B8A1-7100-50C0-7639BD508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558419-D889-4C72-A280-B0E20DDB3DE4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4742413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3">
            <a:extLst>
              <a:ext uri="{FF2B5EF4-FFF2-40B4-BE49-F238E27FC236}">
                <a16:creationId xmlns="" xmlns:a16="http://schemas.microsoft.com/office/drawing/2014/main" id="{8E3C21FA-758C-63FA-231C-2278D8C8D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3145AB-8668-4A3B-9226-3EC77414A3F4}" type="datetimeFigureOut">
              <a:rPr lang="fr-FR"/>
              <a:pPr>
                <a:defRPr/>
              </a:pPr>
              <a:t>03/07/2025</a:t>
            </a:fld>
            <a:endParaRPr lang="fr-FR"/>
          </a:p>
        </p:txBody>
      </p:sp>
      <p:sp>
        <p:nvSpPr>
          <p:cNvPr id="8" name="Espace réservé du pied de page 4">
            <a:extLst>
              <a:ext uri="{FF2B5EF4-FFF2-40B4-BE49-F238E27FC236}">
                <a16:creationId xmlns="" xmlns:a16="http://schemas.microsoft.com/office/drawing/2014/main" id="{A6C6E238-FFF2-889E-8E46-9ECABFAF7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Espace réservé du numéro de diapositive 5">
            <a:extLst>
              <a:ext uri="{FF2B5EF4-FFF2-40B4-BE49-F238E27FC236}">
                <a16:creationId xmlns="" xmlns:a16="http://schemas.microsoft.com/office/drawing/2014/main" id="{D37B9B2C-BE7F-CEB6-0E35-72149CDA6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5BA94F-9051-4C40-99F5-B7D9E3F199C2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21743629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3">
            <a:extLst>
              <a:ext uri="{FF2B5EF4-FFF2-40B4-BE49-F238E27FC236}">
                <a16:creationId xmlns="" xmlns:a16="http://schemas.microsoft.com/office/drawing/2014/main" id="{F4E01938-600C-1FFE-BCBA-958B29A36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D5A685-A9F1-43ED-9F70-6F3EEB99FFB8}" type="datetimeFigureOut">
              <a:rPr lang="fr-FR"/>
              <a:pPr>
                <a:defRPr/>
              </a:pPr>
              <a:t>03/07/2025</a:t>
            </a:fld>
            <a:endParaRPr lang="fr-FR"/>
          </a:p>
        </p:txBody>
      </p:sp>
      <p:sp>
        <p:nvSpPr>
          <p:cNvPr id="4" name="Espace réservé du pied de page 4">
            <a:extLst>
              <a:ext uri="{FF2B5EF4-FFF2-40B4-BE49-F238E27FC236}">
                <a16:creationId xmlns="" xmlns:a16="http://schemas.microsoft.com/office/drawing/2014/main" id="{942A90BF-0121-1CED-6F26-8005D2DA9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5">
            <a:extLst>
              <a:ext uri="{FF2B5EF4-FFF2-40B4-BE49-F238E27FC236}">
                <a16:creationId xmlns="" xmlns:a16="http://schemas.microsoft.com/office/drawing/2014/main" id="{476A807D-E9F8-0F0D-A719-C8B09EF3B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573313-42D0-4E6A-8BCB-B67D61FFE03E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50067025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3">
            <a:extLst>
              <a:ext uri="{FF2B5EF4-FFF2-40B4-BE49-F238E27FC236}">
                <a16:creationId xmlns="" xmlns:a16="http://schemas.microsoft.com/office/drawing/2014/main" id="{BE949699-FC9B-2EB6-CF1E-F741A5F95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0EE23D-5A94-4CBC-89A7-0AB12793FC61}" type="datetimeFigureOut">
              <a:rPr lang="fr-FR"/>
              <a:pPr>
                <a:defRPr/>
              </a:pPr>
              <a:t>03/07/2025</a:t>
            </a:fld>
            <a:endParaRPr lang="fr-FR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="" xmlns:a16="http://schemas.microsoft.com/office/drawing/2014/main" id="{4D7BF477-5E11-FDDC-AE6C-D1E80AB22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="" xmlns:a16="http://schemas.microsoft.com/office/drawing/2014/main" id="{7BDB437C-7B47-DAEB-A6AD-894E06BA5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1869FA-BD34-48A1-8078-2306BF5E872E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51241944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3">
            <a:extLst>
              <a:ext uri="{FF2B5EF4-FFF2-40B4-BE49-F238E27FC236}">
                <a16:creationId xmlns="" xmlns:a16="http://schemas.microsoft.com/office/drawing/2014/main" id="{1DFC1EE4-156C-0615-C0D7-EDE7042DE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0660D8-59BE-4CA0-88DA-8D470EA334A4}" type="datetimeFigureOut">
              <a:rPr lang="fr-FR"/>
              <a:pPr>
                <a:defRPr/>
              </a:pPr>
              <a:t>03/07/2025</a:t>
            </a:fld>
            <a:endParaRPr lang="fr-FR"/>
          </a:p>
        </p:txBody>
      </p:sp>
      <p:sp>
        <p:nvSpPr>
          <p:cNvPr id="6" name="Espace réservé du pied de page 4">
            <a:extLst>
              <a:ext uri="{FF2B5EF4-FFF2-40B4-BE49-F238E27FC236}">
                <a16:creationId xmlns="" xmlns:a16="http://schemas.microsoft.com/office/drawing/2014/main" id="{0ECE9C06-4C2F-128F-5FEF-18016616B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="" xmlns:a16="http://schemas.microsoft.com/office/drawing/2014/main" id="{45465460-71B7-25EF-D732-CF2645880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C12B7D-29A2-4496-AEAB-4F589398D2D8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88347544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3">
            <a:extLst>
              <a:ext uri="{FF2B5EF4-FFF2-40B4-BE49-F238E27FC236}">
                <a16:creationId xmlns="" xmlns:a16="http://schemas.microsoft.com/office/drawing/2014/main" id="{0C90CEF7-C09F-EEA7-6ADE-B11510965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3810F1-494D-4F97-AF99-EB19A8E0E89D}" type="datetimeFigureOut">
              <a:rPr lang="fr-FR"/>
              <a:pPr>
                <a:defRPr/>
              </a:pPr>
              <a:t>03/07/2025</a:t>
            </a:fld>
            <a:endParaRPr lang="fr-FR"/>
          </a:p>
        </p:txBody>
      </p:sp>
      <p:sp>
        <p:nvSpPr>
          <p:cNvPr id="6" name="Espace réservé du pied de page 4">
            <a:extLst>
              <a:ext uri="{FF2B5EF4-FFF2-40B4-BE49-F238E27FC236}">
                <a16:creationId xmlns="" xmlns:a16="http://schemas.microsoft.com/office/drawing/2014/main" id="{CECDAE11-D029-D2B8-536C-4A693A75B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="" xmlns:a16="http://schemas.microsoft.com/office/drawing/2014/main" id="{4F566A00-16D5-182B-FD78-991520A46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A27562-1D2E-4C82-A796-AF781EB24CBB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27570326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="" xmlns:a16="http://schemas.microsoft.com/office/drawing/2014/main" id="{9812B8B1-B690-BCEE-2EFF-AFA12BF92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D38103-54F3-416E-B064-312C04FB15D8}" type="datetimeFigureOut">
              <a:rPr lang="fr-FR"/>
              <a:pPr>
                <a:defRPr/>
              </a:pPr>
              <a:t>03/07/2025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="" xmlns:a16="http://schemas.microsoft.com/office/drawing/2014/main" id="{91093EB8-E60D-8F46-7738-A3A00B055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="" xmlns:a16="http://schemas.microsoft.com/office/drawing/2014/main" id="{A67802FF-CC4B-625E-A961-65E630901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6BE830-99D1-4A23-9A25-D36B2722DA8D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82759754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="" xmlns:a16="http://schemas.microsoft.com/office/drawing/2014/main" id="{52DA3CF5-E599-6757-DD9C-17E5076A7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AA3297-6EE7-45F3-976A-0590EAC0345B}" type="datetimeFigureOut">
              <a:rPr lang="fr-FR"/>
              <a:pPr>
                <a:defRPr/>
              </a:pPr>
              <a:t>03/07/2025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="" xmlns:a16="http://schemas.microsoft.com/office/drawing/2014/main" id="{E37B2E0B-C861-8A76-CCF5-483C500AD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="" xmlns:a16="http://schemas.microsoft.com/office/drawing/2014/main" id="{68A0D4B5-7C04-E576-605C-DE40512FC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9751F9-7E99-4144-8AE6-61A11D9BD42D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9876919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lvl="0"/>
            <a:endParaRPr lang="fr-FR" noProof="0"/>
          </a:p>
        </p:txBody>
      </p:sp>
      <p:sp>
        <p:nvSpPr>
          <p:cNvPr id="4" name="Rectangle 4">
            <a:extLst>
              <a:ext uri="{FF2B5EF4-FFF2-40B4-BE49-F238E27FC236}">
                <a16:creationId xmlns="" xmlns:a16="http://schemas.microsoft.com/office/drawing/2014/main" id="{5EEEBE99-3EEC-4A28-DA36-0F35ECF424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>
            <a:extLst>
              <a:ext uri="{FF2B5EF4-FFF2-40B4-BE49-F238E27FC236}">
                <a16:creationId xmlns="" xmlns:a16="http://schemas.microsoft.com/office/drawing/2014/main" id="{20FC5B15-F287-1C59-1BBA-E8B0F691FB2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FE03749-8C86-4530-85AD-0A453119F5A4}" type="slidenum">
              <a:rPr lang="en-US" altLang="fr-FR"/>
              <a:pPr>
                <a:defRPr/>
              </a:pPr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134578697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re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>
            <a:extLst>
              <a:ext uri="{FF2B5EF4-FFF2-40B4-BE49-F238E27FC236}">
                <a16:creationId xmlns="" xmlns:a16="http://schemas.microsoft.com/office/drawing/2014/main" id="{7B0E2554-76D3-2370-8455-03ACE5AACA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1277600" cy="1371600"/>
          </a:xfrm>
          <a:prstGeom prst="rect">
            <a:avLst/>
          </a:prstGeom>
          <a:gradFill rotWithShape="0">
            <a:gsLst>
              <a:gs pos="0">
                <a:srgbClr val="6699FF"/>
              </a:gs>
              <a:gs pos="100000">
                <a:srgbClr val="FFFFFF"/>
              </a:gs>
            </a:gsLst>
            <a:path path="shape">
              <a:fillToRect l="50000" t="50000" r="50000" b="50000"/>
            </a:path>
          </a:gra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lang="fr-FR" sz="1800"/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5219F29D-DDE0-BC67-39C6-CCC7D49EEA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172200"/>
            <a:ext cx="8026400" cy="6858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6699FF"/>
              </a:gs>
            </a:gsLst>
            <a:lin ang="540000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endParaRPr lang="en-GB" sz="1800">
              <a:latin typeface="Times New Roman" panose="02020603050405020304" pitchFamily="18" charset="0"/>
            </a:endParaRPr>
          </a:p>
        </p:txBody>
      </p:sp>
      <p:pic>
        <p:nvPicPr>
          <p:cNvPr id="6" name="Picture 10" descr="WHO-EN-BW-H">
            <a:extLst>
              <a:ext uri="{FF2B5EF4-FFF2-40B4-BE49-F238E27FC236}">
                <a16:creationId xmlns="" xmlns:a16="http://schemas.microsoft.com/office/drawing/2014/main" id="{B1ABB7F2-9DA0-12C7-FCD9-47F1002AEA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7600" y="6108700"/>
            <a:ext cx="3251200" cy="7493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12">
            <a:extLst>
              <a:ext uri="{FF2B5EF4-FFF2-40B4-BE49-F238E27FC236}">
                <a16:creationId xmlns="" xmlns:a16="http://schemas.microsoft.com/office/drawing/2014/main" id="{7DAFB64B-277B-4FA0-B9DE-A5A3EB7C59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07163"/>
            <a:ext cx="8026400" cy="2905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300">
                <a:solidFill>
                  <a:srgbClr val="000099"/>
                </a:solidFill>
              </a:rPr>
              <a:t>Bureau R</a:t>
            </a:r>
            <a:r>
              <a:rPr lang="fr-FR" sz="1300">
                <a:solidFill>
                  <a:srgbClr val="000099"/>
                </a:solidFill>
              </a:rPr>
              <a:t>é</a:t>
            </a:r>
            <a:r>
              <a:rPr lang="en-US" sz="1300">
                <a:solidFill>
                  <a:srgbClr val="000099"/>
                </a:solidFill>
              </a:rPr>
              <a:t>gional de l’OMS pour l’Afrique / WHO Regional Office for Africa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" name="Espace réservé de la date 7">
            <a:extLst>
              <a:ext uri="{FF2B5EF4-FFF2-40B4-BE49-F238E27FC236}">
                <a16:creationId xmlns="" xmlns:a16="http://schemas.microsoft.com/office/drawing/2014/main" id="{3BE915AF-C26E-3FD6-5F73-6F885B495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="" xmlns:a16="http://schemas.microsoft.com/office/drawing/2014/main" id="{9D019868-A193-3AF4-B300-83BC2829201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DF3E2EA-838C-426F-99DD-19E37411F65B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94635355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="" xmlns:a16="http://schemas.microsoft.com/office/drawing/2014/main" id="{28E2EEF7-954B-5ED3-78DA-19A90868D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285AEC-216E-4E59-A024-AA7466A60499}" type="datetimeFigureOut">
              <a:rPr lang="fr-FR"/>
              <a:pPr>
                <a:defRPr/>
              </a:pPr>
              <a:t>03/07/2025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="" xmlns:a16="http://schemas.microsoft.com/office/drawing/2014/main" id="{D112741F-D2FD-C15F-9185-F8DDE3C18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="" xmlns:a16="http://schemas.microsoft.com/office/drawing/2014/main" id="{105BE24D-C436-E308-B406-23E995C84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F76F78-5EF5-4054-915F-D6DA8AB7C357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34591238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="" xmlns:a16="http://schemas.microsoft.com/office/drawing/2014/main" id="{318BE271-DAA0-9731-F09B-63C17C8EC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FD785B-6720-496F-AF23-3E88D27FC6FA}" type="datetimeFigureOut">
              <a:rPr lang="fr-FR"/>
              <a:pPr>
                <a:defRPr/>
              </a:pPr>
              <a:t>03/07/2025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="" xmlns:a16="http://schemas.microsoft.com/office/drawing/2014/main" id="{DEC55C07-0152-A50D-E93B-54ACDDA05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="" xmlns:a16="http://schemas.microsoft.com/office/drawing/2014/main" id="{D1A3133F-FAB6-7318-E84E-0A90F7C1E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87C8FC-34DC-4BE8-A892-23DC92569EF4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92824597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="" xmlns:a16="http://schemas.microsoft.com/office/drawing/2014/main" id="{3D26FD2B-F780-8386-ED8C-967FFDB47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8DE9D7-0596-480D-BB15-67BD12752A30}" type="datetimeFigureOut">
              <a:rPr lang="fr-FR"/>
              <a:pPr>
                <a:defRPr/>
              </a:pPr>
              <a:t>03/07/2025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="" xmlns:a16="http://schemas.microsoft.com/office/drawing/2014/main" id="{E99CACC6-74C5-C9FB-D6B4-925A0429D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="" xmlns:a16="http://schemas.microsoft.com/office/drawing/2014/main" id="{A14A3901-2EE2-5970-5096-5DDC8E2BB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28DA81-F572-4D68-8B59-45AF1FD48C67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11525329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3">
            <a:extLst>
              <a:ext uri="{FF2B5EF4-FFF2-40B4-BE49-F238E27FC236}">
                <a16:creationId xmlns="" xmlns:a16="http://schemas.microsoft.com/office/drawing/2014/main" id="{89978AFB-F9A7-F611-7BC5-DA107562E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49849A-3144-4B35-9661-C9EDC038D564}" type="datetimeFigureOut">
              <a:rPr lang="fr-FR"/>
              <a:pPr>
                <a:defRPr/>
              </a:pPr>
              <a:t>03/07/2025</a:t>
            </a:fld>
            <a:endParaRPr lang="fr-FR"/>
          </a:p>
        </p:txBody>
      </p:sp>
      <p:sp>
        <p:nvSpPr>
          <p:cNvPr id="6" name="Espace réservé du pied de page 4">
            <a:extLst>
              <a:ext uri="{FF2B5EF4-FFF2-40B4-BE49-F238E27FC236}">
                <a16:creationId xmlns="" xmlns:a16="http://schemas.microsoft.com/office/drawing/2014/main" id="{E951022C-78CF-0EB9-36D9-1825DE8FC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="" xmlns:a16="http://schemas.microsoft.com/office/drawing/2014/main" id="{FBAB6B50-7AA1-2DC5-E9BB-F92C43E9D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3FAC1D-8A57-4A86-939A-AA21CAAF44E1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94835911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3">
            <a:extLst>
              <a:ext uri="{FF2B5EF4-FFF2-40B4-BE49-F238E27FC236}">
                <a16:creationId xmlns="" xmlns:a16="http://schemas.microsoft.com/office/drawing/2014/main" id="{8883328E-D3BE-E70C-1EF4-C7C016792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6205B1-F14E-4976-A54E-A03B93BA60A0}" type="datetimeFigureOut">
              <a:rPr lang="fr-FR"/>
              <a:pPr>
                <a:defRPr/>
              </a:pPr>
              <a:t>03/07/2025</a:t>
            </a:fld>
            <a:endParaRPr lang="fr-FR"/>
          </a:p>
        </p:txBody>
      </p:sp>
      <p:sp>
        <p:nvSpPr>
          <p:cNvPr id="8" name="Espace réservé du pied de page 4">
            <a:extLst>
              <a:ext uri="{FF2B5EF4-FFF2-40B4-BE49-F238E27FC236}">
                <a16:creationId xmlns="" xmlns:a16="http://schemas.microsoft.com/office/drawing/2014/main" id="{C544F98B-B640-C7DA-3D5F-913C14393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Espace réservé du numéro de diapositive 5">
            <a:extLst>
              <a:ext uri="{FF2B5EF4-FFF2-40B4-BE49-F238E27FC236}">
                <a16:creationId xmlns="" xmlns:a16="http://schemas.microsoft.com/office/drawing/2014/main" id="{E755B4CF-A8CA-67E5-E2CC-F0EB2ABA6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D89327-4711-4AED-8435-3CFA54C9BD68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421621802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3">
            <a:extLst>
              <a:ext uri="{FF2B5EF4-FFF2-40B4-BE49-F238E27FC236}">
                <a16:creationId xmlns="" xmlns:a16="http://schemas.microsoft.com/office/drawing/2014/main" id="{59720344-8387-D413-86EE-E05626867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2591F6-7886-4C6C-83E2-3DFE6C49B39D}" type="datetimeFigureOut">
              <a:rPr lang="fr-FR"/>
              <a:pPr>
                <a:defRPr/>
              </a:pPr>
              <a:t>03/07/2025</a:t>
            </a:fld>
            <a:endParaRPr lang="fr-FR"/>
          </a:p>
        </p:txBody>
      </p:sp>
      <p:sp>
        <p:nvSpPr>
          <p:cNvPr id="4" name="Espace réservé du pied de page 4">
            <a:extLst>
              <a:ext uri="{FF2B5EF4-FFF2-40B4-BE49-F238E27FC236}">
                <a16:creationId xmlns="" xmlns:a16="http://schemas.microsoft.com/office/drawing/2014/main" id="{0315D871-D63E-AE9B-0AB5-EDE0B6D42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5">
            <a:extLst>
              <a:ext uri="{FF2B5EF4-FFF2-40B4-BE49-F238E27FC236}">
                <a16:creationId xmlns="" xmlns:a16="http://schemas.microsoft.com/office/drawing/2014/main" id="{D6078AA7-DBF4-0461-4837-B1FB26770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356BE5-444B-4148-BF51-9647D763CF78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6815984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3">
            <a:extLst>
              <a:ext uri="{FF2B5EF4-FFF2-40B4-BE49-F238E27FC236}">
                <a16:creationId xmlns="" xmlns:a16="http://schemas.microsoft.com/office/drawing/2014/main" id="{47B2D145-CAF1-BF14-AB9B-708BF38C7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19A112-296D-4709-9B66-9FDE43AB2FD9}" type="datetimeFigureOut">
              <a:rPr lang="fr-FR"/>
              <a:pPr>
                <a:defRPr/>
              </a:pPr>
              <a:t>03/07/2025</a:t>
            </a:fld>
            <a:endParaRPr lang="fr-FR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="" xmlns:a16="http://schemas.microsoft.com/office/drawing/2014/main" id="{6FA2A8BD-5C89-14C6-E254-00035D360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="" xmlns:a16="http://schemas.microsoft.com/office/drawing/2014/main" id="{D4134FCF-9B76-14E9-9D72-0332139F8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009ED4-2FB2-49EB-B794-ADAE2ECBCDB3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28253000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3">
            <a:extLst>
              <a:ext uri="{FF2B5EF4-FFF2-40B4-BE49-F238E27FC236}">
                <a16:creationId xmlns="" xmlns:a16="http://schemas.microsoft.com/office/drawing/2014/main" id="{EBAA58D6-75D6-0E34-3574-625A1A7B8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E322B0-8C6C-4EA8-A5B5-532E03A65E24}" type="datetimeFigureOut">
              <a:rPr lang="fr-FR"/>
              <a:pPr>
                <a:defRPr/>
              </a:pPr>
              <a:t>03/07/2025</a:t>
            </a:fld>
            <a:endParaRPr lang="fr-FR"/>
          </a:p>
        </p:txBody>
      </p:sp>
      <p:sp>
        <p:nvSpPr>
          <p:cNvPr id="6" name="Espace réservé du pied de page 4">
            <a:extLst>
              <a:ext uri="{FF2B5EF4-FFF2-40B4-BE49-F238E27FC236}">
                <a16:creationId xmlns="" xmlns:a16="http://schemas.microsoft.com/office/drawing/2014/main" id="{DDED576A-F0D5-8F13-71F7-A4907B24E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="" xmlns:a16="http://schemas.microsoft.com/office/drawing/2014/main" id="{0B094562-84A5-40A6-673E-66A811828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90EF1D-2D61-40A3-9147-180D1050FCDA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15148725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3">
            <a:extLst>
              <a:ext uri="{FF2B5EF4-FFF2-40B4-BE49-F238E27FC236}">
                <a16:creationId xmlns="" xmlns:a16="http://schemas.microsoft.com/office/drawing/2014/main" id="{CEB6FE59-1101-7BEB-0E6F-3C987CB86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215DD6-6F39-40F6-9E65-66F7F8D82AC2}" type="datetimeFigureOut">
              <a:rPr lang="fr-FR"/>
              <a:pPr>
                <a:defRPr/>
              </a:pPr>
              <a:t>03/07/2025</a:t>
            </a:fld>
            <a:endParaRPr lang="fr-FR"/>
          </a:p>
        </p:txBody>
      </p:sp>
      <p:sp>
        <p:nvSpPr>
          <p:cNvPr id="6" name="Espace réservé du pied de page 4">
            <a:extLst>
              <a:ext uri="{FF2B5EF4-FFF2-40B4-BE49-F238E27FC236}">
                <a16:creationId xmlns="" xmlns:a16="http://schemas.microsoft.com/office/drawing/2014/main" id="{2059943A-E47C-B3BA-5FDF-9A7AA02A3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="" xmlns:a16="http://schemas.microsoft.com/office/drawing/2014/main" id="{2B1C1CF0-9315-FD3F-EB03-D1B1E6FD9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8FDD25-044C-41F1-A714-2A553469B0B2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56108555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="" xmlns:a16="http://schemas.microsoft.com/office/drawing/2014/main" id="{962C88AE-0207-DA47-A64A-AE256D10B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4DD81B-67F7-4276-A4D3-501B704B5EE0}" type="datetimeFigureOut">
              <a:rPr lang="fr-FR"/>
              <a:pPr>
                <a:defRPr/>
              </a:pPr>
              <a:t>03/07/2025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="" xmlns:a16="http://schemas.microsoft.com/office/drawing/2014/main" id="{960B50C0-FC56-2636-9299-C6BE869A3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="" xmlns:a16="http://schemas.microsoft.com/office/drawing/2014/main" id="{3ED935AA-D523-19DB-B768-F1E52A46E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57B90A-D548-418B-A7E7-A02D4E65A01C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69034149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="" xmlns:a16="http://schemas.microsoft.com/office/drawing/2014/main" id="{5AE084BE-B58F-9C94-648C-EFD5C6FD6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713AFB-1816-4BDC-AD1A-3647E9223885}" type="datetimeFigureOut">
              <a:rPr lang="fr-FR"/>
              <a:pPr>
                <a:defRPr/>
              </a:pPr>
              <a:t>03/07/2025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="" xmlns:a16="http://schemas.microsoft.com/office/drawing/2014/main" id="{7FA60910-CC1F-BEEE-304B-D9FB55AFA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="" xmlns:a16="http://schemas.microsoft.com/office/drawing/2014/main" id="{D9AF19CB-87CA-FF27-CF7E-448503C1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29D5CF-4A33-4B33-8B0C-DA642F251236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37913625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lvl="0"/>
            <a:endParaRPr lang="fr-FR" noProof="0"/>
          </a:p>
        </p:txBody>
      </p:sp>
      <p:sp>
        <p:nvSpPr>
          <p:cNvPr id="4" name="Rectangle 4">
            <a:extLst>
              <a:ext uri="{FF2B5EF4-FFF2-40B4-BE49-F238E27FC236}">
                <a16:creationId xmlns="" xmlns:a16="http://schemas.microsoft.com/office/drawing/2014/main" id="{321133DF-67AB-7290-D8AA-9792FCF859F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>
            <a:extLst>
              <a:ext uri="{FF2B5EF4-FFF2-40B4-BE49-F238E27FC236}">
                <a16:creationId xmlns="" xmlns:a16="http://schemas.microsoft.com/office/drawing/2014/main" id="{298285BB-431B-40CA-904D-C1A7184CB9C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850D657-A62B-483E-A301-8DF284A13F0E}" type="slidenum">
              <a:rPr lang="en-US" altLang="fr-FR"/>
              <a:pPr>
                <a:defRPr/>
              </a:pPr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202316406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re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>
            <a:extLst>
              <a:ext uri="{FF2B5EF4-FFF2-40B4-BE49-F238E27FC236}">
                <a16:creationId xmlns="" xmlns:a16="http://schemas.microsoft.com/office/drawing/2014/main" id="{AECF701C-769E-5F55-66DA-485554C801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1277600" cy="1371600"/>
          </a:xfrm>
          <a:prstGeom prst="rect">
            <a:avLst/>
          </a:prstGeom>
          <a:gradFill rotWithShape="0">
            <a:gsLst>
              <a:gs pos="0">
                <a:srgbClr val="6699FF"/>
              </a:gs>
              <a:gs pos="100000">
                <a:srgbClr val="FFFFFF"/>
              </a:gs>
            </a:gsLst>
            <a:path path="shape">
              <a:fillToRect l="50000" t="50000" r="50000" b="50000"/>
            </a:path>
          </a:gra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lang="fr-FR" sz="1800"/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1BBC2B20-264B-9DE5-A2F6-A6D1C164A0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172200"/>
            <a:ext cx="8026400" cy="6858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6699FF"/>
              </a:gs>
            </a:gsLst>
            <a:lin ang="540000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endParaRPr lang="en-GB" sz="1800">
              <a:latin typeface="Times New Roman" panose="02020603050405020304" pitchFamily="18" charset="0"/>
            </a:endParaRPr>
          </a:p>
        </p:txBody>
      </p:sp>
      <p:pic>
        <p:nvPicPr>
          <p:cNvPr id="6" name="Picture 10" descr="WHO-EN-BW-H">
            <a:extLst>
              <a:ext uri="{FF2B5EF4-FFF2-40B4-BE49-F238E27FC236}">
                <a16:creationId xmlns="" xmlns:a16="http://schemas.microsoft.com/office/drawing/2014/main" id="{801B76D7-FD7B-C128-BDFE-41DCF5125C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7600" y="6108700"/>
            <a:ext cx="3251200" cy="7493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12">
            <a:extLst>
              <a:ext uri="{FF2B5EF4-FFF2-40B4-BE49-F238E27FC236}">
                <a16:creationId xmlns="" xmlns:a16="http://schemas.microsoft.com/office/drawing/2014/main" id="{CCD2C738-BF8B-E0C8-5CDB-B74AB651D0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07163"/>
            <a:ext cx="8026400" cy="2905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300">
                <a:solidFill>
                  <a:srgbClr val="000099"/>
                </a:solidFill>
              </a:rPr>
              <a:t>Bureau R</a:t>
            </a:r>
            <a:r>
              <a:rPr lang="fr-FR" sz="1300">
                <a:solidFill>
                  <a:srgbClr val="000099"/>
                </a:solidFill>
              </a:rPr>
              <a:t>é</a:t>
            </a:r>
            <a:r>
              <a:rPr lang="en-US" sz="1300">
                <a:solidFill>
                  <a:srgbClr val="000099"/>
                </a:solidFill>
              </a:rPr>
              <a:t>gional de l’OMS pour l’Afrique / WHO Regional Office for Africa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" name="Espace réservé de la date 7">
            <a:extLst>
              <a:ext uri="{FF2B5EF4-FFF2-40B4-BE49-F238E27FC236}">
                <a16:creationId xmlns="" xmlns:a16="http://schemas.microsoft.com/office/drawing/2014/main" id="{3C03072B-1A12-2EE9-FC08-26126A79B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="" xmlns:a16="http://schemas.microsoft.com/office/drawing/2014/main" id="{225E0BCD-0040-7DC8-7F2D-CC97B5A8E93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C05E308-CACE-4763-97D0-37F08BFE43CE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11531093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endParaRPr lang="fr-FR" noProof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="" xmlns:a16="http://schemas.microsoft.com/office/drawing/2014/main" id="{B79237D3-0683-8D20-A9EE-B1AC45233A0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>
            <a:extLst>
              <a:ext uri="{FF2B5EF4-FFF2-40B4-BE49-F238E27FC236}">
                <a16:creationId xmlns="" xmlns:a16="http://schemas.microsoft.com/office/drawing/2014/main" id="{D4F2C744-E792-A5E6-0BB5-48C60F9448A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9201CD3-5FC3-4AED-904E-8BAC1D076C6C}" type="slidenum">
              <a:rPr lang="en-US" altLang="fr-FR"/>
              <a:pPr>
                <a:defRPr/>
              </a:pPr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1251127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50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9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="" xmlns:a16="http://schemas.microsoft.com/office/drawing/2014/main" id="{0C39D7EB-CD8C-4324-C3B6-131D4AB26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D"/>
          </a:p>
        </p:txBody>
      </p:sp>
      <p:sp>
        <p:nvSpPr>
          <p:cNvPr id="3" name="Espace réservé du texte 2">
            <a:extLst>
              <a:ext uri="{FF2B5EF4-FFF2-40B4-BE49-F238E27FC236}">
                <a16:creationId xmlns="" xmlns:a16="http://schemas.microsoft.com/office/drawing/2014/main" id="{628ADD1A-0297-72E3-9708-40A50F244A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D"/>
          </a:p>
        </p:txBody>
      </p:sp>
      <p:sp>
        <p:nvSpPr>
          <p:cNvPr id="4" name="Espace réservé de la date 3">
            <a:extLst>
              <a:ext uri="{FF2B5EF4-FFF2-40B4-BE49-F238E27FC236}">
                <a16:creationId xmlns="" xmlns:a16="http://schemas.microsoft.com/office/drawing/2014/main" id="{B730E1FB-C294-8F82-E938-80FB565412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730ADC-C648-474C-8254-EB230B7E29C4}" type="datetimeFigureOut">
              <a:rPr lang="fr-CD" smtClean="0"/>
              <a:t>03/07/2025</a:t>
            </a:fld>
            <a:endParaRPr lang="fr-CD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="" xmlns:a16="http://schemas.microsoft.com/office/drawing/2014/main" id="{ADB425B3-C486-4BEB-A9C3-2AFFFB005E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D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="" xmlns:a16="http://schemas.microsoft.com/office/drawing/2014/main" id="{BABF04AB-E501-C4CD-FBEE-95D1546775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49F6F-393C-40D2-85FD-F56663460A4F}" type="slidenum">
              <a:rPr lang="fr-CD" smtClean="0"/>
              <a:t>‹N°›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3403550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ce réservé du titre 1">
            <a:extLst>
              <a:ext uri="{FF2B5EF4-FFF2-40B4-BE49-F238E27FC236}">
                <a16:creationId xmlns="" xmlns:a16="http://schemas.microsoft.com/office/drawing/2014/main" id="{479C7287-844C-34C0-37A3-1731CEC61A0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</a:t>
            </a:r>
          </a:p>
        </p:txBody>
      </p:sp>
      <p:sp>
        <p:nvSpPr>
          <p:cNvPr id="1027" name="Espace réservé du texte 2">
            <a:extLst>
              <a:ext uri="{FF2B5EF4-FFF2-40B4-BE49-F238E27FC236}">
                <a16:creationId xmlns="" xmlns:a16="http://schemas.microsoft.com/office/drawing/2014/main" id="{167013BD-7169-F24E-8C58-3E138344248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="" xmlns:a16="http://schemas.microsoft.com/office/drawing/2014/main" id="{36B4B5B1-333C-02D5-FB9E-8A821F50BA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B071D0C-33D2-45EB-9B26-1E2E8C5B5E0E}" type="datetimeFigureOut">
              <a:rPr lang="fr-FR"/>
              <a:pPr>
                <a:defRPr/>
              </a:pPr>
              <a:t>03/07/2025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="" xmlns:a16="http://schemas.microsoft.com/office/drawing/2014/main" id="{2D36A57A-2AFC-347C-5227-4674123A85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="" xmlns:a16="http://schemas.microsoft.com/office/drawing/2014/main" id="{8258C05B-355C-CD1E-7FF6-1C3F4BC770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85B922DF-18C7-4D73-B720-0FA300DB0485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28776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ce réservé du titre 1">
            <a:extLst>
              <a:ext uri="{FF2B5EF4-FFF2-40B4-BE49-F238E27FC236}">
                <a16:creationId xmlns="" xmlns:a16="http://schemas.microsoft.com/office/drawing/2014/main" id="{0B82381D-5335-E91E-AC3A-10FD29F36BA5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</a:t>
            </a:r>
          </a:p>
        </p:txBody>
      </p:sp>
      <p:sp>
        <p:nvSpPr>
          <p:cNvPr id="1027" name="Espace réservé du texte 2">
            <a:extLst>
              <a:ext uri="{FF2B5EF4-FFF2-40B4-BE49-F238E27FC236}">
                <a16:creationId xmlns="" xmlns:a16="http://schemas.microsoft.com/office/drawing/2014/main" id="{1DCED359-5921-4F16-F0D4-243E8627623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="" xmlns:a16="http://schemas.microsoft.com/office/drawing/2014/main" id="{3F9E8355-CF7C-AE54-D447-A62B1DAAB9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5B56CE4-E51D-43F7-A2A0-D1723E922DDB}" type="datetimeFigureOut">
              <a:rPr lang="fr-FR"/>
              <a:pPr>
                <a:defRPr/>
              </a:pPr>
              <a:t>03/07/2025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="" xmlns:a16="http://schemas.microsoft.com/office/drawing/2014/main" id="{7658A1E2-1FF4-4F85-FE6B-68918943FE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="" xmlns:a16="http://schemas.microsoft.com/office/drawing/2014/main" id="{876BD63C-1A29-989C-9A7C-903FDA22BE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1CBACB3D-2716-472D-9DA7-5535041A8A9E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63728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ce réservé du titre 1">
            <a:extLst>
              <a:ext uri="{FF2B5EF4-FFF2-40B4-BE49-F238E27FC236}">
                <a16:creationId xmlns="" xmlns:a16="http://schemas.microsoft.com/office/drawing/2014/main" id="{2594985E-CDC3-A968-28C7-BF8423136399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</a:t>
            </a:r>
          </a:p>
        </p:txBody>
      </p:sp>
      <p:sp>
        <p:nvSpPr>
          <p:cNvPr id="1027" name="Espace réservé du texte 2">
            <a:extLst>
              <a:ext uri="{FF2B5EF4-FFF2-40B4-BE49-F238E27FC236}">
                <a16:creationId xmlns="" xmlns:a16="http://schemas.microsoft.com/office/drawing/2014/main" id="{9716EDE9-317D-1EFE-0F3C-8255C1893AB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="" xmlns:a16="http://schemas.microsoft.com/office/drawing/2014/main" id="{2331DCD2-2089-8743-05A5-D9030BC5B9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FA9E476-18BE-49C6-B148-048F3B8117F4}" type="datetimeFigureOut">
              <a:rPr lang="fr-FR"/>
              <a:pPr>
                <a:defRPr/>
              </a:pPr>
              <a:t>03/07/2025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="" xmlns:a16="http://schemas.microsoft.com/office/drawing/2014/main" id="{152450E0-48A4-3D1C-DFCE-94D8A7F4BB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="" xmlns:a16="http://schemas.microsoft.com/office/drawing/2014/main" id="{AA4C5CB8-15C7-F159-64C1-4ABBF8015C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0D2984B6-28A0-42D1-8715-76A2BD8ECC1F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165390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A872A918-35EE-07A2-87F8-D0DB9C5F7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999"/>
            <a:ext cx="10457329" cy="4933016"/>
          </a:xfrm>
          <a:solidFill>
            <a:srgbClr val="00B0F0"/>
          </a:solidFill>
          <a:ln w="76200">
            <a:solidFill>
              <a:srgbClr val="FF0000"/>
            </a:solidFill>
          </a:ln>
        </p:spPr>
        <p:txBody>
          <a:bodyPr/>
          <a:lstStyle/>
          <a:p>
            <a:r>
              <a:rPr kumimoji="0" lang="fr-CD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Comment Augmenter la Couverture</a:t>
            </a:r>
            <a:br>
              <a:rPr kumimoji="0" lang="fr-CD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fr-CD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                vaccinale dans l’AS</a:t>
            </a:r>
            <a:endParaRPr lang="fr-CD" dirty="0"/>
          </a:p>
        </p:txBody>
      </p:sp>
      <p:sp>
        <p:nvSpPr>
          <p:cNvPr id="3" name="ZoneTexte 2">
            <a:extLst>
              <a:ext uri="{FF2B5EF4-FFF2-40B4-BE49-F238E27FC236}">
                <a16:creationId xmlns="" xmlns:a16="http://schemas.microsoft.com/office/drawing/2014/main" id="{12633B55-02FD-1E9D-5698-332E0366F13A}"/>
              </a:ext>
            </a:extLst>
          </p:cNvPr>
          <p:cNvSpPr txBox="1"/>
          <p:nvPr/>
        </p:nvSpPr>
        <p:spPr>
          <a:xfrm>
            <a:off x="8633012" y="5768788"/>
            <a:ext cx="3079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D" dirty="0"/>
              <a:t> </a:t>
            </a:r>
            <a:endParaRPr lang="fr-CD" b="1" dirty="0"/>
          </a:p>
        </p:txBody>
      </p:sp>
    </p:spTree>
    <p:extLst>
      <p:ext uri="{BB962C8B-B14F-4D97-AF65-F5344CB8AC3E}">
        <p14:creationId xmlns:p14="http://schemas.microsoft.com/office/powerpoint/2010/main" val="3011826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78293530-E2B5-213C-AA22-734BA2035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248" y="365125"/>
            <a:ext cx="10367682" cy="1325563"/>
          </a:xfrm>
        </p:spPr>
        <p:txBody>
          <a:bodyPr/>
          <a:lstStyle/>
          <a:p>
            <a:r>
              <a:rPr lang="fr-CD" b="1" dirty="0">
                <a:solidFill>
                  <a:srgbClr val="0070C0"/>
                </a:solidFill>
              </a:rPr>
              <a:t>Comment relever le défi pour y parvenir</a:t>
            </a:r>
            <a:r>
              <a:rPr lang="fr-CD" b="1" dirty="0"/>
              <a:t>: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="" xmlns:a16="http://schemas.microsoft.com/office/drawing/2014/main" id="{6AC2FE4B-FD81-9F22-98A8-95F6AE4C5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1305" y="1825624"/>
            <a:ext cx="11062448" cy="4884457"/>
          </a:xfrm>
        </p:spPr>
        <p:txBody>
          <a:bodyPr>
            <a:normAutofit/>
          </a:bodyPr>
          <a:lstStyle/>
          <a:p>
            <a:r>
              <a:rPr lang="fr-CD" sz="2000" b="1" dirty="0"/>
              <a:t>Connaitre la cartographie de l’AS</a:t>
            </a:r>
          </a:p>
          <a:p>
            <a:r>
              <a:rPr lang="fr-FR" sz="2000" b="1" dirty="0"/>
              <a:t>Compiler les données sur la population et cibles à atteindre ( </a:t>
            </a:r>
            <a:r>
              <a:rPr lang="fr-FR" sz="2000" b="1" dirty="0">
                <a:solidFill>
                  <a:schemeClr val="accent5">
                    <a:lumMod val="75000"/>
                  </a:schemeClr>
                </a:solidFill>
              </a:rPr>
              <a:t>Dénombrement,,,</a:t>
            </a:r>
            <a:r>
              <a:rPr lang="fr-FR" sz="2000" b="1" dirty="0"/>
              <a:t>)</a:t>
            </a:r>
          </a:p>
          <a:p>
            <a:r>
              <a:rPr lang="fr-FR" sz="2000" b="1" dirty="0"/>
              <a:t>Décrire la population et les  zones ( villages ) à  desservir</a:t>
            </a:r>
          </a:p>
          <a:p>
            <a:r>
              <a:rPr lang="fr-FR" sz="2000" b="1" dirty="0"/>
              <a:t>Déterminer les stratégies et voies , moyens à utiliser pour les atteindre</a:t>
            </a:r>
          </a:p>
          <a:p>
            <a:r>
              <a:rPr lang="fr-FR" sz="2000" b="1" dirty="0"/>
              <a:t>Déterminer  la population cible ( village, campement, Mines ….)</a:t>
            </a:r>
          </a:p>
          <a:p>
            <a:pPr lvl="2"/>
            <a:r>
              <a:rPr lang="fr-FR" b="1" dirty="0"/>
              <a:t> </a:t>
            </a:r>
            <a:r>
              <a:rPr lang="fr-FR" b="1" dirty="0">
                <a:solidFill>
                  <a:schemeClr val="accent5"/>
                </a:solidFill>
              </a:rPr>
              <a:t>Dénombrement !!!!!!!)</a:t>
            </a:r>
          </a:p>
          <a:p>
            <a:r>
              <a:rPr lang="fr-FR" sz="2000" b="1" dirty="0"/>
              <a:t>Projection ( 1,03) puis déterminer proportion  :4%, 3,49……</a:t>
            </a:r>
          </a:p>
          <a:p>
            <a:r>
              <a:rPr lang="fr-FR" sz="2000" b="1" dirty="0"/>
              <a:t>Assurer le suivi  de la couverture vaccinale par</a:t>
            </a:r>
            <a:br>
              <a:rPr lang="fr-FR" sz="2000" b="1" dirty="0"/>
            </a:br>
            <a:r>
              <a:rPr lang="fr-FR" sz="2000" b="1" dirty="0"/>
              <a:t>antigène et par vaccin</a:t>
            </a:r>
          </a:p>
          <a:p>
            <a:r>
              <a:rPr lang="fr-FR" sz="2000" b="1" dirty="0"/>
              <a:t>Assurer le suivi  du nombre d’enfants sous vaccinés ( Taux d’abandon)</a:t>
            </a:r>
          </a:p>
          <a:p>
            <a:r>
              <a:rPr lang="fr-FR" sz="2000" b="1" dirty="0"/>
              <a:t>Analyser des données ( catégorisation)mensuellement en vue de l’identification des problèmes avec participation de tout le monde ( Communauté)</a:t>
            </a:r>
          </a:p>
          <a:p>
            <a:endParaRPr lang="fr-FR" dirty="0"/>
          </a:p>
          <a:p>
            <a:pPr marL="0" indent="0">
              <a:buNone/>
            </a:pPr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CD" dirty="0"/>
          </a:p>
          <a:p>
            <a:endParaRPr lang="fr-CD" dirty="0"/>
          </a:p>
          <a:p>
            <a:endParaRPr lang="fr-CD" dirty="0"/>
          </a:p>
        </p:txBody>
      </p:sp>
    </p:spTree>
    <p:extLst>
      <p:ext uri="{BB962C8B-B14F-4D97-AF65-F5344CB8AC3E}">
        <p14:creationId xmlns:p14="http://schemas.microsoft.com/office/powerpoint/2010/main" val="4000221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Espace réservé du contenu 3">
            <a:extLst>
              <a:ext uri="{FF2B5EF4-FFF2-40B4-BE49-F238E27FC236}">
                <a16:creationId xmlns="" xmlns:a16="http://schemas.microsoft.com/office/drawing/2014/main" id="{963AE17E-4562-A3EF-6171-5F95362152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39106" y="261144"/>
            <a:ext cx="8713788" cy="6335713"/>
          </a:xfr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re 1">
            <a:extLst>
              <a:ext uri="{FF2B5EF4-FFF2-40B4-BE49-F238E27FC236}">
                <a16:creationId xmlns="" xmlns:a16="http://schemas.microsoft.com/office/drawing/2014/main" id="{5EF8ECF1-BBCF-1315-1471-AE3C278E5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7434" y="336176"/>
            <a:ext cx="8892615" cy="1008530"/>
          </a:xfrm>
          <a:solidFill>
            <a:srgbClr val="00B0F0"/>
          </a:solidFill>
          <a:ln>
            <a:solidFill>
              <a:srgbClr val="FF0000"/>
            </a:solidFill>
          </a:ln>
        </p:spPr>
        <p:txBody>
          <a:bodyPr/>
          <a:lstStyle/>
          <a:p>
            <a:pPr eaLnBrk="1" hangingPunct="1"/>
            <a:r>
              <a:rPr lang="fr-CD" altLang="fr-FR" sz="36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fr-CD" altLang="fr-FR" sz="36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fr-CD" altLang="fr-FR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Approche Atteindre Chaque zone / AS/VILLAGE/ENFANT</a:t>
            </a:r>
            <a:endParaRPr lang="fr-FR" altLang="fr-FR" sz="36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1507" name="Espace réservé du contenu 2">
            <a:extLst>
              <a:ext uri="{FF2B5EF4-FFF2-40B4-BE49-F238E27FC236}">
                <a16:creationId xmlns="" xmlns:a16="http://schemas.microsoft.com/office/drawing/2014/main" id="{0D7450F9-0506-489C-7D2C-BDF0DEC746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4826" y="1600200"/>
            <a:ext cx="8785225" cy="52578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fr-CD" altLang="fr-FR" dirty="0"/>
              <a:t>Le 1</a:t>
            </a:r>
            <a:r>
              <a:rPr lang="fr-CD" altLang="fr-FR" baseline="30000" dirty="0"/>
              <a:t>er</a:t>
            </a:r>
            <a:r>
              <a:rPr lang="fr-CD" altLang="fr-FR" dirty="0"/>
              <a:t> niveau de meo de l’approche </a:t>
            </a:r>
            <a:r>
              <a:rPr lang="fr-FR" altLang="fr-FR" dirty="0"/>
              <a:t>ACD/ACE est </a:t>
            </a:r>
            <a:r>
              <a:rPr lang="fr-FR" altLang="fr-FR" dirty="0">
                <a:solidFill>
                  <a:srgbClr val="FF0000"/>
                </a:solidFill>
              </a:rPr>
              <a:t>la zone de santé</a:t>
            </a:r>
            <a:r>
              <a:rPr lang="fr-FR" altLang="fr-FR" dirty="0"/>
              <a:t>;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r-CD" altLang="fr-FR" dirty="0"/>
              <a:t>Il y a cinq composantes pour </a:t>
            </a:r>
            <a:r>
              <a:rPr lang="fr-CD" altLang="fr-FR" dirty="0">
                <a:solidFill>
                  <a:srgbClr val="FF0000"/>
                </a:solidFill>
              </a:rPr>
              <a:t>l’ACZ: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CD" altLang="fr-FR" dirty="0"/>
              <a:t> Planification et gestion des ressources;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CD" altLang="fr-FR" dirty="0"/>
              <a:t> </a:t>
            </a:r>
            <a:r>
              <a:rPr lang="fr-CD" altLang="fr-FR" dirty="0">
                <a:highlight>
                  <a:srgbClr val="FFFF00"/>
                </a:highlight>
              </a:rPr>
              <a:t>Atteindre les populations cibles</a:t>
            </a:r>
            <a:r>
              <a:rPr lang="fr-CD" altLang="fr-FR" dirty="0"/>
              <a:t>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CD" altLang="fr-FR" dirty="0"/>
              <a:t> Etablissement d’un lien entre les services et les communauté;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CD" altLang="fr-FR" dirty="0"/>
              <a:t> Supervision formation;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CD" altLang="fr-FR" dirty="0"/>
              <a:t> Suivi pour action</a:t>
            </a:r>
            <a:endParaRPr lang="fr-FR" altLang="fr-F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re 1">
            <a:extLst>
              <a:ext uri="{FF2B5EF4-FFF2-40B4-BE49-F238E27FC236}">
                <a16:creationId xmlns="" xmlns:a16="http://schemas.microsoft.com/office/drawing/2014/main" id="{90F6A720-2A30-CC40-5973-D008A3623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578850" cy="1143000"/>
          </a:xfrm>
          <a:solidFill>
            <a:srgbClr val="00B0F0"/>
          </a:solidFill>
          <a:ln>
            <a:solidFill>
              <a:srgbClr val="FF0000"/>
            </a:solidFill>
          </a:ln>
        </p:spPr>
        <p:txBody>
          <a:bodyPr/>
          <a:lstStyle/>
          <a:p>
            <a:pPr eaLnBrk="1" hangingPunct="1"/>
            <a:r>
              <a:rPr lang="fr-FR" altLang="fr-FR" sz="36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fr-FR" altLang="fr-FR" sz="36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fr-FR" altLang="fr-FR" sz="36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Compilation des données sur la population et la couverture</a:t>
            </a:r>
            <a:br>
              <a:rPr lang="fr-FR" altLang="fr-FR" sz="36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endParaRPr lang="fr-FR" altLang="fr-FR" sz="36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="" xmlns:a16="http://schemas.microsoft.com/office/drawing/2014/main" id="{A64B841D-F887-A8DD-FB07-5ED6937A9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4826" y="1600201"/>
            <a:ext cx="8785225" cy="5141913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  <a:defRPr/>
            </a:pPr>
            <a:r>
              <a:rPr lang="fr-CD" dirty="0"/>
              <a:t>Description de la population et de l’aire </a:t>
            </a:r>
            <a:r>
              <a:rPr lang="fr-FR" dirty="0"/>
              <a:t>desservie;</a:t>
            </a:r>
          </a:p>
          <a:p>
            <a:pPr>
              <a:buFont typeface="Wingdings" panose="05000000000000000000" pitchFamily="2" charset="2"/>
              <a:buChar char="§"/>
              <a:defRPr/>
            </a:pPr>
            <a:r>
              <a:rPr lang="fr-CD" dirty="0"/>
              <a:t>Calcul de la population cible annuelle;</a:t>
            </a:r>
            <a:r>
              <a:rPr lang="fr-FR" dirty="0"/>
              <a:t> </a:t>
            </a:r>
          </a:p>
          <a:p>
            <a:pPr>
              <a:buFont typeface="Wingdings" panose="05000000000000000000" pitchFamily="2" charset="2"/>
              <a:buChar char="§"/>
              <a:defRPr/>
            </a:pPr>
            <a:r>
              <a:rPr lang="fr-CD" dirty="0"/>
              <a:t>Calcul de la couverture vaccinale par </a:t>
            </a:r>
            <a:r>
              <a:rPr lang="fr-FR" dirty="0"/>
              <a:t>antigène et par vaccin;</a:t>
            </a:r>
          </a:p>
          <a:p>
            <a:pPr>
              <a:buFont typeface="Wingdings" panose="05000000000000000000" pitchFamily="2" charset="2"/>
              <a:buChar char="§"/>
              <a:defRPr/>
            </a:pPr>
            <a:r>
              <a:rPr lang="fr-CD" dirty="0"/>
              <a:t>Calcul du nombre d’enfants sous vaccinés </a:t>
            </a:r>
          </a:p>
          <a:p>
            <a:pPr>
              <a:buFont typeface="Wingdings" panose="05000000000000000000" pitchFamily="2" charset="2"/>
              <a:buChar char="§"/>
              <a:defRPr/>
            </a:pPr>
            <a:r>
              <a:rPr lang="fr-FR" dirty="0"/>
              <a:t>Calcul des taux d’abandon</a:t>
            </a:r>
          </a:p>
          <a:p>
            <a:pPr marL="0" indent="0">
              <a:buNone/>
              <a:defRPr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49482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re 1">
            <a:extLst>
              <a:ext uri="{FF2B5EF4-FFF2-40B4-BE49-F238E27FC236}">
                <a16:creationId xmlns="" xmlns:a16="http://schemas.microsoft.com/office/drawing/2014/main" id="{3F805617-06E2-316B-F783-CD9DA53FD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950" y="274639"/>
            <a:ext cx="8928100" cy="1138237"/>
          </a:xfrm>
          <a:solidFill>
            <a:srgbClr val="00B0F0"/>
          </a:solidFill>
          <a:ln>
            <a:solidFill>
              <a:srgbClr val="FF0000"/>
            </a:solidFill>
          </a:ln>
        </p:spPr>
        <p:txBody>
          <a:bodyPr/>
          <a:lstStyle/>
          <a:p>
            <a:pPr eaLnBrk="1" hangingPunct="1"/>
            <a:r>
              <a:rPr lang="fr-CD" altLang="fr-FR" sz="2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fr-CD" altLang="fr-FR" sz="2800" b="1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Description </a:t>
            </a:r>
            <a:r>
              <a:rPr lang="fr-CD" altLang="fr-FR" sz="2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 la population et de la </a:t>
            </a:r>
            <a:r>
              <a:rPr lang="fr-FR" altLang="fr-FR" sz="2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zone desservie</a:t>
            </a:r>
          </a:p>
        </p:txBody>
      </p:sp>
      <p:sp>
        <p:nvSpPr>
          <p:cNvPr id="28675" name="Espace réservé du contenu 2">
            <a:extLst>
              <a:ext uri="{FF2B5EF4-FFF2-40B4-BE49-F238E27FC236}">
                <a16:creationId xmlns="" xmlns:a16="http://schemas.microsoft.com/office/drawing/2014/main" id="{145A344B-D728-625C-D83A-98B6BD2A5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1716088"/>
            <a:ext cx="9144000" cy="5141912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fr-CD" altLang="fr-FR" sz="2400" b="1" dirty="0"/>
              <a:t>localisation des villages, population totale de chaque village, distances des villages au centres </a:t>
            </a:r>
            <a:r>
              <a:rPr lang="fr-FR" altLang="fr-FR" sz="2400" b="1" dirty="0"/>
              <a:t>de santé;</a:t>
            </a:r>
          </a:p>
          <a:p>
            <a:pPr marL="0" indent="0">
              <a:buNone/>
            </a:pPr>
            <a:endParaRPr lang="fr-FR" altLang="fr-FR" sz="2400" b="1" dirty="0"/>
          </a:p>
          <a:p>
            <a:pPr>
              <a:buFont typeface="Wingdings" panose="05000000000000000000" pitchFamily="2" charset="2"/>
              <a:buChar char="§"/>
            </a:pPr>
            <a:r>
              <a:rPr lang="fr-CD" altLang="fr-FR" sz="2400" b="1" dirty="0"/>
              <a:t>routes, voies ferrées, climat et obstacles saisonniers (ex. : routes inondées pendant la saison des pluies), barrières géographiques, ruisseaux, montagnes, temps nécessaire pour le </a:t>
            </a:r>
            <a:r>
              <a:rPr lang="fr-FR" altLang="fr-FR" sz="2400" b="1" dirty="0"/>
              <a:t>voyage;</a:t>
            </a:r>
          </a:p>
          <a:p>
            <a:pPr marL="0" indent="0">
              <a:buNone/>
            </a:pPr>
            <a:endParaRPr lang="fr-FR" altLang="fr-FR" sz="2400" b="1" dirty="0"/>
          </a:p>
          <a:p>
            <a:pPr>
              <a:buFont typeface="Wingdings" panose="05000000000000000000" pitchFamily="2" charset="2"/>
              <a:buChar char="§"/>
            </a:pPr>
            <a:r>
              <a:rPr lang="fr-CD" altLang="fr-FR" sz="2400" b="1" dirty="0"/>
              <a:t>autres barrières, culturelles, divisions ethniques, </a:t>
            </a:r>
            <a:r>
              <a:rPr lang="fr-FR" altLang="fr-FR" sz="2400" b="1" dirty="0"/>
              <a:t>langue etc. ;</a:t>
            </a:r>
          </a:p>
          <a:p>
            <a:pPr marL="0" indent="0">
              <a:buNone/>
            </a:pPr>
            <a:endParaRPr lang="fr-CD" altLang="fr-FR" sz="2400" b="1" dirty="0"/>
          </a:p>
          <a:p>
            <a:pPr>
              <a:buFont typeface="Wingdings" panose="05000000000000000000" pitchFamily="2" charset="2"/>
              <a:buChar char="§"/>
            </a:pPr>
            <a:r>
              <a:rPr lang="fr-FR" altLang="fr-FR" sz="2400" b="1" dirty="0"/>
              <a:t>organisations culturelles, groupes communautaires, leaders communautaires, organisations non gouvernementales</a:t>
            </a:r>
          </a:p>
          <a:p>
            <a:pPr lvl="3">
              <a:buFont typeface="Wingdings" panose="05000000000000000000" pitchFamily="2" charset="2"/>
              <a:buChar char="Ø"/>
            </a:pPr>
            <a:r>
              <a:rPr lang="fr-FR" altLang="fr-FR" sz="2400" b="1" dirty="0">
                <a:solidFill>
                  <a:srgbClr val="FF0000"/>
                </a:solidFill>
              </a:rPr>
              <a:t>DETERMINER LA STRATEGIE</a:t>
            </a:r>
          </a:p>
          <a:p>
            <a:pPr marL="0" indent="0">
              <a:buNone/>
            </a:pPr>
            <a:r>
              <a:rPr lang="fr-FR" altLang="fr-FR" sz="2400" b="1" dirty="0">
                <a:solidFill>
                  <a:srgbClr val="FF0000"/>
                </a:solidFill>
              </a:rPr>
              <a:t> </a:t>
            </a:r>
            <a:r>
              <a:rPr lang="fr-FR" altLang="fr-FR" sz="1600" b="1" dirty="0">
                <a:solidFill>
                  <a:srgbClr val="FF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59988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re 1">
            <a:extLst>
              <a:ext uri="{FF2B5EF4-FFF2-40B4-BE49-F238E27FC236}">
                <a16:creationId xmlns="" xmlns:a16="http://schemas.microsoft.com/office/drawing/2014/main" id="{1FB099DA-0E29-78E6-72EB-BB982E038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950" y="274639"/>
            <a:ext cx="8928100" cy="1138237"/>
          </a:xfrm>
          <a:solidFill>
            <a:srgbClr val="00B0F0"/>
          </a:solidFill>
          <a:ln>
            <a:solidFill>
              <a:srgbClr val="FF0000"/>
            </a:solidFill>
          </a:ln>
        </p:spPr>
        <p:txBody>
          <a:bodyPr/>
          <a:lstStyle/>
          <a:p>
            <a:pPr eaLnBrk="1" hangingPunct="1"/>
            <a:r>
              <a:rPr lang="fr-FR" altLang="fr-FR" sz="2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Détermination des  stratégies d’organisation des services de vaccination</a:t>
            </a:r>
          </a:p>
        </p:txBody>
      </p:sp>
      <p:sp>
        <p:nvSpPr>
          <p:cNvPr id="22531" name="Espace réservé du contenu 2">
            <a:extLst>
              <a:ext uri="{FF2B5EF4-FFF2-40B4-BE49-F238E27FC236}">
                <a16:creationId xmlns="" xmlns:a16="http://schemas.microsoft.com/office/drawing/2014/main" id="{8C32635B-A385-D70C-9D92-E76D30EC55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412876"/>
            <a:ext cx="11149853" cy="5445124"/>
          </a:xfrm>
          <a:ln>
            <a:solidFill>
              <a:srgbClr val="FF0000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fr-CD" altLang="fr-FR" sz="2800" dirty="0"/>
              <a:t>Les stratégies  pour atteindre les cibles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CD" altLang="fr-FR" sz="2400" dirty="0"/>
              <a:t> </a:t>
            </a:r>
            <a:r>
              <a:rPr lang="fr-FR" altLang="fr-FR" sz="2400" b="1" dirty="0"/>
              <a:t>Stratégie fixe(</a:t>
            </a:r>
            <a:r>
              <a:rPr lang="fr-FR" altLang="fr-FR" sz="2400" b="1" dirty="0">
                <a:solidFill>
                  <a:srgbClr val="00B0F0"/>
                </a:solidFill>
              </a:rPr>
              <a:t> En moins d’une heure de marche ou moins de 5 Km</a:t>
            </a:r>
            <a:r>
              <a:rPr lang="fr-FR" altLang="fr-FR" sz="2400" b="1" dirty="0"/>
              <a:t>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CD" altLang="fr-FR" sz="2400" b="1" dirty="0"/>
              <a:t> </a:t>
            </a:r>
            <a:r>
              <a:rPr lang="fr-FR" altLang="fr-FR" sz="2400" b="1" dirty="0"/>
              <a:t>Stratégie avancée (</a:t>
            </a:r>
            <a:r>
              <a:rPr lang="fr-FR" altLang="fr-FR" sz="2400" b="1" dirty="0">
                <a:solidFill>
                  <a:srgbClr val="00B0F0"/>
                </a:solidFill>
              </a:rPr>
              <a:t>Au-delà de 5 Km ou plus d’une heure de marche</a:t>
            </a:r>
            <a:r>
              <a:rPr lang="fr-FR" altLang="fr-FR" sz="2400" b="1" dirty="0"/>
              <a:t>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CD" altLang="fr-FR" sz="2400" b="1" dirty="0"/>
              <a:t> </a:t>
            </a:r>
            <a:r>
              <a:rPr lang="fr-FR" altLang="fr-FR" sz="2400" b="1" dirty="0"/>
              <a:t>Stratégie mobile (</a:t>
            </a:r>
            <a:r>
              <a:rPr lang="fr-FR" altLang="fr-FR" sz="2400" b="1" dirty="0">
                <a:solidFill>
                  <a:srgbClr val="00B0F0"/>
                </a:solidFill>
              </a:rPr>
              <a:t>Cible dans les aires où les populations ne sont pas couvertes par les services de vaccination</a:t>
            </a:r>
            <a:r>
              <a:rPr lang="fr-FR" altLang="fr-FR" sz="2400" b="1" dirty="0"/>
              <a:t> )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fr-FR" dirty="0">
                <a:highlight>
                  <a:srgbClr val="FFFF00"/>
                </a:highlight>
                <a:latin typeface="Calibri"/>
              </a:rPr>
              <a:t>Stratégies</a:t>
            </a:r>
            <a:r>
              <a:rPr kumimoji="0" lang="fr-FR" sz="2800" b="0" i="0" u="none" strike="noStrike" kern="1200" cap="none" spc="0" normalizeH="0" baseline="0" noProof="0" dirty="0">
                <a:ln>
                  <a:noFill/>
                </a:ln>
                <a:effectLst/>
                <a:highlight>
                  <a:srgbClr val="FFFF00"/>
                </a:highlight>
                <a:uLnTx/>
                <a:uFillTx/>
                <a:latin typeface="Calibri"/>
                <a:ea typeface="+mn-ea"/>
                <a:cs typeface="+mn-cs"/>
              </a:rPr>
              <a:t> spécifiques </a:t>
            </a:r>
            <a:r>
              <a:rPr kumimoji="0" lang="fr-F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</a:t>
            </a:r>
          </a:p>
          <a:p>
            <a:pPr lvl="3" indent="-285750">
              <a:buFont typeface="Wingdings" panose="05000000000000000000" pitchFamily="2" charset="2"/>
              <a:buChar char="ü"/>
              <a:defRPr/>
            </a:pPr>
            <a:r>
              <a:rPr lang="fr-FR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Intensification Périodique de la Vaccination Systématique (IPVS) </a:t>
            </a:r>
          </a:p>
          <a:p>
            <a:pPr lvl="3" indent="-285750">
              <a:buFont typeface="Wingdings" panose="05000000000000000000" pitchFamily="2" charset="2"/>
              <a:buChar char="ü"/>
              <a:defRPr/>
            </a:pPr>
            <a:r>
              <a:rPr lang="fr-FR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Renforcement du PEV systématique pendant les AVS </a:t>
            </a:r>
          </a:p>
          <a:p>
            <a:pPr lvl="3" indent="-285750">
              <a:buFont typeface="Wingdings" panose="05000000000000000000" pitchFamily="2" charset="2"/>
              <a:buChar char="ü"/>
              <a:defRPr/>
            </a:pPr>
            <a:r>
              <a:rPr lang="fr-FR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Semaine africaine de vaccination (SAV)</a:t>
            </a:r>
          </a:p>
          <a:p>
            <a:pPr lvl="3" indent="-285750">
              <a:buFont typeface="Wingdings" panose="05000000000000000000" pitchFamily="2" charset="2"/>
              <a:buChar char="ü"/>
              <a:defRPr/>
            </a:pPr>
            <a:r>
              <a:rPr lang="fr-FR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Vaccination dans les points de concentration (milieu urbain) </a:t>
            </a:r>
          </a:p>
          <a:p>
            <a:pPr lvl="3" indent="-285750">
              <a:buFont typeface="Wingdings" panose="05000000000000000000" pitchFamily="2" charset="2"/>
              <a:buChar char="ü"/>
              <a:defRPr/>
            </a:pPr>
            <a:r>
              <a:rPr lang="fr-FR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Réduction des occasions de vaccinations manquées (OVM) </a:t>
            </a:r>
          </a:p>
          <a:p>
            <a:pPr lvl="3" indent="-285750">
              <a:buFont typeface="Wingdings" panose="05000000000000000000" pitchFamily="2" charset="2"/>
              <a:buChar char="ü"/>
              <a:defRPr/>
            </a:pPr>
            <a:r>
              <a:rPr lang="fr-FR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Vaccination à tout contact </a:t>
            </a:r>
          </a:p>
          <a:p>
            <a:pPr lvl="3" indent="-285750">
              <a:buFont typeface="Wingdings" panose="05000000000000000000" pitchFamily="2" charset="2"/>
              <a:buChar char="ü"/>
              <a:defRPr/>
            </a:pPr>
            <a:r>
              <a:rPr lang="fr-FR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vaccination fluviale </a:t>
            </a:r>
          </a:p>
          <a:p>
            <a:pPr lvl="3" indent="-285750">
              <a:buFont typeface="Wingdings" panose="05000000000000000000" pitchFamily="2" charset="2"/>
              <a:buChar char="ü"/>
              <a:defRPr/>
            </a:pPr>
            <a:r>
              <a:rPr lang="fr-FR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porte à porte , Vaccination à des horaires adaptés </a:t>
            </a:r>
          </a:p>
          <a:p>
            <a:pPr lvl="3" indent="-285750">
              <a:buFont typeface="Wingdings" panose="05000000000000000000" pitchFamily="2" charset="2"/>
              <a:buChar char="ü"/>
              <a:defRPr/>
            </a:pPr>
            <a:endParaRPr lang="fr-FR" sz="1800" b="1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lvl="3" indent="-285750">
              <a:buFont typeface="Wingdings" panose="05000000000000000000" pitchFamily="2" charset="2"/>
              <a:buChar char="ü"/>
              <a:defRPr/>
            </a:pPr>
            <a:endParaRPr lang="fr-FR" sz="1800" b="1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lvl="3" indent="-285750">
              <a:buFont typeface="Wingdings" panose="05000000000000000000" pitchFamily="2" charset="2"/>
              <a:buChar char="ü"/>
              <a:defRPr/>
            </a:pPr>
            <a:endParaRPr lang="fr-FR" sz="1800" b="1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lvl="3" indent="-285750">
              <a:buFont typeface="Wingdings" panose="05000000000000000000" pitchFamily="2" charset="2"/>
              <a:buChar char="ü"/>
              <a:defRPr/>
            </a:pPr>
            <a:endParaRPr lang="fr-FR" sz="1800" b="1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lvl="3" indent="-285750">
              <a:buFont typeface="Wingdings" panose="05000000000000000000" pitchFamily="2" charset="2"/>
              <a:buChar char="ü"/>
              <a:defRPr/>
            </a:pPr>
            <a:endParaRPr kumimoji="0" lang="fr-FR" altLang="fr-FR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457200" lvl="1" indent="0">
              <a:buNone/>
            </a:pPr>
            <a:endParaRPr lang="fr-FR" altLang="fr-FR" b="1" dirty="0"/>
          </a:p>
          <a:p>
            <a:pPr lvl="1">
              <a:buFont typeface="Wingdings" panose="05000000000000000000" pitchFamily="2" charset="2"/>
              <a:buChar char="ü"/>
            </a:pPr>
            <a:endParaRPr lang="fr-FR" altLang="fr-FR" b="1" dirty="0"/>
          </a:p>
          <a:p>
            <a:pPr lvl="1">
              <a:buFont typeface="Wingdings" panose="05000000000000000000" pitchFamily="2" charset="2"/>
              <a:buChar char="ü"/>
            </a:pPr>
            <a:endParaRPr lang="fr-FR" altLang="fr-FR" b="1" dirty="0"/>
          </a:p>
        </p:txBody>
      </p:sp>
    </p:spTree>
    <p:extLst>
      <p:ext uri="{BB962C8B-B14F-4D97-AF65-F5344CB8AC3E}">
        <p14:creationId xmlns:p14="http://schemas.microsoft.com/office/powerpoint/2010/main" val="4034726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Espace réservé du contenu 3">
            <a:extLst>
              <a:ext uri="{FF2B5EF4-FFF2-40B4-BE49-F238E27FC236}">
                <a16:creationId xmlns="" xmlns:a16="http://schemas.microsoft.com/office/drawing/2014/main" id="{9CF8F2F7-A1C2-C051-1C69-5ADC325B9E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75618" y="332581"/>
            <a:ext cx="8640763" cy="6192837"/>
          </a:xfrm>
        </p:spPr>
      </p:pic>
    </p:spTree>
    <p:extLst>
      <p:ext uri="{BB962C8B-B14F-4D97-AF65-F5344CB8AC3E}">
        <p14:creationId xmlns:p14="http://schemas.microsoft.com/office/powerpoint/2010/main" val="5672255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re 1">
            <a:extLst>
              <a:ext uri="{FF2B5EF4-FFF2-40B4-BE49-F238E27FC236}">
                <a16:creationId xmlns="" xmlns:a16="http://schemas.microsoft.com/office/drawing/2014/main" id="{229C5B87-2DF5-0747-2482-0348BB7D1E7B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00B0F0"/>
          </a:solidFill>
          <a:ln>
            <a:solidFill>
              <a:srgbClr val="FF0000"/>
            </a:solidFill>
          </a:ln>
        </p:spPr>
        <p:txBody>
          <a:bodyPr/>
          <a:lstStyle/>
          <a:p>
            <a:pPr eaLnBrk="1" hangingPunct="1"/>
            <a:r>
              <a:rPr lang="fr-CD" altLang="fr-FR" sz="2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Calcul de la population cible annuelle </a:t>
            </a:r>
            <a:endParaRPr lang="fr-FR" altLang="fr-FR" sz="28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="" xmlns:a16="http://schemas.microsoft.com/office/drawing/2014/main" id="{9CD905BA-DF6B-AAC5-2C2A-3CFAAE3CEE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852988"/>
          </a:xfrm>
        </p:spPr>
        <p:txBody>
          <a:bodyPr/>
          <a:lstStyle/>
          <a:p>
            <a:pPr>
              <a:defRPr/>
            </a:pPr>
            <a:r>
              <a:rPr lang="fr-CD" dirty="0"/>
              <a:t>Pour les vaccins administrés aux enfants (BCG, DTC ou Penta, VPO, hépatite B, rougeole, fièvre jaune et Hib)</a:t>
            </a:r>
          </a:p>
          <a:p>
            <a:pPr marL="0" indent="0">
              <a:buNone/>
              <a:defRPr/>
            </a:pPr>
            <a:endParaRPr lang="fr-CD" dirty="0"/>
          </a:p>
          <a:p>
            <a:pPr marL="0" indent="0">
              <a:buNone/>
              <a:defRPr/>
            </a:pPr>
            <a:r>
              <a:rPr lang="fr-CD" dirty="0"/>
              <a:t>  </a:t>
            </a:r>
            <a:endParaRPr lang="fr-FR" dirty="0"/>
          </a:p>
          <a:p>
            <a:pPr marL="0" indent="0">
              <a:buNone/>
              <a:defRPr/>
            </a:pPr>
            <a:endParaRPr lang="fr-FR" dirty="0"/>
          </a:p>
        </p:txBody>
      </p:sp>
      <p:pic>
        <p:nvPicPr>
          <p:cNvPr id="30724" name="Image 3">
            <a:extLst>
              <a:ext uri="{FF2B5EF4-FFF2-40B4-BE49-F238E27FC236}">
                <a16:creationId xmlns="" xmlns:a16="http://schemas.microsoft.com/office/drawing/2014/main" id="{24108BC9-48B4-6254-B6BD-BD1400C60E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1" y="3311526"/>
            <a:ext cx="8435975" cy="314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re 1">
            <a:extLst>
              <a:ext uri="{FF2B5EF4-FFF2-40B4-BE49-F238E27FC236}">
                <a16:creationId xmlns="" xmlns:a16="http://schemas.microsoft.com/office/drawing/2014/main" id="{5416A5F0-F720-7F06-8CE4-FE874E97A124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00B0F0"/>
          </a:solidFill>
          <a:ln>
            <a:solidFill>
              <a:srgbClr val="FF0000"/>
            </a:solidFill>
          </a:ln>
        </p:spPr>
        <p:txBody>
          <a:bodyPr/>
          <a:lstStyle/>
          <a:p>
            <a:pPr eaLnBrk="1" hangingPunct="1"/>
            <a:r>
              <a:rPr lang="fr-CD" altLang="fr-FR" sz="2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Calcul de la population cible annuelle (2/2) </a:t>
            </a:r>
            <a:endParaRPr lang="fr-FR" altLang="fr-FR" sz="28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="" xmlns:a16="http://schemas.microsoft.com/office/drawing/2014/main" id="{A475DBBD-2F71-EE42-37F0-4818471F8D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3386" y="1600200"/>
            <a:ext cx="8785228" cy="4852988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  <a:defRPr/>
            </a:pPr>
            <a:r>
              <a:rPr lang="fr-CD" dirty="0"/>
              <a:t>Pour le vaccin antitétanique administré aux </a:t>
            </a:r>
            <a:r>
              <a:rPr lang="fr-FR" dirty="0"/>
              <a:t>femmes ( Td)</a:t>
            </a:r>
          </a:p>
          <a:p>
            <a:pPr>
              <a:buFont typeface="Wingdings" panose="05000000000000000000" pitchFamily="2" charset="2"/>
              <a:buChar char="§"/>
              <a:defRPr/>
            </a:pPr>
            <a:endParaRPr lang="fr-CD" dirty="0"/>
          </a:p>
          <a:p>
            <a:pPr marL="0" indent="0">
              <a:buNone/>
              <a:defRPr/>
            </a:pPr>
            <a:endParaRPr lang="fr-FR" dirty="0"/>
          </a:p>
          <a:p>
            <a:pPr marL="0" indent="0">
              <a:buNone/>
              <a:defRPr/>
            </a:pPr>
            <a:endParaRPr lang="fr-FR" dirty="0"/>
          </a:p>
        </p:txBody>
      </p:sp>
      <p:pic>
        <p:nvPicPr>
          <p:cNvPr id="31748" name="Image 3">
            <a:extLst>
              <a:ext uri="{FF2B5EF4-FFF2-40B4-BE49-F238E27FC236}">
                <a16:creationId xmlns="" xmlns:a16="http://schemas.microsoft.com/office/drawing/2014/main" id="{037C7BF3-0DB8-29D5-5286-61B08947D2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1" y="2924176"/>
            <a:ext cx="8507413" cy="352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re 1">
            <a:extLst>
              <a:ext uri="{FF2B5EF4-FFF2-40B4-BE49-F238E27FC236}">
                <a16:creationId xmlns="" xmlns:a16="http://schemas.microsoft.com/office/drawing/2014/main" id="{ACF404E4-DC8D-CEF5-373D-FFF1F51D0FE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00B0F0"/>
          </a:solidFill>
          <a:ln>
            <a:solidFill>
              <a:schemeClr val="accent6"/>
            </a:solidFill>
          </a:ln>
        </p:spPr>
        <p:txBody>
          <a:bodyPr/>
          <a:lstStyle/>
          <a:p>
            <a:r>
              <a:rPr lang="fr-CD" altLang="fr-FR" sz="2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Calcul de la couverture vaccinale par</a:t>
            </a:r>
            <a:br>
              <a:rPr lang="fr-CD" altLang="fr-FR" sz="2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fr-FR" altLang="fr-FR" sz="2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antigène et par vaccin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="" xmlns:a16="http://schemas.microsoft.com/office/drawing/2014/main" id="{D457770A-2408-4F8E-C1E9-5626D2814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fr-CD" dirty="0"/>
              <a:t>Pour déterminera le niveau de couverture, vous devez </a:t>
            </a:r>
            <a:r>
              <a:rPr lang="fr-FR" dirty="0"/>
              <a:t>connaitre:</a:t>
            </a:r>
            <a:endParaRPr lang="fr-CD" dirty="0"/>
          </a:p>
          <a:p>
            <a:pPr lvl="1">
              <a:defRPr/>
            </a:pPr>
            <a:r>
              <a:rPr lang="fr-CD" sz="2400" dirty="0"/>
              <a:t>Le chiffre total de la population cible (le </a:t>
            </a:r>
            <a:r>
              <a:rPr lang="fr-FR" sz="2400" dirty="0"/>
              <a:t>dénominateur);</a:t>
            </a:r>
          </a:p>
          <a:p>
            <a:pPr lvl="1">
              <a:defRPr/>
            </a:pPr>
            <a:r>
              <a:rPr lang="fr-CD" sz="2400" dirty="0"/>
              <a:t>pour chaque vaccin, le nombre de doses administrées a la population cible dans une </a:t>
            </a:r>
            <a:r>
              <a:rPr lang="fr-FR" sz="2400" dirty="0"/>
              <a:t>période donnée (le  numérateur).</a:t>
            </a:r>
          </a:p>
          <a:p>
            <a:pPr marL="457200" lvl="1" indent="0">
              <a:buNone/>
              <a:defRPr/>
            </a:pPr>
            <a:endParaRPr lang="fr-CD" sz="2400" dirty="0"/>
          </a:p>
          <a:p>
            <a:pPr marL="0" indent="0">
              <a:buNone/>
              <a:defRPr/>
            </a:pPr>
            <a:endParaRPr lang="fr-CD" dirty="0"/>
          </a:p>
          <a:p>
            <a:pPr marL="0" indent="0">
              <a:buNone/>
              <a:defRPr/>
            </a:pPr>
            <a:r>
              <a:rPr lang="fr-CD" dirty="0"/>
              <a:t>  </a:t>
            </a:r>
            <a:endParaRPr lang="fr-FR" dirty="0"/>
          </a:p>
          <a:p>
            <a:pPr marL="0" indent="0">
              <a:buNone/>
              <a:defRPr/>
            </a:pPr>
            <a:endParaRPr lang="fr-FR" dirty="0"/>
          </a:p>
        </p:txBody>
      </p:sp>
      <p:pic>
        <p:nvPicPr>
          <p:cNvPr id="32772" name="Image 4">
            <a:extLst>
              <a:ext uri="{FF2B5EF4-FFF2-40B4-BE49-F238E27FC236}">
                <a16:creationId xmlns="" xmlns:a16="http://schemas.microsoft.com/office/drawing/2014/main" id="{5E052500-5830-A22B-CF02-1CB4F39949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851" y="4437064"/>
            <a:ext cx="8569325" cy="223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="" xmlns:a16="http://schemas.microsoft.com/office/drawing/2014/main" id="{47C2BCFE-A596-4C31-9818-B4510BC1E18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159" y="136574"/>
            <a:ext cx="11285318" cy="64459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" name="Connecteur droit 3">
            <a:extLst>
              <a:ext uri="{FF2B5EF4-FFF2-40B4-BE49-F238E27FC236}">
                <a16:creationId xmlns="" xmlns:a16="http://schemas.microsoft.com/office/drawing/2014/main" id="{179FB463-932F-4D76-8222-71C43BF912EF}"/>
              </a:ext>
            </a:extLst>
          </p:cNvPr>
          <p:cNvCxnSpPr>
            <a:cxnSpLocks/>
          </p:cNvCxnSpPr>
          <p:nvPr/>
        </p:nvCxnSpPr>
        <p:spPr>
          <a:xfrm flipV="1">
            <a:off x="2240626" y="1498112"/>
            <a:ext cx="8859205" cy="379146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98986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re 1">
            <a:extLst>
              <a:ext uri="{FF2B5EF4-FFF2-40B4-BE49-F238E27FC236}">
                <a16:creationId xmlns="" xmlns:a16="http://schemas.microsoft.com/office/drawing/2014/main" id="{F63B2BFB-C9CC-203F-7F4C-58CF4FD50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7850" y="333375"/>
            <a:ext cx="8229600" cy="1143000"/>
          </a:xfrm>
          <a:solidFill>
            <a:srgbClr val="00B0F0"/>
          </a:solidFill>
          <a:ln>
            <a:solidFill>
              <a:srgbClr val="FF0000"/>
            </a:solidFill>
          </a:ln>
        </p:spPr>
        <p:txBody>
          <a:bodyPr/>
          <a:lstStyle/>
          <a:p>
            <a:r>
              <a:rPr lang="fr-CD" altLang="fr-FR" sz="2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Calcul du nombre d’enfants sous vaccinés</a:t>
            </a:r>
            <a:endParaRPr lang="fr-FR" altLang="fr-FR" sz="28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3795" name="Espace réservé du contenu 2">
            <a:extLst>
              <a:ext uri="{FF2B5EF4-FFF2-40B4-BE49-F238E27FC236}">
                <a16:creationId xmlns="" xmlns:a16="http://schemas.microsoft.com/office/drawing/2014/main" id="{087F12CD-5760-8607-A49D-3AD4A0C2A1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FR" altLang="fr-FR" dirty="0"/>
          </a:p>
          <a:p>
            <a:pPr marL="0" indent="0">
              <a:buNone/>
            </a:pPr>
            <a:endParaRPr lang="fr-FR" altLang="fr-FR" dirty="0"/>
          </a:p>
        </p:txBody>
      </p:sp>
      <p:pic>
        <p:nvPicPr>
          <p:cNvPr id="33796" name="Image 3">
            <a:extLst>
              <a:ext uri="{FF2B5EF4-FFF2-40B4-BE49-F238E27FC236}">
                <a16:creationId xmlns="" xmlns:a16="http://schemas.microsoft.com/office/drawing/2014/main" id="{F5E8A275-3A8F-F1C6-3275-2CA6CC8EA4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9859" y="2132806"/>
            <a:ext cx="9090212" cy="2592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="" xmlns:a16="http://schemas.microsoft.com/office/drawing/2014/main" id="{5D2CAE60-0182-44B2-B1F8-E281049BED6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263" y="522469"/>
            <a:ext cx="11470226" cy="612986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" name="Connecteur droit 3">
            <a:extLst>
              <a:ext uri="{FF2B5EF4-FFF2-40B4-BE49-F238E27FC236}">
                <a16:creationId xmlns="" xmlns:a16="http://schemas.microsoft.com/office/drawing/2014/main" id="{768C3133-4189-4804-B053-E12D0519A263}"/>
              </a:ext>
            </a:extLst>
          </p:cNvPr>
          <p:cNvCxnSpPr/>
          <p:nvPr/>
        </p:nvCxnSpPr>
        <p:spPr>
          <a:xfrm>
            <a:off x="1851378" y="4413956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="" xmlns:a16="http://schemas.microsoft.com/office/drawing/2014/main" id="{EC82F555-8544-40D2-A854-F84FBED4150F}"/>
              </a:ext>
            </a:extLst>
          </p:cNvPr>
          <p:cNvCxnSpPr>
            <a:cxnSpLocks/>
          </p:cNvCxnSpPr>
          <p:nvPr/>
        </p:nvCxnSpPr>
        <p:spPr>
          <a:xfrm>
            <a:off x="1988820" y="2721328"/>
            <a:ext cx="990966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="" xmlns:a16="http://schemas.microsoft.com/office/drawing/2014/main" id="{EBFD6047-662E-42F2-99A7-377FBD884EC8}"/>
              </a:ext>
            </a:extLst>
          </p:cNvPr>
          <p:cNvCxnSpPr>
            <a:cxnSpLocks/>
            <a:endCxn id="2" idx="3"/>
          </p:cNvCxnSpPr>
          <p:nvPr/>
        </p:nvCxnSpPr>
        <p:spPr>
          <a:xfrm>
            <a:off x="1988820" y="3587403"/>
            <a:ext cx="990966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="" xmlns:a16="http://schemas.microsoft.com/office/drawing/2014/main" id="{C4265533-C47F-493C-B25D-7C5C6FF00C20}"/>
              </a:ext>
            </a:extLst>
          </p:cNvPr>
          <p:cNvSpPr txBox="1"/>
          <p:nvPr/>
        </p:nvSpPr>
        <p:spPr>
          <a:xfrm>
            <a:off x="386108" y="4887804"/>
            <a:ext cx="6547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DTC1</a:t>
            </a:r>
            <a:endParaRPr kumimoji="0" lang="fr-CD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="" xmlns:a16="http://schemas.microsoft.com/office/drawing/2014/main" id="{EFB05EDB-5A26-4A5B-B777-1602D3B82E01}"/>
              </a:ext>
            </a:extLst>
          </p:cNvPr>
          <p:cNvSpPr txBox="1"/>
          <p:nvPr/>
        </p:nvSpPr>
        <p:spPr>
          <a:xfrm>
            <a:off x="428263" y="5351791"/>
            <a:ext cx="6547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DTC3</a:t>
            </a:r>
            <a:endParaRPr kumimoji="0" lang="fr-CD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97343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re 1">
            <a:extLst>
              <a:ext uri="{FF2B5EF4-FFF2-40B4-BE49-F238E27FC236}">
                <a16:creationId xmlns="" xmlns:a16="http://schemas.microsoft.com/office/drawing/2014/main" id="{5717EF8F-A32F-1C74-9D08-9E89D64C9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7850" y="333375"/>
            <a:ext cx="8229600" cy="1143000"/>
          </a:xfrm>
          <a:solidFill>
            <a:srgbClr val="00B0F0"/>
          </a:solidFill>
          <a:ln>
            <a:solidFill>
              <a:schemeClr val="accent6"/>
            </a:solidFill>
          </a:ln>
        </p:spPr>
        <p:txBody>
          <a:bodyPr/>
          <a:lstStyle/>
          <a:p>
            <a:r>
              <a:rPr lang="fr-CD" altLang="fr-FR" sz="2800" b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e. </a:t>
            </a:r>
            <a:r>
              <a:rPr lang="fr-FR" altLang="fr-FR" sz="2800" b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Calcul des taux d’abandon</a:t>
            </a:r>
          </a:p>
        </p:txBody>
      </p:sp>
      <p:sp>
        <p:nvSpPr>
          <p:cNvPr id="34819" name="Espace réservé du contenu 2">
            <a:extLst>
              <a:ext uri="{FF2B5EF4-FFF2-40B4-BE49-F238E27FC236}">
                <a16:creationId xmlns="" xmlns:a16="http://schemas.microsoft.com/office/drawing/2014/main" id="{14AEAE9C-994C-3473-EFAE-DD60A66B1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5141913"/>
          </a:xfrm>
        </p:spPr>
        <p:txBody>
          <a:bodyPr/>
          <a:lstStyle/>
          <a:p>
            <a:pPr marL="0" indent="0">
              <a:buNone/>
            </a:pPr>
            <a:r>
              <a:rPr lang="fr-CD" altLang="fr-FR" sz="2800" b="1"/>
              <a:t>TA BCG-VAR </a:t>
            </a:r>
            <a:r>
              <a:rPr lang="fr-CD" altLang="fr-FR" sz="2800"/>
              <a:t>= </a:t>
            </a:r>
            <a:r>
              <a:rPr lang="fr-CD" altLang="fr-FR" sz="2800" u="sng"/>
              <a:t>Doses BCG adm - doses VAR adm x 100</a:t>
            </a:r>
          </a:p>
          <a:p>
            <a:pPr marL="0" indent="0">
              <a:buNone/>
            </a:pPr>
            <a:r>
              <a:rPr lang="fr-CD" altLang="fr-FR" sz="2800"/>
              <a:t>                          Doses BCG administrées</a:t>
            </a:r>
          </a:p>
          <a:p>
            <a:pPr marL="0" indent="0">
              <a:buNone/>
            </a:pPr>
            <a:endParaRPr lang="fr-CD" altLang="fr-FR" sz="2800"/>
          </a:p>
          <a:p>
            <a:pPr marL="0" indent="0">
              <a:buNone/>
            </a:pPr>
            <a:r>
              <a:rPr lang="fr-CD" altLang="fr-FR" sz="2800" b="1"/>
              <a:t>TA DTC-HepB-Hib1-DTC-HepB-Hib3 :</a:t>
            </a:r>
          </a:p>
          <a:p>
            <a:pPr marL="0" indent="0">
              <a:buNone/>
            </a:pPr>
            <a:r>
              <a:rPr lang="fr-CD" altLang="fr-FR" sz="2800" u="sng"/>
              <a:t>Doses adm DTC-HepB-Hib1 - DTC-HepB-Hib3 x 100</a:t>
            </a:r>
          </a:p>
          <a:p>
            <a:pPr marL="0" indent="0">
              <a:buNone/>
            </a:pPr>
            <a:r>
              <a:rPr lang="fr-CD" altLang="fr-FR" sz="2800"/>
              <a:t>Doses administrées DTC-HepB-Hib1</a:t>
            </a:r>
            <a:endParaRPr lang="fr-FR" altLang="fr-FR" sz="2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="" xmlns:a16="http://schemas.microsoft.com/office/drawing/2014/main" id="{5D2CAE60-0182-44B2-B1F8-E281049BED6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159" y="-19583"/>
            <a:ext cx="11331330" cy="6507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" name="Connecteur droit 3">
            <a:extLst>
              <a:ext uri="{FF2B5EF4-FFF2-40B4-BE49-F238E27FC236}">
                <a16:creationId xmlns="" xmlns:a16="http://schemas.microsoft.com/office/drawing/2014/main" id="{768C3133-4189-4804-B053-E12D0519A263}"/>
              </a:ext>
            </a:extLst>
          </p:cNvPr>
          <p:cNvCxnSpPr/>
          <p:nvPr/>
        </p:nvCxnSpPr>
        <p:spPr>
          <a:xfrm>
            <a:off x="1851378" y="4413956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="" xmlns:a16="http://schemas.microsoft.com/office/drawing/2014/main" id="{EC82F555-8544-40D2-A854-F84FBED4150F}"/>
              </a:ext>
            </a:extLst>
          </p:cNvPr>
          <p:cNvCxnSpPr>
            <a:cxnSpLocks/>
          </p:cNvCxnSpPr>
          <p:nvPr/>
        </p:nvCxnSpPr>
        <p:spPr>
          <a:xfrm>
            <a:off x="2164465" y="2291785"/>
            <a:ext cx="973402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="" xmlns:a16="http://schemas.microsoft.com/office/drawing/2014/main" id="{EBFD6047-662E-42F2-99A7-377FBD884EC8}"/>
              </a:ext>
            </a:extLst>
          </p:cNvPr>
          <p:cNvCxnSpPr>
            <a:cxnSpLocks/>
          </p:cNvCxnSpPr>
          <p:nvPr/>
        </p:nvCxnSpPr>
        <p:spPr>
          <a:xfrm>
            <a:off x="2164466" y="3233979"/>
            <a:ext cx="9734023" cy="1332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="" xmlns:a16="http://schemas.microsoft.com/office/drawing/2014/main" id="{C4265533-C47F-493C-B25D-7C5C6FF00C20}"/>
              </a:ext>
            </a:extLst>
          </p:cNvPr>
          <p:cNvSpPr txBox="1"/>
          <p:nvPr/>
        </p:nvSpPr>
        <p:spPr>
          <a:xfrm>
            <a:off x="677476" y="4841504"/>
            <a:ext cx="6547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BCG</a:t>
            </a:r>
            <a:endParaRPr kumimoji="0" lang="fr-CD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="" xmlns:a16="http://schemas.microsoft.com/office/drawing/2014/main" id="{44C12AD4-CECD-4981-9D1D-E94E7513C85F}"/>
              </a:ext>
            </a:extLst>
          </p:cNvPr>
          <p:cNvSpPr txBox="1"/>
          <p:nvPr/>
        </p:nvSpPr>
        <p:spPr>
          <a:xfrm>
            <a:off x="594452" y="5180058"/>
            <a:ext cx="654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VAR</a:t>
            </a:r>
            <a:endParaRPr kumimoji="0" lang="fr-CD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46799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="" xmlns:a16="http://schemas.microsoft.com/office/drawing/2014/main" id="{4ACF7AB8-BFC6-A8D5-74A6-ABD6146CE8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48118" y="260350"/>
            <a:ext cx="8848164" cy="1143000"/>
          </a:xfrm>
          <a:solidFill>
            <a:srgbClr val="00B0F0"/>
          </a:solidFill>
          <a:ln>
            <a:solidFill>
              <a:srgbClr val="FF0000"/>
            </a:solidFill>
          </a:ln>
        </p:spPr>
        <p:txBody>
          <a:bodyPr/>
          <a:lstStyle/>
          <a:p>
            <a:pPr eaLnBrk="1" hangingPunct="1"/>
            <a:r>
              <a:rPr lang="fr-FR" altLang="fr-FR" sz="3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Analyse des données en vue de l’identification des problèmes</a:t>
            </a:r>
            <a:endParaRPr lang="en-US" altLang="fr-FR" sz="24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38915" name="Picture 3">
            <a:extLst>
              <a:ext uri="{FF2B5EF4-FFF2-40B4-BE49-F238E27FC236}">
                <a16:creationId xmlns="" xmlns:a16="http://schemas.microsoft.com/office/drawing/2014/main" id="{99D13094-9B26-FB79-73D2-49F98C8808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8153" y="1428750"/>
            <a:ext cx="9238129" cy="4808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ZoneTexte 2">
            <a:extLst>
              <a:ext uri="{FF2B5EF4-FFF2-40B4-BE49-F238E27FC236}">
                <a16:creationId xmlns="" xmlns:a16="http://schemas.microsoft.com/office/drawing/2014/main" id="{A0FABA70-F23E-A5BE-6F43-69BBA62CCAC7}"/>
              </a:ext>
            </a:extLst>
          </p:cNvPr>
          <p:cNvSpPr txBox="1"/>
          <p:nvPr/>
        </p:nvSpPr>
        <p:spPr>
          <a:xfrm>
            <a:off x="5322794" y="1882588"/>
            <a:ext cx="1373841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fr-CD" b="1" dirty="0"/>
              <a:t>Norme 90%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re 1">
            <a:extLst>
              <a:ext uri="{FF2B5EF4-FFF2-40B4-BE49-F238E27FC236}">
                <a16:creationId xmlns="" xmlns:a16="http://schemas.microsoft.com/office/drawing/2014/main" id="{7E64DB37-C77A-08AD-D06D-3A82F03E9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950" y="274639"/>
            <a:ext cx="8928100" cy="1138237"/>
          </a:xfrm>
          <a:solidFill>
            <a:srgbClr val="00B0F0"/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/>
          <a:p>
            <a:pPr eaLnBrk="1" hangingPunct="1"/>
            <a:r>
              <a:rPr lang="fr-CD" altLang="fr-FR" sz="4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Identifier des les problèmes et leurs causes</a:t>
            </a:r>
            <a:endParaRPr lang="fr-FR" altLang="fr-FR" sz="40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4035" name="Espace réservé du contenu 2">
            <a:extLst>
              <a:ext uri="{FF2B5EF4-FFF2-40B4-BE49-F238E27FC236}">
                <a16:creationId xmlns="" xmlns:a16="http://schemas.microsoft.com/office/drawing/2014/main" id="{D493EA92-1AD2-E7AD-A217-675344879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1950" y="1412876"/>
            <a:ext cx="8928100" cy="5141914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  <a:defRPr/>
            </a:pPr>
            <a:r>
              <a:rPr lang="fr-CD" dirty="0"/>
              <a:t>Pour identifier les  problèmes  de centre de santé et la communauté ( Zéro dose et sous vaccinés):</a:t>
            </a:r>
          </a:p>
          <a:p>
            <a:pPr lvl="2">
              <a:buFont typeface="Wingdings" panose="05000000000000000000" pitchFamily="2" charset="2"/>
              <a:buChar char="Ø"/>
              <a:defRPr/>
            </a:pPr>
            <a:r>
              <a:rPr lang="fr-CD" b="1" dirty="0">
                <a:solidFill>
                  <a:srgbClr val="C00000"/>
                </a:solidFill>
              </a:rPr>
              <a:t>Accessibilité</a:t>
            </a:r>
            <a:r>
              <a:rPr lang="fr-CD" b="1" dirty="0"/>
              <a:t> ( Penta1)</a:t>
            </a:r>
          </a:p>
          <a:p>
            <a:pPr lvl="2">
              <a:buFont typeface="Wingdings" panose="05000000000000000000" pitchFamily="2" charset="2"/>
              <a:buChar char="Ø"/>
              <a:defRPr/>
            </a:pPr>
            <a:r>
              <a:rPr lang="fr-CD" b="1" dirty="0">
                <a:solidFill>
                  <a:srgbClr val="C00000"/>
                </a:solidFill>
              </a:rPr>
              <a:t>Utilisation</a:t>
            </a:r>
            <a:r>
              <a:rPr lang="fr-CD" b="1" dirty="0"/>
              <a:t> (Taux d’abandon)</a:t>
            </a:r>
          </a:p>
          <a:p>
            <a:pPr marL="914400" lvl="2" indent="0">
              <a:buNone/>
              <a:defRPr/>
            </a:pPr>
            <a:endParaRPr lang="fr-FR" b="1" dirty="0"/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fr-CD" dirty="0">
                <a:solidFill>
                  <a:prstClr val="black"/>
                </a:solidFill>
                <a:latin typeface="Calibri"/>
              </a:rPr>
              <a:t>Déterminer </a:t>
            </a:r>
            <a:r>
              <a:rPr kumimoji="0" lang="fr-CD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les causes et causes des causes des  problèmes/Défis  identifiés( </a:t>
            </a:r>
            <a:r>
              <a:rPr kumimoji="0" lang="fr-CD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Technique de 5 pourquoi</a:t>
            </a:r>
            <a:r>
              <a:rPr kumimoji="0" lang="fr-CD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</a:t>
            </a: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>
              <a:buFont typeface="Wingdings" panose="05000000000000000000" pitchFamily="2" charset="2"/>
              <a:buChar char="ü"/>
              <a:defRPr/>
            </a:pPr>
            <a:r>
              <a:rPr lang="fr-FR" b="1" dirty="0">
                <a:solidFill>
                  <a:srgbClr val="00B0F0"/>
                </a:solidFill>
              </a:rPr>
              <a:t>Plan de redressement/Amélioration</a:t>
            </a:r>
            <a:r>
              <a:rPr lang="fr-CD" b="1" dirty="0">
                <a:solidFill>
                  <a:srgbClr val="00B0F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660033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au 3">
            <a:extLst>
              <a:ext uri="{FF2B5EF4-FFF2-40B4-BE49-F238E27FC236}">
                <a16:creationId xmlns="" xmlns:a16="http://schemas.microsoft.com/office/drawing/2014/main" id="{2190D5B7-BE79-4ED8-2843-1FCCC37CEA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5452364"/>
              </p:ext>
            </p:extLst>
          </p:nvPr>
        </p:nvGraphicFramePr>
        <p:xfrm>
          <a:off x="954742" y="1169894"/>
          <a:ext cx="10399056" cy="5046054"/>
        </p:xfrm>
        <a:graphic>
          <a:graphicData uri="http://schemas.openxmlformats.org/drawingml/2006/table">
            <a:tbl>
              <a:tblPr firstRow="1" firstCol="1" bandRow="1"/>
              <a:tblGrid>
                <a:gridCol w="322371">
                  <a:extLst>
                    <a:ext uri="{9D8B030D-6E8A-4147-A177-3AD203B41FA5}">
                      <a16:colId xmlns="" xmlns:a16="http://schemas.microsoft.com/office/drawing/2014/main" val="3108249717"/>
                    </a:ext>
                  </a:extLst>
                </a:gridCol>
                <a:gridCol w="2609087">
                  <a:extLst>
                    <a:ext uri="{9D8B030D-6E8A-4147-A177-3AD203B41FA5}">
                      <a16:colId xmlns="" xmlns:a16="http://schemas.microsoft.com/office/drawing/2014/main" val="895099705"/>
                    </a:ext>
                  </a:extLst>
                </a:gridCol>
                <a:gridCol w="3586670">
                  <a:extLst>
                    <a:ext uri="{9D8B030D-6E8A-4147-A177-3AD203B41FA5}">
                      <a16:colId xmlns="" xmlns:a16="http://schemas.microsoft.com/office/drawing/2014/main" val="2942750545"/>
                    </a:ext>
                  </a:extLst>
                </a:gridCol>
                <a:gridCol w="3880928">
                  <a:extLst>
                    <a:ext uri="{9D8B030D-6E8A-4147-A177-3AD203B41FA5}">
                      <a16:colId xmlns="" xmlns:a16="http://schemas.microsoft.com/office/drawing/2014/main" val="2227576830"/>
                    </a:ext>
                  </a:extLst>
                </a:gridCol>
              </a:tblGrid>
              <a:tr h="3115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N°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98" marR="36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problèmes/Défis</a:t>
                      </a:r>
                      <a:endParaRPr lang="fr-CD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98" marR="36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Causes profondes</a:t>
                      </a:r>
                      <a:endParaRPr lang="fr-CD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98" marR="36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Actions à mener pour chaque cause</a:t>
                      </a:r>
                      <a:endParaRPr lang="fr-CD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98" marR="36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402343555"/>
                  </a:ext>
                </a:extLst>
              </a:tr>
              <a:tr h="53405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98" marR="36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98" marR="3609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98" marR="3609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98" marR="3609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474113164"/>
                  </a:ext>
                </a:extLst>
              </a:tr>
              <a:tr h="51625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98" marR="36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98" marR="3609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98" marR="3609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98" marR="3609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904056017"/>
                  </a:ext>
                </a:extLst>
              </a:tr>
              <a:tr h="54295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98" marR="36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98" marR="3609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98" marR="3609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98" marR="3609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484387945"/>
                  </a:ext>
                </a:extLst>
              </a:tr>
              <a:tr h="56075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98" marR="36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98" marR="3609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98" marR="3609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98" marR="3609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359334276"/>
                  </a:ext>
                </a:extLst>
              </a:tr>
              <a:tr h="53405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98" marR="36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98" marR="3609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98" marR="3609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98" marR="3609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4102478121"/>
                  </a:ext>
                </a:extLst>
              </a:tr>
              <a:tr h="44979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98" marR="36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98" marR="3609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98" marR="3609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98" marR="3609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477340309"/>
                  </a:ext>
                </a:extLst>
              </a:tr>
              <a:tr h="54295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98" marR="36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98" marR="3609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98" marR="3609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98" marR="3609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612862983"/>
                  </a:ext>
                </a:extLst>
              </a:tr>
              <a:tr h="4984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98" marR="36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98" marR="3609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98" marR="3609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98" marR="3609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500328240"/>
                  </a:ext>
                </a:extLst>
              </a:tr>
              <a:tr h="51625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98" marR="36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98" marR="3609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98" marR="3609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98" marR="3609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034087512"/>
                  </a:ext>
                </a:extLst>
              </a:tr>
            </a:tbl>
          </a:graphicData>
        </a:graphic>
      </p:graphicFrame>
      <p:sp>
        <p:nvSpPr>
          <p:cNvPr id="5" name="ZoneTexte 4">
            <a:extLst>
              <a:ext uri="{FF2B5EF4-FFF2-40B4-BE49-F238E27FC236}">
                <a16:creationId xmlns="" xmlns:a16="http://schemas.microsoft.com/office/drawing/2014/main" id="{AC458E59-408B-0731-1B33-198166F5B1F9}"/>
              </a:ext>
            </a:extLst>
          </p:cNvPr>
          <p:cNvSpPr txBox="1"/>
          <p:nvPr/>
        </p:nvSpPr>
        <p:spPr>
          <a:xfrm>
            <a:off x="1371600" y="497541"/>
            <a:ext cx="9708776" cy="52322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r>
              <a:rPr kumimoji="0" lang="fr-CD" altLang="fr-F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Identifier des les problèmes et leurs causes</a:t>
            </a:r>
            <a:endParaRPr lang="fr-CD" sz="1200" dirty="0"/>
          </a:p>
        </p:txBody>
      </p:sp>
      <p:sp>
        <p:nvSpPr>
          <p:cNvPr id="6" name="ZoneTexte 5">
            <a:extLst>
              <a:ext uri="{FF2B5EF4-FFF2-40B4-BE49-F238E27FC236}">
                <a16:creationId xmlns="" xmlns:a16="http://schemas.microsoft.com/office/drawing/2014/main" id="{662D299E-ABFC-6CF9-8032-B1C985CD20EE}"/>
              </a:ext>
            </a:extLst>
          </p:cNvPr>
          <p:cNvSpPr txBox="1"/>
          <p:nvPr/>
        </p:nvSpPr>
        <p:spPr>
          <a:xfrm>
            <a:off x="954743" y="6344507"/>
            <a:ext cx="10676964" cy="369332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fr-CD" b="1" dirty="0"/>
              <a:t>PROBLEME/</a:t>
            </a:r>
            <a:r>
              <a:rPr lang="fr-CD" b="1" dirty="0" err="1"/>
              <a:t>Defis</a:t>
            </a:r>
            <a:r>
              <a:rPr lang="fr-CD" b="1" dirty="0"/>
              <a:t>  - CAUSES- CAUSES DE CAUSES ( Profondes) – ACTIONS A MENER POUR CORRIGER</a:t>
            </a:r>
          </a:p>
        </p:txBody>
      </p:sp>
    </p:spTree>
    <p:extLst>
      <p:ext uri="{BB962C8B-B14F-4D97-AF65-F5344CB8AC3E}">
        <p14:creationId xmlns:p14="http://schemas.microsoft.com/office/powerpoint/2010/main" val="21965946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au 1">
            <a:extLst>
              <a:ext uri="{FF2B5EF4-FFF2-40B4-BE49-F238E27FC236}">
                <a16:creationId xmlns="" xmlns:a16="http://schemas.microsoft.com/office/drawing/2014/main" id="{1AF3E037-7F91-5F76-3906-EB93F090C7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5792100"/>
              </p:ext>
            </p:extLst>
          </p:nvPr>
        </p:nvGraphicFramePr>
        <p:xfrm>
          <a:off x="282388" y="416859"/>
          <a:ext cx="11376212" cy="5781113"/>
        </p:xfrm>
        <a:graphic>
          <a:graphicData uri="http://schemas.openxmlformats.org/drawingml/2006/table">
            <a:tbl>
              <a:tblPr firstRow="1" firstCol="1" bandRow="1"/>
              <a:tblGrid>
                <a:gridCol w="290165">
                  <a:extLst>
                    <a:ext uri="{9D8B030D-6E8A-4147-A177-3AD203B41FA5}">
                      <a16:colId xmlns="" xmlns:a16="http://schemas.microsoft.com/office/drawing/2014/main" val="2297754426"/>
                    </a:ext>
                  </a:extLst>
                </a:gridCol>
                <a:gridCol w="3847465">
                  <a:extLst>
                    <a:ext uri="{9D8B030D-6E8A-4147-A177-3AD203B41FA5}">
                      <a16:colId xmlns="" xmlns:a16="http://schemas.microsoft.com/office/drawing/2014/main" val="468235311"/>
                    </a:ext>
                  </a:extLst>
                </a:gridCol>
                <a:gridCol w="1331218">
                  <a:extLst>
                    <a:ext uri="{9D8B030D-6E8A-4147-A177-3AD203B41FA5}">
                      <a16:colId xmlns="" xmlns:a16="http://schemas.microsoft.com/office/drawing/2014/main" val="3202925429"/>
                    </a:ext>
                  </a:extLst>
                </a:gridCol>
                <a:gridCol w="270230">
                  <a:extLst>
                    <a:ext uri="{9D8B030D-6E8A-4147-A177-3AD203B41FA5}">
                      <a16:colId xmlns="" xmlns:a16="http://schemas.microsoft.com/office/drawing/2014/main" val="3387821519"/>
                    </a:ext>
                  </a:extLst>
                </a:gridCol>
                <a:gridCol w="270230">
                  <a:extLst>
                    <a:ext uri="{9D8B030D-6E8A-4147-A177-3AD203B41FA5}">
                      <a16:colId xmlns="" xmlns:a16="http://schemas.microsoft.com/office/drawing/2014/main" val="264115273"/>
                    </a:ext>
                  </a:extLst>
                </a:gridCol>
                <a:gridCol w="270230">
                  <a:extLst>
                    <a:ext uri="{9D8B030D-6E8A-4147-A177-3AD203B41FA5}">
                      <a16:colId xmlns="" xmlns:a16="http://schemas.microsoft.com/office/drawing/2014/main" val="3180092358"/>
                    </a:ext>
                  </a:extLst>
                </a:gridCol>
                <a:gridCol w="270230">
                  <a:extLst>
                    <a:ext uri="{9D8B030D-6E8A-4147-A177-3AD203B41FA5}">
                      <a16:colId xmlns="" xmlns:a16="http://schemas.microsoft.com/office/drawing/2014/main" val="2160623701"/>
                    </a:ext>
                  </a:extLst>
                </a:gridCol>
                <a:gridCol w="254724">
                  <a:extLst>
                    <a:ext uri="{9D8B030D-6E8A-4147-A177-3AD203B41FA5}">
                      <a16:colId xmlns="" xmlns:a16="http://schemas.microsoft.com/office/drawing/2014/main" val="2641188213"/>
                    </a:ext>
                  </a:extLst>
                </a:gridCol>
                <a:gridCol w="254724">
                  <a:extLst>
                    <a:ext uri="{9D8B030D-6E8A-4147-A177-3AD203B41FA5}">
                      <a16:colId xmlns="" xmlns:a16="http://schemas.microsoft.com/office/drawing/2014/main" val="2314602574"/>
                    </a:ext>
                  </a:extLst>
                </a:gridCol>
                <a:gridCol w="254724">
                  <a:extLst>
                    <a:ext uri="{9D8B030D-6E8A-4147-A177-3AD203B41FA5}">
                      <a16:colId xmlns="" xmlns:a16="http://schemas.microsoft.com/office/drawing/2014/main" val="4083629300"/>
                    </a:ext>
                  </a:extLst>
                </a:gridCol>
                <a:gridCol w="261370">
                  <a:extLst>
                    <a:ext uri="{9D8B030D-6E8A-4147-A177-3AD203B41FA5}">
                      <a16:colId xmlns="" xmlns:a16="http://schemas.microsoft.com/office/drawing/2014/main" val="1806191381"/>
                    </a:ext>
                  </a:extLst>
                </a:gridCol>
                <a:gridCol w="261370">
                  <a:extLst>
                    <a:ext uri="{9D8B030D-6E8A-4147-A177-3AD203B41FA5}">
                      <a16:colId xmlns="" xmlns:a16="http://schemas.microsoft.com/office/drawing/2014/main" val="4044322427"/>
                    </a:ext>
                  </a:extLst>
                </a:gridCol>
                <a:gridCol w="261370">
                  <a:extLst>
                    <a:ext uri="{9D8B030D-6E8A-4147-A177-3AD203B41FA5}">
                      <a16:colId xmlns="" xmlns:a16="http://schemas.microsoft.com/office/drawing/2014/main" val="1294566277"/>
                    </a:ext>
                  </a:extLst>
                </a:gridCol>
                <a:gridCol w="261370">
                  <a:extLst>
                    <a:ext uri="{9D8B030D-6E8A-4147-A177-3AD203B41FA5}">
                      <a16:colId xmlns="" xmlns:a16="http://schemas.microsoft.com/office/drawing/2014/main" val="355237218"/>
                    </a:ext>
                  </a:extLst>
                </a:gridCol>
                <a:gridCol w="261370">
                  <a:extLst>
                    <a:ext uri="{9D8B030D-6E8A-4147-A177-3AD203B41FA5}">
                      <a16:colId xmlns="" xmlns:a16="http://schemas.microsoft.com/office/drawing/2014/main" val="2020359178"/>
                    </a:ext>
                  </a:extLst>
                </a:gridCol>
                <a:gridCol w="2755422">
                  <a:extLst>
                    <a:ext uri="{9D8B030D-6E8A-4147-A177-3AD203B41FA5}">
                      <a16:colId xmlns="" xmlns:a16="http://schemas.microsoft.com/office/drawing/2014/main" val="1769785791"/>
                    </a:ext>
                  </a:extLst>
                </a:gridCol>
              </a:tblGrid>
              <a:tr h="203020"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N°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8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ACTIONS/ ACTIVITES </a:t>
                      </a:r>
                      <a:endParaRPr lang="fr-CD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6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Responsable</a:t>
                      </a:r>
                      <a:endParaRPr lang="fr-CD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1° mois</a:t>
                      </a:r>
                      <a:endParaRPr lang="fr-C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C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D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2° mois</a:t>
                      </a:r>
                      <a:endParaRPr lang="fr-C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C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D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3° mois</a:t>
                      </a:r>
                      <a:endParaRPr lang="fr-C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C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D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8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Observation</a:t>
                      </a:r>
                      <a:endParaRPr lang="fr-CD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852066439"/>
                  </a:ext>
                </a:extLst>
              </a:tr>
              <a:tr h="314680">
                <a:tc vMerge="1">
                  <a:txBody>
                    <a:bodyPr/>
                    <a:lstStyle/>
                    <a:p>
                      <a:endParaRPr lang="fr-CD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CD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C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S1</a:t>
                      </a:r>
                      <a:endParaRPr lang="fr-CD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S2</a:t>
                      </a:r>
                      <a:endParaRPr lang="fr-CD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S3</a:t>
                      </a:r>
                      <a:endParaRPr lang="fr-CD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S4</a:t>
                      </a:r>
                      <a:endParaRPr lang="fr-CD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S1</a:t>
                      </a:r>
                      <a:endParaRPr lang="fr-CD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S2</a:t>
                      </a:r>
                      <a:endParaRPr lang="fr-CD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S3</a:t>
                      </a:r>
                      <a:endParaRPr lang="fr-CD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S4</a:t>
                      </a:r>
                      <a:endParaRPr lang="fr-CD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S1</a:t>
                      </a:r>
                      <a:endParaRPr lang="fr-CD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S2</a:t>
                      </a:r>
                      <a:endParaRPr lang="fr-CD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S3</a:t>
                      </a:r>
                      <a:endParaRPr lang="fr-CD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S4</a:t>
                      </a:r>
                      <a:endParaRPr lang="fr-CD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fr-CD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533107731"/>
                  </a:ext>
                </a:extLst>
              </a:tr>
              <a:tr h="32946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05344357"/>
                  </a:ext>
                </a:extLst>
              </a:tr>
              <a:tr h="27407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920487630"/>
                  </a:ext>
                </a:extLst>
              </a:tr>
              <a:tr h="29437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7110280"/>
                  </a:ext>
                </a:extLst>
              </a:tr>
              <a:tr h="30452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60942173"/>
                  </a:ext>
                </a:extLst>
              </a:tr>
              <a:tr h="3254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761005315"/>
                  </a:ext>
                </a:extLst>
              </a:tr>
              <a:tr h="29437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383945591"/>
                  </a:ext>
                </a:extLst>
              </a:tr>
              <a:tr h="32483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308868077"/>
                  </a:ext>
                </a:extLst>
              </a:tr>
              <a:tr h="33498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111206606"/>
                  </a:ext>
                </a:extLst>
              </a:tr>
              <a:tr h="27407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704652551"/>
                  </a:ext>
                </a:extLst>
              </a:tr>
              <a:tr h="29437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4235313696"/>
                  </a:ext>
                </a:extLst>
              </a:tr>
              <a:tr h="38573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770409359"/>
                  </a:ext>
                </a:extLst>
              </a:tr>
              <a:tr h="3451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285781853"/>
                  </a:ext>
                </a:extLst>
              </a:tr>
              <a:tr h="27407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293150008"/>
                  </a:ext>
                </a:extLst>
              </a:tr>
              <a:tr h="29437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732899656"/>
                  </a:ext>
                </a:extLst>
              </a:tr>
              <a:tr h="30452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94031669"/>
                  </a:ext>
                </a:extLst>
              </a:tr>
              <a:tr h="304529">
                <a:tc>
                  <a:txBody>
                    <a:bodyPr/>
                    <a:lstStyle/>
                    <a:p>
                      <a:endParaRPr lang="fr-CD" sz="8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CD" sz="8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CD" sz="8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CD" sz="8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CD" sz="8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CD" sz="8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CD" sz="8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CD" sz="8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CD" sz="8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CD" sz="8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CD" sz="8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CD" sz="8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CD" sz="8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CD" sz="8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CD" sz="8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CD" sz="8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760994740"/>
                  </a:ext>
                </a:extLst>
              </a:tr>
              <a:tr h="30452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CD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15" marR="3751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579833103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="" xmlns:a16="http://schemas.microsoft.com/office/drawing/2014/main" id="{708EBAC3-AEE1-3F14-21DE-1FC6B5B768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452" y="1600200"/>
            <a:ext cx="1320081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12577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="" xmlns:a16="http://schemas.microsoft.com/office/drawing/2014/main" id="{CB6A0A1C-520C-70BE-2012-4CFA448D7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83199"/>
            <a:ext cx="10972800" cy="1143000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</a:ln>
        </p:spPr>
      </p:pic>
      <p:sp>
        <p:nvSpPr>
          <p:cNvPr id="3" name="Espace réservé du contenu 2">
            <a:extLst>
              <a:ext uri="{FF2B5EF4-FFF2-40B4-BE49-F238E27FC236}">
                <a16:creationId xmlns="" xmlns:a16="http://schemas.microsoft.com/office/drawing/2014/main" id="{DD09448D-473F-A976-D517-CF2E58B531C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r-FR" dirty="0"/>
              <a:t>la carte  CPS;</a:t>
            </a:r>
          </a:p>
          <a:p>
            <a:r>
              <a:rPr lang="fr-FR" dirty="0"/>
              <a:t>le registre des vaccinations ;</a:t>
            </a:r>
          </a:p>
          <a:p>
            <a:r>
              <a:rPr lang="fr-FR" dirty="0"/>
              <a:t>les feuilles de pointage de la vaccination ;</a:t>
            </a:r>
          </a:p>
          <a:p>
            <a:r>
              <a:rPr lang="fr-FR" dirty="0"/>
              <a:t>Echéancier </a:t>
            </a:r>
          </a:p>
          <a:p>
            <a:r>
              <a:rPr lang="fr-FR" dirty="0"/>
              <a:t>Jetons de récupération</a:t>
            </a:r>
          </a:p>
          <a:p>
            <a:r>
              <a:rPr lang="fr-FR" dirty="0"/>
              <a:t>la fiche récapitulative mensuelle de la vaccination ;</a:t>
            </a:r>
          </a:p>
          <a:p>
            <a:endParaRPr lang="fr-FR" dirty="0"/>
          </a:p>
          <a:p>
            <a:endParaRPr lang="fr-CD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="" xmlns:a16="http://schemas.microsoft.com/office/drawing/2014/main" id="{26EE3FDD-EB5D-B362-E4DF-CBF0D35717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800599"/>
          </a:xfrm>
        </p:spPr>
        <p:txBody>
          <a:bodyPr/>
          <a:lstStyle/>
          <a:p>
            <a:r>
              <a:rPr lang="fr-FR" dirty="0"/>
              <a:t>les rapports d'enquêtes sur la couverture vaccinale ;</a:t>
            </a:r>
          </a:p>
          <a:p>
            <a:r>
              <a:rPr lang="fr-FR" dirty="0"/>
              <a:t>le graphique de suivi de la vaccination ;</a:t>
            </a:r>
          </a:p>
          <a:p>
            <a:r>
              <a:rPr lang="fr-FR" dirty="0"/>
              <a:t>les rapports mensuels sur la vaccination et les maladies cibles  (MPV)</a:t>
            </a:r>
          </a:p>
          <a:p>
            <a:r>
              <a:rPr lang="fr-FR" dirty="0"/>
              <a:t>Plan de redressement</a:t>
            </a:r>
            <a:endParaRPr lang="fr-CD" dirty="0"/>
          </a:p>
        </p:txBody>
      </p:sp>
    </p:spTree>
    <p:extLst>
      <p:ext uri="{BB962C8B-B14F-4D97-AF65-F5344CB8AC3E}">
        <p14:creationId xmlns:p14="http://schemas.microsoft.com/office/powerpoint/2010/main" val="28699837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/>
          <a:p>
            <a:r>
              <a:rPr lang="fr-FR" sz="4000" b="1" dirty="0" smtClean="0">
                <a:latin typeface="Arial Black" panose="020B0A04020102020204" pitchFamily="34" charset="0"/>
              </a:rPr>
              <a:t>Conclusion</a:t>
            </a:r>
            <a:endParaRPr lang="fr-FR" sz="4000" b="1" dirty="0">
              <a:latin typeface="Arial Black" panose="020B0A04020102020204" pitchFamily="34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10972800" cy="4525963"/>
          </a:xfrm>
        </p:spPr>
        <p:txBody>
          <a:bodyPr/>
          <a:lstStyle/>
          <a:p>
            <a:pPr marL="0" indent="0">
              <a:buNone/>
            </a:pPr>
            <a:r>
              <a:rPr b="1" dirty="0" smtClean="0"/>
              <a:t> </a:t>
            </a:r>
            <a:r>
              <a:rPr b="1" dirty="0" err="1" smtClean="0"/>
              <a:t>L’augmentation</a:t>
            </a:r>
            <a:r>
              <a:rPr b="1" dirty="0" smtClean="0"/>
              <a:t> </a:t>
            </a:r>
            <a:r>
              <a:rPr b="1" dirty="0"/>
              <a:t>de la </a:t>
            </a:r>
            <a:r>
              <a:rPr b="1" dirty="0" err="1"/>
              <a:t>couverture</a:t>
            </a:r>
            <a:r>
              <a:rPr b="1" dirty="0"/>
              <a:t> </a:t>
            </a:r>
            <a:r>
              <a:rPr b="1" dirty="0" err="1"/>
              <a:t>vaccinale</a:t>
            </a:r>
            <a:r>
              <a:rPr b="1" dirty="0"/>
              <a:t> </a:t>
            </a:r>
            <a:r>
              <a:rPr b="1" dirty="0" err="1"/>
              <a:t>dépend</a:t>
            </a:r>
            <a:r>
              <a:rPr b="1" dirty="0"/>
              <a:t> </a:t>
            </a:r>
            <a:r>
              <a:rPr b="1" dirty="0" smtClean="0"/>
              <a:t>:</a:t>
            </a:r>
            <a:endParaRPr lang="fr-FR" b="1" dirty="0" smtClean="0"/>
          </a:p>
          <a:p>
            <a:pPr marL="0" indent="0">
              <a:buNone/>
            </a:pPr>
            <a:endParaRPr b="1" dirty="0"/>
          </a:p>
          <a:p>
            <a:r>
              <a:rPr b="1" dirty="0" smtClean="0"/>
              <a:t>De </a:t>
            </a:r>
            <a:r>
              <a:rPr b="1" dirty="0"/>
              <a:t>la </a:t>
            </a:r>
            <a:r>
              <a:rPr b="1" dirty="0" err="1"/>
              <a:t>proximité</a:t>
            </a:r>
            <a:r>
              <a:rPr b="1" dirty="0"/>
              <a:t>, </a:t>
            </a:r>
            <a:r>
              <a:rPr b="1" dirty="0" err="1"/>
              <a:t>disponibilité</a:t>
            </a:r>
            <a:r>
              <a:rPr b="1" dirty="0"/>
              <a:t> et </a:t>
            </a:r>
            <a:r>
              <a:rPr b="1" dirty="0" err="1"/>
              <a:t>qualité</a:t>
            </a:r>
            <a:r>
              <a:rPr b="1" dirty="0"/>
              <a:t> des services</a:t>
            </a:r>
          </a:p>
          <a:p>
            <a:r>
              <a:rPr b="1" dirty="0" smtClean="0"/>
              <a:t>D’un </a:t>
            </a:r>
            <a:r>
              <a:rPr b="1" dirty="0"/>
              <a:t>lien fort avec la </a:t>
            </a:r>
            <a:r>
              <a:rPr b="1" dirty="0" err="1" smtClean="0"/>
              <a:t>communauté</a:t>
            </a:r>
            <a:endParaRPr lang="fr-FR" b="1" dirty="0" smtClean="0"/>
          </a:p>
          <a:p>
            <a:r>
              <a:rPr b="1" dirty="0" smtClean="0"/>
              <a:t> </a:t>
            </a:r>
            <a:r>
              <a:rPr b="1" dirty="0" err="1"/>
              <a:t>D’une</a:t>
            </a:r>
            <a:r>
              <a:rPr b="1" dirty="0"/>
              <a:t> </a:t>
            </a:r>
            <a:r>
              <a:rPr b="1" dirty="0" err="1"/>
              <a:t>utilisation</a:t>
            </a:r>
            <a:r>
              <a:rPr b="1" dirty="0"/>
              <a:t> </a:t>
            </a:r>
            <a:r>
              <a:rPr b="1" dirty="0" err="1"/>
              <a:t>intelligente</a:t>
            </a:r>
            <a:r>
              <a:rPr b="1" dirty="0"/>
              <a:t> des </a:t>
            </a:r>
            <a:r>
              <a:rPr b="1" dirty="0" err="1"/>
              <a:t>données</a:t>
            </a:r>
            <a:endParaRPr b="1" dirty="0"/>
          </a:p>
          <a:p>
            <a:r>
              <a:rPr b="1" dirty="0" smtClean="0"/>
              <a:t>Le </a:t>
            </a:r>
            <a:r>
              <a:rPr b="1" dirty="0"/>
              <a:t>leadership local </a:t>
            </a:r>
            <a:r>
              <a:rPr b="1" dirty="0" err="1"/>
              <a:t>est</a:t>
            </a:r>
            <a:r>
              <a:rPr b="1" dirty="0"/>
              <a:t> </a:t>
            </a:r>
            <a:r>
              <a:rPr b="1" dirty="0" err="1"/>
              <a:t>déterminant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23581809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="" xmlns:a16="http://schemas.microsoft.com/office/drawing/2014/main" id="{D62D4489-0ADC-2D84-F7E7-BD6F9D6E3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12700"/>
            <a:ext cx="8229600" cy="673100"/>
          </a:xfrm>
        </p:spPr>
        <p:txBody>
          <a:bodyPr/>
          <a:lstStyle/>
          <a:p>
            <a:pPr eaLnBrk="1" hangingPunct="1"/>
            <a:r>
              <a:rPr lang="fr-CA" altLang="fr-FR" sz="4000" u="sng"/>
              <a:t>EXERCICES</a:t>
            </a:r>
            <a:endParaRPr lang="fr-FR" altLang="fr-FR" sz="4000" u="sng"/>
          </a:p>
        </p:txBody>
      </p:sp>
      <p:sp>
        <p:nvSpPr>
          <p:cNvPr id="24579" name="Rectangle 3">
            <a:extLst>
              <a:ext uri="{FF2B5EF4-FFF2-40B4-BE49-F238E27FC236}">
                <a16:creationId xmlns="" xmlns:a16="http://schemas.microsoft.com/office/drawing/2014/main" id="{2A5715A0-8C12-DF9E-4EE2-9B37E81403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0" y="685800"/>
            <a:ext cx="8763000" cy="5867400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buNone/>
            </a:pPr>
            <a:r>
              <a:rPr lang="fr-FR" altLang="fr-FR" sz="1800" b="1" dirty="0"/>
              <a:t>Vous disposez des données de vaccination des aires sanitaires d’un district et de la cartographie de la zone de couverture. Il vous est demandé de:</a:t>
            </a:r>
          </a:p>
          <a:p>
            <a:pPr marL="0" indent="0" eaLnBrk="1" hangingPunct="1">
              <a:lnSpc>
                <a:spcPct val="150000"/>
              </a:lnSpc>
              <a:buNone/>
            </a:pPr>
            <a:r>
              <a:rPr lang="fr-FR" altLang="fr-FR" sz="1800" b="1" dirty="0"/>
              <a:t>a)	Calculer les taux de couverture vaccinale pour chaque aire sanitaire;</a:t>
            </a:r>
          </a:p>
          <a:p>
            <a:pPr marL="0" indent="0" eaLnBrk="1" hangingPunct="1">
              <a:lnSpc>
                <a:spcPct val="150000"/>
              </a:lnSpc>
              <a:buNone/>
            </a:pPr>
            <a:r>
              <a:rPr lang="fr-FR" altLang="fr-FR" sz="1800" b="1" dirty="0"/>
              <a:t>b)	Déterminer le nombre d’enfants non vaccinés;</a:t>
            </a:r>
          </a:p>
          <a:p>
            <a:pPr marL="0" indent="0" eaLnBrk="1" hangingPunct="1">
              <a:lnSpc>
                <a:spcPct val="150000"/>
              </a:lnSpc>
              <a:buNone/>
            </a:pPr>
            <a:r>
              <a:rPr lang="fr-FR" altLang="fr-FR" sz="1800" b="1" dirty="0"/>
              <a:t>c)	Calculer les taux d’abandon;</a:t>
            </a:r>
          </a:p>
          <a:p>
            <a:pPr marL="0" indent="0" eaLnBrk="1" hangingPunct="1">
              <a:lnSpc>
                <a:spcPct val="150000"/>
              </a:lnSpc>
              <a:buNone/>
            </a:pPr>
            <a:r>
              <a:rPr lang="fr-FR" altLang="fr-FR" sz="1800" b="1" dirty="0"/>
              <a:t>d)	Identifier les types de problèmes en terme d’accessibilité ou d’utilisation;</a:t>
            </a:r>
          </a:p>
          <a:p>
            <a:pPr marL="0" indent="0" eaLnBrk="1" hangingPunct="1">
              <a:lnSpc>
                <a:spcPct val="150000"/>
              </a:lnSpc>
              <a:buNone/>
            </a:pPr>
            <a:r>
              <a:rPr lang="fr-FR" altLang="fr-FR" sz="1800" b="1" dirty="0"/>
              <a:t>e)	Catégoriser les problèmes selon la figure 2 de la page 30 du module 5;</a:t>
            </a:r>
          </a:p>
          <a:p>
            <a:pPr marL="0" indent="0" eaLnBrk="1" hangingPunct="1">
              <a:lnSpc>
                <a:spcPct val="150000"/>
              </a:lnSpc>
              <a:buNone/>
            </a:pPr>
            <a:r>
              <a:rPr lang="fr-FR" altLang="fr-FR" sz="1800" b="1" dirty="0"/>
              <a:t>f)	Prioriser les aires d’intervention;</a:t>
            </a:r>
          </a:p>
          <a:p>
            <a:pPr marL="0" indent="0" eaLnBrk="1" hangingPunct="1">
              <a:lnSpc>
                <a:spcPct val="150000"/>
              </a:lnSpc>
              <a:buNone/>
            </a:pPr>
            <a:r>
              <a:rPr lang="fr-FR" altLang="fr-FR" sz="1800" b="1" dirty="0"/>
              <a:t>g)	Identifier les causes des différents problèmes;</a:t>
            </a:r>
          </a:p>
          <a:p>
            <a:pPr eaLnBrk="1" hangingPunct="1">
              <a:lnSpc>
                <a:spcPct val="150000"/>
              </a:lnSpc>
              <a:buFontTx/>
              <a:buAutoNum type="alphaLcParenR" startAt="8"/>
            </a:pPr>
            <a:r>
              <a:rPr lang="fr-FR" altLang="fr-FR" sz="1800" b="1" dirty="0"/>
              <a:t>           Proposer des solutions adaptées aux ressources disponibles;</a:t>
            </a:r>
          </a:p>
          <a:p>
            <a:pPr eaLnBrk="1" hangingPunct="1">
              <a:lnSpc>
                <a:spcPct val="150000"/>
              </a:lnSpc>
              <a:buFontTx/>
              <a:buAutoNum type="alphaLcParenR" startAt="8"/>
            </a:pPr>
            <a:r>
              <a:rPr lang="fr-FR" altLang="fr-FR" sz="1800" b="1" dirty="0"/>
              <a:t>          Elaborer un plan de redressement/Amélioration </a:t>
            </a:r>
          </a:p>
          <a:p>
            <a:pPr marL="0" indent="0" eaLnBrk="1" hangingPunct="1">
              <a:lnSpc>
                <a:spcPct val="150000"/>
              </a:lnSpc>
              <a:buNone/>
            </a:pPr>
            <a:endParaRPr lang="fr-FR" altLang="fr-FR" sz="500" b="1" dirty="0"/>
          </a:p>
          <a:p>
            <a:pPr marL="0" indent="0" eaLnBrk="1" hangingPunct="1">
              <a:lnSpc>
                <a:spcPct val="150000"/>
              </a:lnSpc>
              <a:buNone/>
            </a:pPr>
            <a:endParaRPr lang="fr-FR" altLang="fr-FR" sz="1800" b="1" dirty="0"/>
          </a:p>
          <a:p>
            <a:pPr marL="0" indent="0" eaLnBrk="1" hangingPunct="1">
              <a:lnSpc>
                <a:spcPct val="150000"/>
              </a:lnSpc>
              <a:buNone/>
            </a:pPr>
            <a:endParaRPr lang="fr-FR" altLang="fr-FR" sz="1800" b="1" dirty="0"/>
          </a:p>
        </p:txBody>
      </p:sp>
      <p:sp>
        <p:nvSpPr>
          <p:cNvPr id="24580" name="Slide Number Placeholder 4">
            <a:extLst>
              <a:ext uri="{FF2B5EF4-FFF2-40B4-BE49-F238E27FC236}">
                <a16:creationId xmlns="" xmlns:a16="http://schemas.microsoft.com/office/drawing/2014/main" id="{27F35A0D-5DF0-CC34-03D0-44DAEEFDC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648200" y="6356351"/>
            <a:ext cx="2895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None/>
            </a:pPr>
            <a:fld id="{937D7A67-1547-49F3-AC08-0F83B04482CC}" type="slidenum">
              <a:rPr lang="en-US" altLang="fr-FR" sz="1200">
                <a:solidFill>
                  <a:srgbClr val="898989"/>
                </a:solidFill>
                <a:cs typeface="Arial" panose="020B0604020202020204" pitchFamily="34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t>23</a:t>
            </a:fld>
            <a:endParaRPr lang="en-US" altLang="fr-FR" sz="1200">
              <a:solidFill>
                <a:srgbClr val="898989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au 1">
            <a:extLst>
              <a:ext uri="{FF2B5EF4-FFF2-40B4-BE49-F238E27FC236}">
                <a16:creationId xmlns="" xmlns:a16="http://schemas.microsoft.com/office/drawing/2014/main" id="{A2A83668-580E-3957-D804-E3438B0AE1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977454"/>
              </p:ext>
            </p:extLst>
          </p:nvPr>
        </p:nvGraphicFramePr>
        <p:xfrm>
          <a:off x="116546" y="443753"/>
          <a:ext cx="11945463" cy="6078067"/>
        </p:xfrm>
        <a:graphic>
          <a:graphicData uri="http://schemas.openxmlformats.org/drawingml/2006/table">
            <a:tbl>
              <a:tblPr/>
              <a:tblGrid>
                <a:gridCol w="622159">
                  <a:extLst>
                    <a:ext uri="{9D8B030D-6E8A-4147-A177-3AD203B41FA5}">
                      <a16:colId xmlns="" xmlns:a16="http://schemas.microsoft.com/office/drawing/2014/main" val="2535041515"/>
                    </a:ext>
                  </a:extLst>
                </a:gridCol>
                <a:gridCol w="575142">
                  <a:extLst>
                    <a:ext uri="{9D8B030D-6E8A-4147-A177-3AD203B41FA5}">
                      <a16:colId xmlns="" xmlns:a16="http://schemas.microsoft.com/office/drawing/2014/main" val="2900701186"/>
                    </a:ext>
                  </a:extLst>
                </a:gridCol>
                <a:gridCol w="669180">
                  <a:extLst>
                    <a:ext uri="{9D8B030D-6E8A-4147-A177-3AD203B41FA5}">
                      <a16:colId xmlns="" xmlns:a16="http://schemas.microsoft.com/office/drawing/2014/main" val="3344762042"/>
                    </a:ext>
                  </a:extLst>
                </a:gridCol>
                <a:gridCol w="665743">
                  <a:extLst>
                    <a:ext uri="{9D8B030D-6E8A-4147-A177-3AD203B41FA5}">
                      <a16:colId xmlns="" xmlns:a16="http://schemas.microsoft.com/office/drawing/2014/main" val="1770973439"/>
                    </a:ext>
                  </a:extLst>
                </a:gridCol>
                <a:gridCol w="578579">
                  <a:extLst>
                    <a:ext uri="{9D8B030D-6E8A-4147-A177-3AD203B41FA5}">
                      <a16:colId xmlns="" xmlns:a16="http://schemas.microsoft.com/office/drawing/2014/main" val="1038077855"/>
                    </a:ext>
                  </a:extLst>
                </a:gridCol>
                <a:gridCol w="515982">
                  <a:extLst>
                    <a:ext uri="{9D8B030D-6E8A-4147-A177-3AD203B41FA5}">
                      <a16:colId xmlns="" xmlns:a16="http://schemas.microsoft.com/office/drawing/2014/main" val="1362962868"/>
                    </a:ext>
                  </a:extLst>
                </a:gridCol>
                <a:gridCol w="728336">
                  <a:extLst>
                    <a:ext uri="{9D8B030D-6E8A-4147-A177-3AD203B41FA5}">
                      <a16:colId xmlns="" xmlns:a16="http://schemas.microsoft.com/office/drawing/2014/main" val="2480894089"/>
                    </a:ext>
                  </a:extLst>
                </a:gridCol>
                <a:gridCol w="622159">
                  <a:extLst>
                    <a:ext uri="{9D8B030D-6E8A-4147-A177-3AD203B41FA5}">
                      <a16:colId xmlns="" xmlns:a16="http://schemas.microsoft.com/office/drawing/2014/main" val="4161267796"/>
                    </a:ext>
                  </a:extLst>
                </a:gridCol>
                <a:gridCol w="622159">
                  <a:extLst>
                    <a:ext uri="{9D8B030D-6E8A-4147-A177-3AD203B41FA5}">
                      <a16:colId xmlns="" xmlns:a16="http://schemas.microsoft.com/office/drawing/2014/main" val="655934379"/>
                    </a:ext>
                  </a:extLst>
                </a:gridCol>
                <a:gridCol w="622159">
                  <a:extLst>
                    <a:ext uri="{9D8B030D-6E8A-4147-A177-3AD203B41FA5}">
                      <a16:colId xmlns="" xmlns:a16="http://schemas.microsoft.com/office/drawing/2014/main" val="4068776914"/>
                    </a:ext>
                  </a:extLst>
                </a:gridCol>
                <a:gridCol w="622159">
                  <a:extLst>
                    <a:ext uri="{9D8B030D-6E8A-4147-A177-3AD203B41FA5}">
                      <a16:colId xmlns="" xmlns:a16="http://schemas.microsoft.com/office/drawing/2014/main" val="1675660548"/>
                    </a:ext>
                  </a:extLst>
                </a:gridCol>
                <a:gridCol w="622159">
                  <a:extLst>
                    <a:ext uri="{9D8B030D-6E8A-4147-A177-3AD203B41FA5}">
                      <a16:colId xmlns="" xmlns:a16="http://schemas.microsoft.com/office/drawing/2014/main" val="3832455842"/>
                    </a:ext>
                  </a:extLst>
                </a:gridCol>
                <a:gridCol w="622159">
                  <a:extLst>
                    <a:ext uri="{9D8B030D-6E8A-4147-A177-3AD203B41FA5}">
                      <a16:colId xmlns="" xmlns:a16="http://schemas.microsoft.com/office/drawing/2014/main" val="105258617"/>
                    </a:ext>
                  </a:extLst>
                </a:gridCol>
                <a:gridCol w="622159">
                  <a:extLst>
                    <a:ext uri="{9D8B030D-6E8A-4147-A177-3AD203B41FA5}">
                      <a16:colId xmlns="" xmlns:a16="http://schemas.microsoft.com/office/drawing/2014/main" val="1520538150"/>
                    </a:ext>
                  </a:extLst>
                </a:gridCol>
                <a:gridCol w="622159">
                  <a:extLst>
                    <a:ext uri="{9D8B030D-6E8A-4147-A177-3AD203B41FA5}">
                      <a16:colId xmlns="" xmlns:a16="http://schemas.microsoft.com/office/drawing/2014/main" val="3610611371"/>
                    </a:ext>
                  </a:extLst>
                </a:gridCol>
                <a:gridCol w="622159">
                  <a:extLst>
                    <a:ext uri="{9D8B030D-6E8A-4147-A177-3AD203B41FA5}">
                      <a16:colId xmlns="" xmlns:a16="http://schemas.microsoft.com/office/drawing/2014/main" val="3557830469"/>
                    </a:ext>
                  </a:extLst>
                </a:gridCol>
                <a:gridCol w="622159">
                  <a:extLst>
                    <a:ext uri="{9D8B030D-6E8A-4147-A177-3AD203B41FA5}">
                      <a16:colId xmlns="" xmlns:a16="http://schemas.microsoft.com/office/drawing/2014/main" val="2408436771"/>
                    </a:ext>
                  </a:extLst>
                </a:gridCol>
                <a:gridCol w="622159">
                  <a:extLst>
                    <a:ext uri="{9D8B030D-6E8A-4147-A177-3AD203B41FA5}">
                      <a16:colId xmlns="" xmlns:a16="http://schemas.microsoft.com/office/drawing/2014/main" val="3043982497"/>
                    </a:ext>
                  </a:extLst>
                </a:gridCol>
                <a:gridCol w="746593">
                  <a:extLst>
                    <a:ext uri="{9D8B030D-6E8A-4147-A177-3AD203B41FA5}">
                      <a16:colId xmlns="" xmlns:a16="http://schemas.microsoft.com/office/drawing/2014/main" val="4008429664"/>
                    </a:ext>
                  </a:extLst>
                </a:gridCol>
              </a:tblGrid>
              <a:tr h="1039331">
                <a:tc>
                  <a:txBody>
                    <a:bodyPr/>
                    <a:lstStyle/>
                    <a:p>
                      <a:pPr algn="ctr" fontAlgn="ctr"/>
                      <a:r>
                        <a:rPr lang="fr-CD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Zone de Santé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CD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Population totale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CD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cible 4%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3.49%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CD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1è dose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CD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CV DTC-HepB-Hib1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CD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3è dose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CD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CV DTC-HepB-Hib3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Tx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d"Ab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DTC-</a:t>
                      </a:r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HepB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Hib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1/3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CD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9-11m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CD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CV VAR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CD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fr-CD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Tx</a:t>
                      </a:r>
                      <a:r>
                        <a:rPr lang="fr-CD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Ab DTC-HepB-Hib1/VAR 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CD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fr-CD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Tx</a:t>
                      </a:r>
                      <a:r>
                        <a:rPr lang="fr-CD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Ab BCG/VAR 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CD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DTC1 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CD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Accessibilité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CD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CD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Utilisation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CD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Catégorisation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CD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PRIORISATION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933316112"/>
                  </a:ext>
                </a:extLst>
              </a:tr>
              <a:tr h="420566">
                <a:tc>
                  <a:txBody>
                    <a:bodyPr/>
                    <a:lstStyle/>
                    <a:p>
                      <a:pPr algn="l" fontAlgn="b"/>
                      <a:r>
                        <a:rPr lang="fr-CD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Aketi</a:t>
                      </a:r>
                      <a:endParaRPr lang="fr-CD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156 592   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6 264   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5 465   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2 756   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D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50,4%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2 629   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D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48,1%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D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4,6%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2 177   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39,8%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21,0%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50,4%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D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4,6%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D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BU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D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127953758"/>
                  </a:ext>
                </a:extLst>
              </a:tr>
              <a:tr h="420566">
                <a:tc>
                  <a:txBody>
                    <a:bodyPr/>
                    <a:lstStyle/>
                    <a:p>
                      <a:pPr algn="l" fontAlgn="b"/>
                      <a:r>
                        <a:rPr lang="fr-CD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Dingila</a:t>
                      </a:r>
                      <a:endParaRPr lang="fr-CD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139 044   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5 562   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4 853   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2 188   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45,1%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1 878   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38,7%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14,2%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1 645   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D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33,9%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24,8%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45,1%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14,2%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MU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184596276"/>
                  </a:ext>
                </a:extLst>
              </a:tr>
              <a:tr h="420566">
                <a:tc>
                  <a:txBody>
                    <a:bodyPr/>
                    <a:lstStyle/>
                    <a:p>
                      <a:pPr algn="l" fontAlgn="b"/>
                      <a:r>
                        <a:rPr lang="fr-CD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Likati</a:t>
                      </a:r>
                      <a:endParaRPr lang="fr-CD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87 938   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3 518   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3 069   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1 463   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47,7%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1 366   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44,5%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6,6%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1 298   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42,3%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11,3%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D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47,7%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6,6%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BU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201053256"/>
                  </a:ext>
                </a:extLst>
              </a:tr>
              <a:tr h="420566">
                <a:tc>
                  <a:txBody>
                    <a:bodyPr/>
                    <a:lstStyle/>
                    <a:p>
                      <a:pPr algn="l" fontAlgn="b"/>
                      <a:r>
                        <a:rPr lang="fr-CD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Monga</a:t>
                      </a:r>
                      <a:endParaRPr lang="fr-CD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90 226   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3 609   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3 149   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1 712   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54,4%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1 525   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48,4%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10,9%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1 334   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42,4%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22,1%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54,4%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D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10,9%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D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MU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D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886388082"/>
                  </a:ext>
                </a:extLst>
              </a:tr>
              <a:tr h="420566">
                <a:tc>
                  <a:txBody>
                    <a:bodyPr/>
                    <a:lstStyle/>
                    <a:p>
                      <a:pPr algn="l" fontAlgn="b"/>
                      <a:r>
                        <a:rPr lang="fr-CD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Viadana</a:t>
                      </a:r>
                      <a:endParaRPr lang="fr-CD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91 097   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3 644   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3 179   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1 568   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49,3%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1 500   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47,2%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4,3%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1 521   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47,8%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3,0%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49,3%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4,3%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BU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255129604"/>
                  </a:ext>
                </a:extLst>
              </a:tr>
              <a:tr h="420566">
                <a:tc>
                  <a:txBody>
                    <a:bodyPr/>
                    <a:lstStyle/>
                    <a:p>
                      <a:pPr algn="l" fontAlgn="b"/>
                      <a:r>
                        <a:rPr lang="fr-CD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Bolomba</a:t>
                      </a:r>
                      <a:endParaRPr lang="fr-CD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310 478   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12 419   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10 836   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3 979   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36,7%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3 613   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33,3%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9,2%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3 589   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33,1%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9,8%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36,7%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9,2%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BU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30207497"/>
                  </a:ext>
                </a:extLst>
              </a:tr>
              <a:tr h="420566">
                <a:tc>
                  <a:txBody>
                    <a:bodyPr/>
                    <a:lstStyle/>
                    <a:p>
                      <a:pPr algn="l" fontAlgn="b"/>
                      <a:r>
                        <a:rPr lang="fr-CD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Irebu</a:t>
                      </a:r>
                      <a:endParaRPr lang="fr-CD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168 771   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6 751   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5 890   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2 950   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50,1%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2 718   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46,1%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7,9%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2 586   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43,9%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12,3%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50,1%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7,9%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BU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011772748"/>
                  </a:ext>
                </a:extLst>
              </a:tr>
              <a:tr h="626821">
                <a:tc>
                  <a:txBody>
                    <a:bodyPr/>
                    <a:lstStyle/>
                    <a:p>
                      <a:pPr algn="l" fontAlgn="b"/>
                      <a:r>
                        <a:rPr lang="fr-CD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Lilanga</a:t>
                      </a:r>
                      <a:r>
                        <a:rPr lang="fr-CD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fr-CD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Bobanga</a:t>
                      </a:r>
                      <a:endParaRPr lang="fr-CD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46 496   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1 860   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1 623   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874   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53,9%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744   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45,8%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14,9%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766   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47,2%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12,4%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53,9%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14,9%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MU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374684570"/>
                  </a:ext>
                </a:extLst>
              </a:tr>
              <a:tr h="626821">
                <a:tc>
                  <a:txBody>
                    <a:bodyPr/>
                    <a:lstStyle/>
                    <a:p>
                      <a:pPr algn="l" fontAlgn="b"/>
                      <a:r>
                        <a:rPr lang="fr-CD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Lolanga</a:t>
                      </a:r>
                      <a:r>
                        <a:rPr lang="fr-CD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fr-CD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Mampoko</a:t>
                      </a:r>
                      <a:endParaRPr lang="fr-CD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91 476   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3 659   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3 193   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1 128   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35,3%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970   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30,4%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14,0%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1 072   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33,6%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5,0%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35,3%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14,0%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MU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885875410"/>
                  </a:ext>
                </a:extLst>
              </a:tr>
              <a:tr h="420566">
                <a:tc>
                  <a:txBody>
                    <a:bodyPr/>
                    <a:lstStyle/>
                    <a:p>
                      <a:pPr algn="l" fontAlgn="b"/>
                      <a:r>
                        <a:rPr lang="fr-CD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Lotumbe</a:t>
                      </a:r>
                      <a:endParaRPr lang="fr-CD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126 401   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5 056   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4 411   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2 116   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48,0%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1 902   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43,1%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10,1%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1 894   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42,9%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10,5%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48,0%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10,1%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MU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90499485"/>
                  </a:ext>
                </a:extLst>
              </a:tr>
              <a:tr h="420566">
                <a:tc>
                  <a:txBody>
                    <a:bodyPr/>
                    <a:lstStyle/>
                    <a:p>
                      <a:pPr algn="l" fontAlgn="b"/>
                      <a:r>
                        <a:rPr lang="fr-CD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Lukolela</a:t>
                      </a:r>
                      <a:r>
                        <a:rPr lang="fr-CD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137 913   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5 517   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4 813   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1 109   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23,0%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1 069   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22,2%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3,6%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1 146   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23,8%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-3,3%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23,0%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3,6%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BU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D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1400501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973884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2097</TotalTime>
  <Words>1183</Words>
  <Application>Microsoft Office PowerPoint</Application>
  <PresentationFormat>Grand écran</PresentationFormat>
  <Paragraphs>672</Paragraphs>
  <Slides>24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4</vt:i4>
      </vt:variant>
      <vt:variant>
        <vt:lpstr>Titres des diapositives</vt:lpstr>
      </vt:variant>
      <vt:variant>
        <vt:i4>24</vt:i4>
      </vt:variant>
    </vt:vector>
  </HeadingPairs>
  <TitlesOfParts>
    <vt:vector size="35" baseType="lpstr">
      <vt:lpstr>Arial</vt:lpstr>
      <vt:lpstr>Arial Black</vt:lpstr>
      <vt:lpstr>Calibri</vt:lpstr>
      <vt:lpstr>Calibri Light</vt:lpstr>
      <vt:lpstr>Times New Roman</vt:lpstr>
      <vt:lpstr>Verdana</vt:lpstr>
      <vt:lpstr>Wingdings</vt:lpstr>
      <vt:lpstr>Thème Office</vt:lpstr>
      <vt:lpstr>1_Thème Office</vt:lpstr>
      <vt:lpstr>2_Thème Office</vt:lpstr>
      <vt:lpstr>3_Thème Office</vt:lpstr>
      <vt:lpstr>Comment Augmenter la Couverture                   vaccinale dans l’AS</vt:lpstr>
      <vt:lpstr>Comment relever le défi pour y parvenir:</vt:lpstr>
      <vt:lpstr>Présentation PowerPoint</vt:lpstr>
      <vt:lpstr> Approche Atteindre Chaque zone / AS/VILLAGE/ENFANT</vt:lpstr>
      <vt:lpstr>  Compilation des données sur la population et la couverture </vt:lpstr>
      <vt:lpstr> Description de la population et de la zone desservie</vt:lpstr>
      <vt:lpstr>Détermination des  stratégies d’organisation des services de vaccination</vt:lpstr>
      <vt:lpstr>Présentation PowerPoint</vt:lpstr>
      <vt:lpstr>Calcul de la population cible annuelle </vt:lpstr>
      <vt:lpstr> Calcul de la population cible annuelle (2/2) </vt:lpstr>
      <vt:lpstr> Calcul de la couverture vaccinale par antigène et par vaccin</vt:lpstr>
      <vt:lpstr>Présentation PowerPoint</vt:lpstr>
      <vt:lpstr> Calcul du nombre d’enfants sous vaccinés</vt:lpstr>
      <vt:lpstr>Présentation PowerPoint</vt:lpstr>
      <vt:lpstr>e. Calcul des taux d’abandon</vt:lpstr>
      <vt:lpstr>Présentation PowerPoint</vt:lpstr>
      <vt:lpstr>Analyse des données en vue de l’identification des problèmes</vt:lpstr>
      <vt:lpstr> Identifier des les problèmes et leurs causes</vt:lpstr>
      <vt:lpstr>Présentation PowerPoint</vt:lpstr>
      <vt:lpstr>Présentation PowerPoint</vt:lpstr>
      <vt:lpstr>Présentation PowerPoint</vt:lpstr>
      <vt:lpstr>Conclusion</vt:lpstr>
      <vt:lpstr>EXERCICES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Comment Augmenter la Couverture vaccinale dans l’AS</dc:title>
  <dc:creator>bushabufaustin@outlook.com</dc:creator>
  <cp:lastModifiedBy>LENOVO</cp:lastModifiedBy>
  <cp:revision>65</cp:revision>
  <dcterms:created xsi:type="dcterms:W3CDTF">2025-02-26T14:50:41Z</dcterms:created>
  <dcterms:modified xsi:type="dcterms:W3CDTF">2025-07-03T09:04:11Z</dcterms:modified>
</cp:coreProperties>
</file>