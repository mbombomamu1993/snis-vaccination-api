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83" r:id="rId44"/>
    <p:sldId id="284" r:id="rId45"/>
    <p:sldId id="285" r:id="rId46"/>
    <p:sldId id="286" r:id="rId47"/>
    <p:sldId id="287" r:id="rId48"/>
    <p:sldId id="288" r:id="rId49"/>
    <p:sldId id="289" r:id="rId50"/>
    <p:sldId id="290" r:id="rId51"/>
    <p:sldId id="291" r:id="rId52"/>
    <p:sldId id="292" r:id="rId53"/>
    <p:sldId id="293" r:id="rId54"/>
    <p:sldId id="294" r:id="rId55"/>
    <p:sldId id="295" r:id="rId56"/>
    <p:sldId id="296" r:id="rId57"/>
    <p:sldId id="297" r:id="rId58"/>
    <p:sldId id="298" r:id="rId59"/>
    <p:sldId id="299" r:id="rId60"/>
    <p:sldId id="300" r:id="rId61"/>
    <p:sldId id="301" r:id="rId62"/>
    <p:sldId id="302" r:id="rId63"/>
    <p:sldId id="303" r:id="rId64"/>
    <p:sldId id="304" r:id="rId65"/>
    <p:sldId id="305" r:id="rId66"/>
    <p:sldId id="306" r:id="rId67"/>
    <p:sldId id="307" r:id="rId68"/>
    <p:sldId id="308" r:id="rId69"/>
    <p:sldId id="267" r:id="rId18"/>
    <p:sldId id="309" r:id="rId70"/>
    <p:sldId id="310" r:id="rId71"/>
    <p:sldId id="311" r:id="rId72"/>
    <p:sldId id="312" r:id="rId73"/>
    <p:sldId id="313" r:id="rId74"/>
    <p:sldId id="314" r:id="rId75"/>
    <p:sldId id="315" r:id="rId76"/>
    <p:sldId id="316" r:id="rId77"/>
    <p:sldId id="317" r:id="rId7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y="6858000" cx="12192000"/>
  <p:notesSz cx="6858000" cy="9144000"/>
  <p:embeddedFontLst>
    <p:embeddedFont>
      <p:font typeface="Libre Franklin"/>
      <p:regular r:id="rId34"/>
      <p:bold r:id="rId35"/>
      <p:italic r:id="rId36"/>
      <p:boldItalic r:id="rId37"/>
    </p:embeddedFont>
    <p:embeddedFont>
      <p:font typeface="Arimo"/>
      <p:regular r:id="rId38"/>
      <p:bold r:id="rId39"/>
      <p:italic r:id="rId40"/>
      <p:boldItalic r:id="rId41"/>
    </p:embeddedFont>
    <p:embeddedFont>
      <p:font typeface="Arial Black"/>
      <p:regular r:id="rId4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:go="http://customooxmlschemas.google.com/" r:id="rId43" roundtripDataSignature="AMtx7mho6MFvxqLBW8QdQPGkuT/2HFhUP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499A6F3-D952-429E-B19D-6FA7876C0030}">
  <a:tblStyle styleId="{B499A6F3-D952-429E-B19D-6FA7876C003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248DD74A-A1A7-4777-8AA3-1E47BC875A0D}" styleName="Table_1">
    <a:wholeTbl>
      <a:tcTxStyle b="off" i="off">
        <a:font>
          <a:latin typeface="Franklin Gothic Book"/>
          <a:ea typeface="Franklin Gothic Book"/>
          <a:cs typeface="Franklin Gothic Book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9EFF7"/>
          </a:solidFill>
        </a:fill>
      </a:tcStyle>
    </a:wholeTbl>
    <a:band1H>
      <a:tcTxStyle/>
      <a:tcStyle>
        <a:fill>
          <a:solidFill>
            <a:srgbClr val="D0DEEF"/>
          </a:solidFill>
        </a:fill>
      </a:tcStyle>
    </a:band1H>
    <a:band2H>
      <a:tcTxStyle/>
    </a:band2H>
    <a:band1V>
      <a:tcTxStyle/>
      <a:tcStyle>
        <a:fill>
          <a:solidFill>
            <a:srgbClr val="D0DEEF"/>
          </a:solidFill>
        </a:fill>
      </a:tcStyle>
    </a:band1V>
    <a:band2V>
      <a:tcTxStyle/>
    </a:band2V>
    <a:lastCol>
      <a:tcTxStyle b="on" i="off">
        <a:font>
          <a:latin typeface="Franklin Gothic Book"/>
          <a:ea typeface="Franklin Gothic Book"/>
          <a:cs typeface="Franklin Gothic Book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Franklin Gothic Book"/>
          <a:ea typeface="Franklin Gothic Book"/>
          <a:cs typeface="Franklin Gothic Book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Franklin Gothic Book"/>
          <a:ea typeface="Franklin Gothic Book"/>
          <a:cs typeface="Franklin Gothic Book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Franklin Gothic Book"/>
          <a:ea typeface="Franklin Gothic Book"/>
          <a:cs typeface="Franklin Gothic Book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E2C20AF3-28AD-4B50-9251-37FC827B966A}" styleName="Table_2">
    <a:wholeTbl>
      <a:tcTxStyle b="off" i="off">
        <a:font>
          <a:latin typeface="Franklin Gothic Book"/>
          <a:ea typeface="Franklin Gothic Book"/>
          <a:cs typeface="Franklin Gothic Book"/>
        </a:font>
        <a:schemeClr val="dk1"/>
      </a:tcTxStyle>
      <a:tcStyle>
        <a:tcBdr>
          <a:left>
            <a:ln cap="flat" cmpd="sng" w="12700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4E6"/>
          </a:solidFill>
        </a:fill>
      </a:tcStyle>
    </a:wholeTbl>
    <a:band1H>
      <a:tcTxStyle/>
      <a:tcStyle>
        <a:fill>
          <a:solidFill>
            <a:srgbClr val="FFE8CA"/>
          </a:solidFill>
        </a:fill>
      </a:tcStyle>
    </a:band1H>
    <a:band2H>
      <a:tcTxStyle/>
    </a:band2H>
    <a:band1V>
      <a:tcTxStyle/>
      <a:tcStyle>
        <a:fill>
          <a:solidFill>
            <a:srgbClr val="FFE8CA"/>
          </a:solidFill>
        </a:fill>
      </a:tcStyle>
    </a:band1V>
    <a:band2V>
      <a:tcTxStyle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25400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4E6"/>
          </a:solidFill>
        </a:fill>
      </a:tcStyle>
    </a:lastRow>
    <a:seCell>
      <a:tcTxStyle/>
    </a:seCell>
    <a:swCell>
      <a:tcTxStyle/>
    </a:swCell>
    <a:firstRow>
      <a:tcTxStyle b="on" i="off"/>
      <a:tcStyle>
        <a:fill>
          <a:solidFill>
            <a:srgbClr val="FFF4E6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font" Target="fonts/LibreFranklin-regular.fntdata"/><Relationship Id="rId35" Type="http://schemas.openxmlformats.org/officeDocument/2006/relationships/font" Target="fonts/LibreFranklin-bold.fntdata"/><Relationship Id="rId36" Type="http://schemas.openxmlformats.org/officeDocument/2006/relationships/font" Target="fonts/LibreFranklin-italic.fntdata"/><Relationship Id="rId37" Type="http://schemas.openxmlformats.org/officeDocument/2006/relationships/font" Target="fonts/LibreFranklin-boldItalic.fntdata"/><Relationship Id="rId38" Type="http://schemas.openxmlformats.org/officeDocument/2006/relationships/font" Target="fonts/Arimo-regular.fntdata"/><Relationship Id="rId39" Type="http://schemas.openxmlformats.org/officeDocument/2006/relationships/font" Target="fonts/Arimo-bold.fntdata"/><Relationship Id="rId40" Type="http://schemas.openxmlformats.org/officeDocument/2006/relationships/font" Target="fonts/Arimo-italic.fntdata"/><Relationship Id="rId41" Type="http://schemas.openxmlformats.org/officeDocument/2006/relationships/font" Target="fonts/Arimo-boldItalic.fntdata"/><Relationship Id="rId42" Type="http://schemas.openxmlformats.org/officeDocument/2006/relationships/font" Target="fonts/ArialBlack-regular.fntdata"/><Relationship Id="rId43" Type="http://customschemas.google.com/relationships/presentationmetadata" Target="metadata"/><Relationship Id="rId44" Type="http://schemas.openxmlformats.org/officeDocument/2006/relationships/slide" Target="slides/slide28.xml"/><Relationship Id="rId45" Type="http://schemas.openxmlformats.org/officeDocument/2006/relationships/slide" Target="slides/slide29.xml"/><Relationship Id="rId46" Type="http://schemas.openxmlformats.org/officeDocument/2006/relationships/slide" Target="slides/slide30.xml"/><Relationship Id="rId47" Type="http://schemas.openxmlformats.org/officeDocument/2006/relationships/slide" Target="slides/slide31.xml"/><Relationship Id="rId48" Type="http://schemas.openxmlformats.org/officeDocument/2006/relationships/slide" Target="slides/slide32.xml"/><Relationship Id="rId49" Type="http://schemas.openxmlformats.org/officeDocument/2006/relationships/slide" Target="slides/slide33.xml"/><Relationship Id="rId50" Type="http://schemas.openxmlformats.org/officeDocument/2006/relationships/slide" Target="slides/slide34.xml"/><Relationship Id="rId51" Type="http://schemas.openxmlformats.org/officeDocument/2006/relationships/slide" Target="slides/slide35.xml"/><Relationship Id="rId52" Type="http://schemas.openxmlformats.org/officeDocument/2006/relationships/slide" Target="slides/slide36.xml"/><Relationship Id="rId53" Type="http://schemas.openxmlformats.org/officeDocument/2006/relationships/slide" Target="slides/slide37.xml"/><Relationship Id="rId54" Type="http://schemas.openxmlformats.org/officeDocument/2006/relationships/slide" Target="slides/slide38.xml"/><Relationship Id="rId55" Type="http://schemas.openxmlformats.org/officeDocument/2006/relationships/slide" Target="slides/slide39.xml"/><Relationship Id="rId56" Type="http://schemas.openxmlformats.org/officeDocument/2006/relationships/slide" Target="slides/slide40.xml"/><Relationship Id="rId57" Type="http://schemas.openxmlformats.org/officeDocument/2006/relationships/slide" Target="slides/slide41.xml"/><Relationship Id="rId58" Type="http://schemas.openxmlformats.org/officeDocument/2006/relationships/slide" Target="slides/slide42.xml"/><Relationship Id="rId59" Type="http://schemas.openxmlformats.org/officeDocument/2006/relationships/slide" Target="slides/slide43.xml"/><Relationship Id="rId60" Type="http://schemas.openxmlformats.org/officeDocument/2006/relationships/slide" Target="slides/slide44.xml"/><Relationship Id="rId61" Type="http://schemas.openxmlformats.org/officeDocument/2006/relationships/slide" Target="slides/slide45.xml"/><Relationship Id="rId62" Type="http://schemas.openxmlformats.org/officeDocument/2006/relationships/slide" Target="slides/slide46.xml"/><Relationship Id="rId63" Type="http://schemas.openxmlformats.org/officeDocument/2006/relationships/slide" Target="slides/slide47.xml"/><Relationship Id="rId64" Type="http://schemas.openxmlformats.org/officeDocument/2006/relationships/slide" Target="slides/slide48.xml"/><Relationship Id="rId65" Type="http://schemas.openxmlformats.org/officeDocument/2006/relationships/slide" Target="slides/slide49.xml"/><Relationship Id="rId66" Type="http://schemas.openxmlformats.org/officeDocument/2006/relationships/slide" Target="slides/slide50.xml"/><Relationship Id="rId67" Type="http://schemas.openxmlformats.org/officeDocument/2006/relationships/slide" Target="slides/slide51.xml"/><Relationship Id="rId68" Type="http://schemas.openxmlformats.org/officeDocument/2006/relationships/slide" Target="slides/slide52.xml"/><Relationship Id="rId69" Type="http://schemas.openxmlformats.org/officeDocument/2006/relationships/slide" Target="slides/slide53.xml"/><Relationship Id="rId70" Type="http://schemas.openxmlformats.org/officeDocument/2006/relationships/slide" Target="slides/slide54.xml"/><Relationship Id="rId71" Type="http://schemas.openxmlformats.org/officeDocument/2006/relationships/slide" Target="slides/slide55.xml"/><Relationship Id="rId72" Type="http://schemas.openxmlformats.org/officeDocument/2006/relationships/slide" Target="slides/slide56.xml"/><Relationship Id="rId73" Type="http://schemas.openxmlformats.org/officeDocument/2006/relationships/slide" Target="slides/slide57.xml"/><Relationship Id="rId74" Type="http://schemas.openxmlformats.org/officeDocument/2006/relationships/slide" Target="slides/slide58.xml"/><Relationship Id="rId75" Type="http://schemas.openxmlformats.org/officeDocument/2006/relationships/slide" Target="slides/slide59.xml"/><Relationship Id="rId76" Type="http://schemas.openxmlformats.org/officeDocument/2006/relationships/slide" Target="slides/slide60.xml"/><Relationship Id="rId77" Type="http://schemas.openxmlformats.org/officeDocument/2006/relationships/slide" Target="slides/slide61.xml"/><Relationship Id="rId78" Type="http://schemas.openxmlformats.org/officeDocument/2006/relationships/slide" Target="slides/slide6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Complétude %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Biyela</c:v>
                </c:pt>
                <c:pt idx="1">
                  <c:v>Kikimi</c:v>
                </c:pt>
                <c:pt idx="2">
                  <c:v>Kimbanseke</c:v>
                </c:pt>
                <c:pt idx="3">
                  <c:v>Kingasani</c:v>
                </c:pt>
                <c:pt idx="4">
                  <c:v>Maluku 1</c:v>
                </c:pt>
                <c:pt idx="5">
                  <c:v>Maluku 2</c:v>
                </c:pt>
                <c:pt idx="6">
                  <c:v>Masina 1</c:v>
                </c:pt>
                <c:pt idx="7">
                  <c:v>Masina 2</c:v>
                </c:pt>
                <c:pt idx="8">
                  <c:v>Ndjili</c:v>
                </c:pt>
                <c:pt idx="9">
                  <c:v>Nsele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93.8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Promptitude %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Biyela</c:v>
                </c:pt>
                <c:pt idx="1">
                  <c:v>Kikimi</c:v>
                </c:pt>
                <c:pt idx="2">
                  <c:v>Kimbanseke</c:v>
                </c:pt>
                <c:pt idx="3">
                  <c:v>Kingasani</c:v>
                </c:pt>
                <c:pt idx="4">
                  <c:v>Maluku 1</c:v>
                </c:pt>
                <c:pt idx="5">
                  <c:v>Maluku 2</c:v>
                </c:pt>
                <c:pt idx="6">
                  <c:v>Masina 1</c:v>
                </c:pt>
                <c:pt idx="7">
                  <c:v>Masina 2</c:v>
                </c:pt>
                <c:pt idx="8">
                  <c:v>Ndjili</c:v>
                </c:pt>
                <c:pt idx="9">
                  <c:v>Nsele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95.6</c:v>
                </c:pt>
                <c:pt idx="1">
                  <c:v>92.7</c:v>
                </c:pt>
                <c:pt idx="2">
                  <c:v>78.9</c:v>
                </c:pt>
                <c:pt idx="3">
                  <c:v>93.9</c:v>
                </c:pt>
                <c:pt idx="4">
                  <c:v>91.1</c:v>
                </c:pt>
                <c:pt idx="5">
                  <c:v>72.2</c:v>
                </c:pt>
                <c:pt idx="6">
                  <c:v>95.1</c:v>
                </c:pt>
                <c:pt idx="7">
                  <c:v>95.5</c:v>
                </c:pt>
                <c:pt idx="8">
                  <c:v>100.0</c:v>
                </c:pt>
                <c:pt idx="9">
                  <c:v>92.3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Complétude %</c:v>
                </c:pt>
              </c:strCache>
            </c:strRef>
          </c:tx>
          <c:cat>
            <c:strRef>
              <c:f>Sheet1!$A$2:$A$41</c:f>
              <c:strCache>
                <c:ptCount val="40"/>
                <c:pt idx="0">
                  <c:v>Batumuna</c:v>
                </c:pt>
                <c:pt idx="1">
                  <c:v>Biyela</c:v>
                </c:pt>
                <c:pt idx="2">
                  <c:v>Kamba Mulumba</c:v>
                </c:pt>
                <c:pt idx="3">
                  <c:v>Kisantu</c:v>
                </c:pt>
                <c:pt idx="4">
                  <c:v>Luebo 1</c:v>
                </c:pt>
                <c:pt idx="5">
                  <c:v>Luebo 2</c:v>
                </c:pt>
                <c:pt idx="6">
                  <c:v>Malonda 1</c:v>
                </c:pt>
                <c:pt idx="7">
                  <c:v>Malonda 2</c:v>
                </c:pt>
                <c:pt idx="8">
                  <c:v>Mokali</c:v>
                </c:pt>
                <c:pt idx="9">
                  <c:v>Sakombi 1</c:v>
                </c:pt>
                <c:pt idx="10">
                  <c:v>Sakombi 2</c:v>
                </c:pt>
                <c:pt idx="11">
                  <c:v>Bisengo Mwambe</c:v>
                </c:pt>
                <c:pt idx="12">
                  <c:v>Bosembo</c:v>
                </c:pt>
                <c:pt idx="13">
                  <c:v>Cité De L'Espoir</c:v>
                </c:pt>
                <c:pt idx="14">
                  <c:v>Kikimi (Kikimi)</c:v>
                </c:pt>
                <c:pt idx="15">
                  <c:v>Lobiko</c:v>
                </c:pt>
                <c:pt idx="16">
                  <c:v>Marechal</c:v>
                </c:pt>
                <c:pt idx="17">
                  <c:v>Mfumu Nketo</c:v>
                </c:pt>
                <c:pt idx="18">
                  <c:v>Mikondo (Kikimi)</c:v>
                </c:pt>
                <c:pt idx="19">
                  <c:v>Ngampani</c:v>
                </c:pt>
                <c:pt idx="20">
                  <c:v>Bahumbu</c:v>
                </c:pt>
                <c:pt idx="21">
                  <c:v>Bamboma</c:v>
                </c:pt>
                <c:pt idx="22">
                  <c:v>Boma</c:v>
                </c:pt>
                <c:pt idx="23">
                  <c:v>Esanga</c:v>
                </c:pt>
                <c:pt idx="24">
                  <c:v>Kimfuta</c:v>
                </c:pt>
                <c:pt idx="25">
                  <c:v>Kutu</c:v>
                </c:pt>
                <c:pt idx="26">
                  <c:v>Mangana</c:v>
                </c:pt>
                <c:pt idx="27">
                  <c:v>Maviokele</c:v>
                </c:pt>
                <c:pt idx="28">
                  <c:v>Mbuala</c:v>
                </c:pt>
                <c:pt idx="29">
                  <c:v>Nsumabua</c:v>
                </c:pt>
                <c:pt idx="30">
                  <c:v>Salongo</c:v>
                </c:pt>
                <c:pt idx="31">
                  <c:v>17 Mai</c:v>
                </c:pt>
                <c:pt idx="32">
                  <c:v>Atandele</c:v>
                </c:pt>
                <c:pt idx="33">
                  <c:v>Kingasani</c:v>
                </c:pt>
                <c:pt idx="34">
                  <c:v>Lisanga</c:v>
                </c:pt>
                <c:pt idx="35">
                  <c:v>Molende</c:v>
                </c:pt>
                <c:pt idx="36">
                  <c:v>Mulie</c:v>
                </c:pt>
                <c:pt idx="37">
                  <c:v>Nsanga</c:v>
                </c:pt>
                <c:pt idx="38">
                  <c:v>St Paul</c:v>
                </c:pt>
                <c:pt idx="39">
                  <c:v>Basuku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100.0</c:v>
                </c:pt>
                <c:pt idx="12">
                  <c:v>100.0</c:v>
                </c:pt>
                <c:pt idx="13">
                  <c:v>100.0</c:v>
                </c:pt>
                <c:pt idx="14">
                  <c:v>100.0</c:v>
                </c:pt>
                <c:pt idx="15">
                  <c:v>100.0</c:v>
                </c:pt>
                <c:pt idx="16">
                  <c:v>100.0</c:v>
                </c:pt>
                <c:pt idx="17">
                  <c:v>100.0</c:v>
                </c:pt>
                <c:pt idx="18">
                  <c:v>100.0</c:v>
                </c:pt>
                <c:pt idx="19">
                  <c:v>100.0</c:v>
                </c:pt>
                <c:pt idx="20">
                  <c:v>100.0</c:v>
                </c:pt>
                <c:pt idx="21">
                  <c:v>100.0</c:v>
                </c:pt>
                <c:pt idx="22">
                  <c:v>100.0</c:v>
                </c:pt>
                <c:pt idx="23">
                  <c:v>100.0</c:v>
                </c:pt>
                <c:pt idx="24">
                  <c:v>100.0</c:v>
                </c:pt>
                <c:pt idx="25">
                  <c:v>100.0</c:v>
                </c:pt>
                <c:pt idx="26">
                  <c:v>100.0</c:v>
                </c:pt>
                <c:pt idx="27">
                  <c:v>100.0</c:v>
                </c:pt>
                <c:pt idx="28">
                  <c:v>100.0</c:v>
                </c:pt>
                <c:pt idx="29">
                  <c:v>100.0</c:v>
                </c:pt>
                <c:pt idx="30">
                  <c:v>100.0</c:v>
                </c:pt>
                <c:pt idx="31">
                  <c:v>100.0</c:v>
                </c:pt>
                <c:pt idx="32">
                  <c:v>100.0</c:v>
                </c:pt>
                <c:pt idx="33">
                  <c:v>100.0</c:v>
                </c:pt>
                <c:pt idx="34">
                  <c:v>100.0</c:v>
                </c:pt>
                <c:pt idx="35">
                  <c:v>100.0</c:v>
                </c:pt>
                <c:pt idx="36">
                  <c:v>100.0</c:v>
                </c:pt>
                <c:pt idx="37">
                  <c:v>100.0</c:v>
                </c:pt>
                <c:pt idx="38">
                  <c:v>100.0</c:v>
                </c:pt>
                <c:pt idx="39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Promptitude %</c:v>
                </c:pt>
              </c:strCache>
            </c:strRef>
          </c:tx>
          <c:cat>
            <c:strRef>
              <c:f>Sheet1!$A$2:$A$41</c:f>
              <c:strCache>
                <c:ptCount val="40"/>
                <c:pt idx="0">
                  <c:v>Batumuna</c:v>
                </c:pt>
                <c:pt idx="1">
                  <c:v>Biyela</c:v>
                </c:pt>
                <c:pt idx="2">
                  <c:v>Kamba Mulumba</c:v>
                </c:pt>
                <c:pt idx="3">
                  <c:v>Kisantu</c:v>
                </c:pt>
                <c:pt idx="4">
                  <c:v>Luebo 1</c:v>
                </c:pt>
                <c:pt idx="5">
                  <c:v>Luebo 2</c:v>
                </c:pt>
                <c:pt idx="6">
                  <c:v>Malonda 1</c:v>
                </c:pt>
                <c:pt idx="7">
                  <c:v>Malonda 2</c:v>
                </c:pt>
                <c:pt idx="8">
                  <c:v>Mokali</c:v>
                </c:pt>
                <c:pt idx="9">
                  <c:v>Sakombi 1</c:v>
                </c:pt>
                <c:pt idx="10">
                  <c:v>Sakombi 2</c:v>
                </c:pt>
                <c:pt idx="11">
                  <c:v>Bisengo Mwambe</c:v>
                </c:pt>
                <c:pt idx="12">
                  <c:v>Bosembo</c:v>
                </c:pt>
                <c:pt idx="13">
                  <c:v>Cité De L'Espoir</c:v>
                </c:pt>
                <c:pt idx="14">
                  <c:v>Kikimi (Kikimi)</c:v>
                </c:pt>
                <c:pt idx="15">
                  <c:v>Lobiko</c:v>
                </c:pt>
                <c:pt idx="16">
                  <c:v>Marechal</c:v>
                </c:pt>
                <c:pt idx="17">
                  <c:v>Mfumu Nketo</c:v>
                </c:pt>
                <c:pt idx="18">
                  <c:v>Mikondo (Kikimi)</c:v>
                </c:pt>
                <c:pt idx="19">
                  <c:v>Ngampani</c:v>
                </c:pt>
                <c:pt idx="20">
                  <c:v>Bahumbu</c:v>
                </c:pt>
                <c:pt idx="21">
                  <c:v>Bamboma</c:v>
                </c:pt>
                <c:pt idx="22">
                  <c:v>Boma</c:v>
                </c:pt>
                <c:pt idx="23">
                  <c:v>Esanga</c:v>
                </c:pt>
                <c:pt idx="24">
                  <c:v>Kimfuta</c:v>
                </c:pt>
                <c:pt idx="25">
                  <c:v>Kutu</c:v>
                </c:pt>
                <c:pt idx="26">
                  <c:v>Mangana</c:v>
                </c:pt>
                <c:pt idx="27">
                  <c:v>Maviokele</c:v>
                </c:pt>
                <c:pt idx="28">
                  <c:v>Mbuala</c:v>
                </c:pt>
                <c:pt idx="29">
                  <c:v>Nsumabua</c:v>
                </c:pt>
                <c:pt idx="30">
                  <c:v>Salongo</c:v>
                </c:pt>
                <c:pt idx="31">
                  <c:v>17 Mai</c:v>
                </c:pt>
                <c:pt idx="32">
                  <c:v>Atandele</c:v>
                </c:pt>
                <c:pt idx="33">
                  <c:v>Kingasani</c:v>
                </c:pt>
                <c:pt idx="34">
                  <c:v>Lisanga</c:v>
                </c:pt>
                <c:pt idx="35">
                  <c:v>Molende</c:v>
                </c:pt>
                <c:pt idx="36">
                  <c:v>Mulie</c:v>
                </c:pt>
                <c:pt idx="37">
                  <c:v>Nsanga</c:v>
                </c:pt>
                <c:pt idx="38">
                  <c:v>St Paul</c:v>
                </c:pt>
                <c:pt idx="39">
                  <c:v>Basuku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87.5</c:v>
                </c:pt>
                <c:pt idx="1">
                  <c:v>100.0</c:v>
                </c:pt>
                <c:pt idx="2">
                  <c:v>93.8</c:v>
                </c:pt>
                <c:pt idx="3">
                  <c:v>100.0</c:v>
                </c:pt>
                <c:pt idx="4">
                  <c:v>93.8</c:v>
                </c:pt>
                <c:pt idx="5">
                  <c:v>91.7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92.9</c:v>
                </c:pt>
                <c:pt idx="10">
                  <c:v>91.7</c:v>
                </c:pt>
                <c:pt idx="11">
                  <c:v>83.3</c:v>
                </c:pt>
                <c:pt idx="12">
                  <c:v>80.7</c:v>
                </c:pt>
                <c:pt idx="13">
                  <c:v>100.0</c:v>
                </c:pt>
                <c:pt idx="14">
                  <c:v>100.0</c:v>
                </c:pt>
                <c:pt idx="15">
                  <c:v>100.0</c:v>
                </c:pt>
                <c:pt idx="16">
                  <c:v>78.6</c:v>
                </c:pt>
                <c:pt idx="17">
                  <c:v>100.0</c:v>
                </c:pt>
                <c:pt idx="18">
                  <c:v>100.0</c:v>
                </c:pt>
                <c:pt idx="19">
                  <c:v>91.7</c:v>
                </c:pt>
                <c:pt idx="20">
                  <c:v>76.2</c:v>
                </c:pt>
                <c:pt idx="21">
                  <c:v>78.6</c:v>
                </c:pt>
                <c:pt idx="22">
                  <c:v>82.3</c:v>
                </c:pt>
                <c:pt idx="23">
                  <c:v>68.2</c:v>
                </c:pt>
                <c:pt idx="24">
                  <c:v>82.1</c:v>
                </c:pt>
                <c:pt idx="25">
                  <c:v>84.5</c:v>
                </c:pt>
                <c:pt idx="26">
                  <c:v>63.5</c:v>
                </c:pt>
                <c:pt idx="27">
                  <c:v>81.2</c:v>
                </c:pt>
                <c:pt idx="28">
                  <c:v>80.0</c:v>
                </c:pt>
                <c:pt idx="29">
                  <c:v>80.0</c:v>
                </c:pt>
                <c:pt idx="30">
                  <c:v>91.7</c:v>
                </c:pt>
                <c:pt idx="31">
                  <c:v>100.0</c:v>
                </c:pt>
                <c:pt idx="32">
                  <c:v>80.0</c:v>
                </c:pt>
                <c:pt idx="33">
                  <c:v>100.0</c:v>
                </c:pt>
                <c:pt idx="34">
                  <c:v>100.0</c:v>
                </c:pt>
                <c:pt idx="35">
                  <c:v>100.0</c:v>
                </c:pt>
                <c:pt idx="36">
                  <c:v>87.5</c:v>
                </c:pt>
                <c:pt idx="37">
                  <c:v>100.0</c:v>
                </c:pt>
                <c:pt idx="38">
                  <c:v>83.3</c:v>
                </c:pt>
                <c:pt idx="39">
                  <c:v>100.0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Complétude %</c:v>
                </c:pt>
              </c:strCache>
            </c:strRef>
          </c:tx>
          <c:cat>
            <c:strRef>
              <c:f>Sheet1!$A$2:$A$41</c:f>
              <c:strCache>
                <c:ptCount val="40"/>
                <c:pt idx="0">
                  <c:v>Bita</c:v>
                </c:pt>
                <c:pt idx="1">
                  <c:v>Bu</c:v>
                </c:pt>
                <c:pt idx="2">
                  <c:v>Kikimi (Maluku 1)</c:v>
                </c:pt>
                <c:pt idx="3">
                  <c:v>Kimpoko</c:v>
                </c:pt>
                <c:pt idx="4">
                  <c:v>Kingankati</c:v>
                </c:pt>
                <c:pt idx="5">
                  <c:v>Kingankati 2</c:v>
                </c:pt>
                <c:pt idx="6">
                  <c:v>Maluku</c:v>
                </c:pt>
                <c:pt idx="7">
                  <c:v>Mangegenge</c:v>
                </c:pt>
                <c:pt idx="8">
                  <c:v>Mayindombe1</c:v>
                </c:pt>
                <c:pt idx="9">
                  <c:v>Mayindombe2</c:v>
                </c:pt>
                <c:pt idx="10">
                  <c:v>Menkao</c:v>
                </c:pt>
                <c:pt idx="11">
                  <c:v>Monako</c:v>
                </c:pt>
                <c:pt idx="12">
                  <c:v>Ngana</c:v>
                </c:pt>
                <c:pt idx="13">
                  <c:v>Nguma 1</c:v>
                </c:pt>
                <c:pt idx="14">
                  <c:v>Nguma 2</c:v>
                </c:pt>
                <c:pt idx="15">
                  <c:v>Bukana</c:v>
                </c:pt>
                <c:pt idx="16">
                  <c:v>Busira</c:v>
                </c:pt>
                <c:pt idx="17">
                  <c:v>Dumi</c:v>
                </c:pt>
                <c:pt idx="18">
                  <c:v>Kingawa</c:v>
                </c:pt>
                <c:pt idx="19">
                  <c:v>Kinguala</c:v>
                </c:pt>
                <c:pt idx="20">
                  <c:v>Mampu</c:v>
                </c:pt>
                <c:pt idx="21">
                  <c:v>Mbankana</c:v>
                </c:pt>
                <c:pt idx="22">
                  <c:v>Mbete</c:v>
                </c:pt>
                <c:pt idx="23">
                  <c:v>Mongata</c:v>
                </c:pt>
                <c:pt idx="24">
                  <c:v>Nkieme</c:v>
                </c:pt>
                <c:pt idx="25">
                  <c:v>Yoso</c:v>
                </c:pt>
                <c:pt idx="26">
                  <c:v>Yuo</c:v>
                </c:pt>
                <c:pt idx="27">
                  <c:v>Abattoire 1</c:v>
                </c:pt>
                <c:pt idx="28">
                  <c:v>Abattoire 2</c:v>
                </c:pt>
                <c:pt idx="29">
                  <c:v>Boba</c:v>
                </c:pt>
                <c:pt idx="30">
                  <c:v>Efoloko</c:v>
                </c:pt>
                <c:pt idx="31">
                  <c:v>Imbali</c:v>
                </c:pt>
                <c:pt idx="32">
                  <c:v>Kimbangu</c:v>
                </c:pt>
                <c:pt idx="33">
                  <c:v>Mfumu Nsuka 1</c:v>
                </c:pt>
                <c:pt idx="34">
                  <c:v>Mfumu Nsuka 2</c:v>
                </c:pt>
                <c:pt idx="35">
                  <c:v>Nzuzi Wa Mbombo</c:v>
                </c:pt>
                <c:pt idx="36">
                  <c:v>Sans Fils</c:v>
                </c:pt>
                <c:pt idx="37">
                  <c:v>Tshiangu</c:v>
                </c:pt>
                <c:pt idx="38">
                  <c:v>Télévision</c:v>
                </c:pt>
                <c:pt idx="39">
                  <c:v>Congo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100.0</c:v>
                </c:pt>
                <c:pt idx="12">
                  <c:v>100.0</c:v>
                </c:pt>
                <c:pt idx="13">
                  <c:v>100.0</c:v>
                </c:pt>
                <c:pt idx="14">
                  <c:v>100.0</c:v>
                </c:pt>
                <c:pt idx="15">
                  <c:v>100.0</c:v>
                </c:pt>
                <c:pt idx="16">
                  <c:v>100.0</c:v>
                </c:pt>
                <c:pt idx="17">
                  <c:v>100.0</c:v>
                </c:pt>
                <c:pt idx="18">
                  <c:v>75.0</c:v>
                </c:pt>
                <c:pt idx="19">
                  <c:v>100.0</c:v>
                </c:pt>
                <c:pt idx="20">
                  <c:v>75.0</c:v>
                </c:pt>
                <c:pt idx="21">
                  <c:v>100.0</c:v>
                </c:pt>
                <c:pt idx="22">
                  <c:v>75.0</c:v>
                </c:pt>
                <c:pt idx="23">
                  <c:v>100.0</c:v>
                </c:pt>
                <c:pt idx="24">
                  <c:v>100.0</c:v>
                </c:pt>
                <c:pt idx="25">
                  <c:v>100.0</c:v>
                </c:pt>
                <c:pt idx="26">
                  <c:v>100.0</c:v>
                </c:pt>
                <c:pt idx="27">
                  <c:v>100.0</c:v>
                </c:pt>
                <c:pt idx="28">
                  <c:v>100.0</c:v>
                </c:pt>
                <c:pt idx="29">
                  <c:v>100.0</c:v>
                </c:pt>
                <c:pt idx="30">
                  <c:v>100.0</c:v>
                </c:pt>
                <c:pt idx="31">
                  <c:v>100.0</c:v>
                </c:pt>
                <c:pt idx="32">
                  <c:v>100.0</c:v>
                </c:pt>
                <c:pt idx="33">
                  <c:v>100.0</c:v>
                </c:pt>
                <c:pt idx="34">
                  <c:v>100.0</c:v>
                </c:pt>
                <c:pt idx="35">
                  <c:v>100.0</c:v>
                </c:pt>
                <c:pt idx="36">
                  <c:v>100.0</c:v>
                </c:pt>
                <c:pt idx="37">
                  <c:v>100.0</c:v>
                </c:pt>
                <c:pt idx="38">
                  <c:v>100.0</c:v>
                </c:pt>
                <c:pt idx="39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Promptitude %</c:v>
                </c:pt>
              </c:strCache>
            </c:strRef>
          </c:tx>
          <c:cat>
            <c:strRef>
              <c:f>Sheet1!$A$2:$A$41</c:f>
              <c:strCache>
                <c:ptCount val="40"/>
                <c:pt idx="0">
                  <c:v>Bita</c:v>
                </c:pt>
                <c:pt idx="1">
                  <c:v>Bu</c:v>
                </c:pt>
                <c:pt idx="2">
                  <c:v>Kikimi (Maluku 1)</c:v>
                </c:pt>
                <c:pt idx="3">
                  <c:v>Kimpoko</c:v>
                </c:pt>
                <c:pt idx="4">
                  <c:v>Kingankati</c:v>
                </c:pt>
                <c:pt idx="5">
                  <c:v>Kingankati 2</c:v>
                </c:pt>
                <c:pt idx="6">
                  <c:v>Maluku</c:v>
                </c:pt>
                <c:pt idx="7">
                  <c:v>Mangegenge</c:v>
                </c:pt>
                <c:pt idx="8">
                  <c:v>Mayindombe1</c:v>
                </c:pt>
                <c:pt idx="9">
                  <c:v>Mayindombe2</c:v>
                </c:pt>
                <c:pt idx="10">
                  <c:v>Menkao</c:v>
                </c:pt>
                <c:pt idx="11">
                  <c:v>Monako</c:v>
                </c:pt>
                <c:pt idx="12">
                  <c:v>Ngana</c:v>
                </c:pt>
                <c:pt idx="13">
                  <c:v>Nguma 1</c:v>
                </c:pt>
                <c:pt idx="14">
                  <c:v>Nguma 2</c:v>
                </c:pt>
                <c:pt idx="15">
                  <c:v>Bukana</c:v>
                </c:pt>
                <c:pt idx="16">
                  <c:v>Busira</c:v>
                </c:pt>
                <c:pt idx="17">
                  <c:v>Dumi</c:v>
                </c:pt>
                <c:pt idx="18">
                  <c:v>Kingawa</c:v>
                </c:pt>
                <c:pt idx="19">
                  <c:v>Kinguala</c:v>
                </c:pt>
                <c:pt idx="20">
                  <c:v>Mampu</c:v>
                </c:pt>
                <c:pt idx="21">
                  <c:v>Mbankana</c:v>
                </c:pt>
                <c:pt idx="22">
                  <c:v>Mbete</c:v>
                </c:pt>
                <c:pt idx="23">
                  <c:v>Mongata</c:v>
                </c:pt>
                <c:pt idx="24">
                  <c:v>Nkieme</c:v>
                </c:pt>
                <c:pt idx="25">
                  <c:v>Yoso</c:v>
                </c:pt>
                <c:pt idx="26">
                  <c:v>Yuo</c:v>
                </c:pt>
                <c:pt idx="27">
                  <c:v>Abattoire 1</c:v>
                </c:pt>
                <c:pt idx="28">
                  <c:v>Abattoire 2</c:v>
                </c:pt>
                <c:pt idx="29">
                  <c:v>Boba</c:v>
                </c:pt>
                <c:pt idx="30">
                  <c:v>Efoloko</c:v>
                </c:pt>
                <c:pt idx="31">
                  <c:v>Imbali</c:v>
                </c:pt>
                <c:pt idx="32">
                  <c:v>Kimbangu</c:v>
                </c:pt>
                <c:pt idx="33">
                  <c:v>Mfumu Nsuka 1</c:v>
                </c:pt>
                <c:pt idx="34">
                  <c:v>Mfumu Nsuka 2</c:v>
                </c:pt>
                <c:pt idx="35">
                  <c:v>Nzuzi Wa Mbombo</c:v>
                </c:pt>
                <c:pt idx="36">
                  <c:v>Sans Fils</c:v>
                </c:pt>
                <c:pt idx="37">
                  <c:v>Tshiangu</c:v>
                </c:pt>
                <c:pt idx="38">
                  <c:v>Télévision</c:v>
                </c:pt>
                <c:pt idx="39">
                  <c:v>Congo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100.0</c:v>
                </c:pt>
                <c:pt idx="1">
                  <c:v>100.0</c:v>
                </c:pt>
                <c:pt idx="2">
                  <c:v>75.0</c:v>
                </c:pt>
                <c:pt idx="3">
                  <c:v>100.0</c:v>
                </c:pt>
                <c:pt idx="4">
                  <c:v>83.3</c:v>
                </c:pt>
                <c:pt idx="5">
                  <c:v>100.0</c:v>
                </c:pt>
                <c:pt idx="6">
                  <c:v>93.8</c:v>
                </c:pt>
                <c:pt idx="7">
                  <c:v>62.5</c:v>
                </c:pt>
                <c:pt idx="8">
                  <c:v>100.0</c:v>
                </c:pt>
                <c:pt idx="9">
                  <c:v>100.0</c:v>
                </c:pt>
                <c:pt idx="10">
                  <c:v>87.5</c:v>
                </c:pt>
                <c:pt idx="11">
                  <c:v>81.2</c:v>
                </c:pt>
                <c:pt idx="12">
                  <c:v>100.0</c:v>
                </c:pt>
                <c:pt idx="13">
                  <c:v>100.0</c:v>
                </c:pt>
                <c:pt idx="14">
                  <c:v>75.0</c:v>
                </c:pt>
                <c:pt idx="15">
                  <c:v>100.0</c:v>
                </c:pt>
                <c:pt idx="16">
                  <c:v>100.0</c:v>
                </c:pt>
                <c:pt idx="17">
                  <c:v>100.0</c:v>
                </c:pt>
                <c:pt idx="18">
                  <c:v>50.0</c:v>
                </c:pt>
                <c:pt idx="19">
                  <c:v>100.0</c:v>
                </c:pt>
                <c:pt idx="20">
                  <c:v>50.0</c:v>
                </c:pt>
                <c:pt idx="21">
                  <c:v>41.7</c:v>
                </c:pt>
                <c:pt idx="22">
                  <c:v>25.0</c:v>
                </c:pt>
                <c:pt idx="23">
                  <c:v>100.0</c:v>
                </c:pt>
                <c:pt idx="24">
                  <c:v>25.0</c:v>
                </c:pt>
                <c:pt idx="25">
                  <c:v>75.0</c:v>
                </c:pt>
                <c:pt idx="26">
                  <c:v>100.0</c:v>
                </c:pt>
                <c:pt idx="27">
                  <c:v>100.0</c:v>
                </c:pt>
                <c:pt idx="28">
                  <c:v>100.0</c:v>
                </c:pt>
                <c:pt idx="29">
                  <c:v>85.7</c:v>
                </c:pt>
                <c:pt idx="30">
                  <c:v>100.0</c:v>
                </c:pt>
                <c:pt idx="31">
                  <c:v>90.0</c:v>
                </c:pt>
                <c:pt idx="32">
                  <c:v>100.0</c:v>
                </c:pt>
                <c:pt idx="33">
                  <c:v>100.0</c:v>
                </c:pt>
                <c:pt idx="34">
                  <c:v>91.7</c:v>
                </c:pt>
                <c:pt idx="35">
                  <c:v>94.4</c:v>
                </c:pt>
                <c:pt idx="36">
                  <c:v>98.7</c:v>
                </c:pt>
                <c:pt idx="37">
                  <c:v>92.9</c:v>
                </c:pt>
                <c:pt idx="38">
                  <c:v>87.5</c:v>
                </c:pt>
                <c:pt idx="39">
                  <c:v>91.7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Complétude %</c:v>
                </c:pt>
              </c:strCache>
            </c:strRef>
          </c:tx>
          <c:cat>
            <c:strRef>
              <c:f>Sheet1!$A$2:$A$40</c:f>
              <c:strCache>
                <c:ptCount val="39"/>
                <c:pt idx="0">
                  <c:v>Kasai</c:v>
                </c:pt>
                <c:pt idx="1">
                  <c:v>Kivu</c:v>
                </c:pt>
                <c:pt idx="2">
                  <c:v>Lokari</c:v>
                </c:pt>
                <c:pt idx="3">
                  <c:v>Lubamba</c:v>
                </c:pt>
                <c:pt idx="4">
                  <c:v>Mafuta Kizola</c:v>
                </c:pt>
                <c:pt idx="5">
                  <c:v>Mandiangu</c:v>
                </c:pt>
                <c:pt idx="6">
                  <c:v>Mapela</c:v>
                </c:pt>
                <c:pt idx="7">
                  <c:v>Matadi</c:v>
                </c:pt>
                <c:pt idx="8">
                  <c:v>Pelende</c:v>
                </c:pt>
                <c:pt idx="9">
                  <c:v>Tshuenge</c:v>
                </c:pt>
                <c:pt idx="10">
                  <c:v>Quartier 1</c:v>
                </c:pt>
                <c:pt idx="11">
                  <c:v>Quartier 10</c:v>
                </c:pt>
                <c:pt idx="12">
                  <c:v>Quartier 11</c:v>
                </c:pt>
                <c:pt idx="13">
                  <c:v>Quartier 12</c:v>
                </c:pt>
                <c:pt idx="14">
                  <c:v>Quartier 13 A</c:v>
                </c:pt>
                <c:pt idx="15">
                  <c:v>Quartier 13 B</c:v>
                </c:pt>
                <c:pt idx="16">
                  <c:v>Quartier 2</c:v>
                </c:pt>
                <c:pt idx="17">
                  <c:v>Quartier 3</c:v>
                </c:pt>
                <c:pt idx="18">
                  <c:v>Quartier 4</c:v>
                </c:pt>
                <c:pt idx="19">
                  <c:v>Quartier 5</c:v>
                </c:pt>
                <c:pt idx="20">
                  <c:v>Quartier 6</c:v>
                </c:pt>
                <c:pt idx="21">
                  <c:v>Quartier 7</c:v>
                </c:pt>
                <c:pt idx="22">
                  <c:v>Quartier 8</c:v>
                </c:pt>
                <c:pt idx="23">
                  <c:v>Quartier 9</c:v>
                </c:pt>
                <c:pt idx="24">
                  <c:v>Badara</c:v>
                </c:pt>
                <c:pt idx="25">
                  <c:v>Bahumbu 1</c:v>
                </c:pt>
                <c:pt idx="26">
                  <c:v>Bahumbu 2</c:v>
                </c:pt>
                <c:pt idx="27">
                  <c:v>Bibwa</c:v>
                </c:pt>
                <c:pt idx="28">
                  <c:v>Buma</c:v>
                </c:pt>
                <c:pt idx="29">
                  <c:v>Dingidingi</c:v>
                </c:pt>
                <c:pt idx="30">
                  <c:v>Fleuve</c:v>
                </c:pt>
                <c:pt idx="31">
                  <c:v>Kindobo</c:v>
                </c:pt>
                <c:pt idx="32">
                  <c:v>Mikala</c:v>
                </c:pt>
                <c:pt idx="33">
                  <c:v>Mikondo (Nsele)</c:v>
                </c:pt>
                <c:pt idx="34">
                  <c:v>Mikonga</c:v>
                </c:pt>
                <c:pt idx="35">
                  <c:v>Mpasa 1</c:v>
                </c:pt>
                <c:pt idx="36">
                  <c:v>Mpasa 2</c:v>
                </c:pt>
                <c:pt idx="37">
                  <c:v>Nsele</c:v>
                </c:pt>
                <c:pt idx="38">
                  <c:v>Pecheur</c:v>
                </c:pt>
              </c:strCache>
            </c:strRef>
          </c:cat>
          <c:val>
            <c:numRef>
              <c:f>Sheet1!$B$2:$B$40</c:f>
              <c:numCache>
                <c:formatCode>General</c:formatCode>
                <c:ptCount val="39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100.0</c:v>
                </c:pt>
                <c:pt idx="12">
                  <c:v>100.0</c:v>
                </c:pt>
                <c:pt idx="13">
                  <c:v>100.0</c:v>
                </c:pt>
                <c:pt idx="14">
                  <c:v>100.0</c:v>
                </c:pt>
                <c:pt idx="15">
                  <c:v>100.0</c:v>
                </c:pt>
                <c:pt idx="16">
                  <c:v>100.0</c:v>
                </c:pt>
                <c:pt idx="17">
                  <c:v>100.0</c:v>
                </c:pt>
                <c:pt idx="18">
                  <c:v>100.0</c:v>
                </c:pt>
                <c:pt idx="19">
                  <c:v>100.0</c:v>
                </c:pt>
                <c:pt idx="20">
                  <c:v>100.0</c:v>
                </c:pt>
                <c:pt idx="21">
                  <c:v>100.0</c:v>
                </c:pt>
                <c:pt idx="22">
                  <c:v>100.0</c:v>
                </c:pt>
                <c:pt idx="23">
                  <c:v>100.0</c:v>
                </c:pt>
                <c:pt idx="24">
                  <c:v>100.0</c:v>
                </c:pt>
                <c:pt idx="25">
                  <c:v>100.0</c:v>
                </c:pt>
                <c:pt idx="26">
                  <c:v>100.0</c:v>
                </c:pt>
                <c:pt idx="27">
                  <c:v>100.0</c:v>
                </c:pt>
                <c:pt idx="28">
                  <c:v>100.0</c:v>
                </c:pt>
                <c:pt idx="29">
                  <c:v>100.0</c:v>
                </c:pt>
                <c:pt idx="30">
                  <c:v>100.0</c:v>
                </c:pt>
                <c:pt idx="31">
                  <c:v>100.0</c:v>
                </c:pt>
                <c:pt idx="32">
                  <c:v>100.0</c:v>
                </c:pt>
                <c:pt idx="33">
                  <c:v>100.0</c:v>
                </c:pt>
                <c:pt idx="34">
                  <c:v>100.0</c:v>
                </c:pt>
                <c:pt idx="35">
                  <c:v>100.0</c:v>
                </c:pt>
                <c:pt idx="36">
                  <c:v>100.0</c:v>
                </c:pt>
                <c:pt idx="37">
                  <c:v>100.0</c:v>
                </c:pt>
                <c:pt idx="38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Promptitude %</c:v>
                </c:pt>
              </c:strCache>
            </c:strRef>
          </c:tx>
          <c:cat>
            <c:strRef>
              <c:f>Sheet1!$A$2:$A$40</c:f>
              <c:strCache>
                <c:ptCount val="39"/>
                <c:pt idx="0">
                  <c:v>Kasai</c:v>
                </c:pt>
                <c:pt idx="1">
                  <c:v>Kivu</c:v>
                </c:pt>
                <c:pt idx="2">
                  <c:v>Lokari</c:v>
                </c:pt>
                <c:pt idx="3">
                  <c:v>Lubamba</c:v>
                </c:pt>
                <c:pt idx="4">
                  <c:v>Mafuta Kizola</c:v>
                </c:pt>
                <c:pt idx="5">
                  <c:v>Mandiangu</c:v>
                </c:pt>
                <c:pt idx="6">
                  <c:v>Mapela</c:v>
                </c:pt>
                <c:pt idx="7">
                  <c:v>Matadi</c:v>
                </c:pt>
                <c:pt idx="8">
                  <c:v>Pelende</c:v>
                </c:pt>
                <c:pt idx="9">
                  <c:v>Tshuenge</c:v>
                </c:pt>
                <c:pt idx="10">
                  <c:v>Quartier 1</c:v>
                </c:pt>
                <c:pt idx="11">
                  <c:v>Quartier 10</c:v>
                </c:pt>
                <c:pt idx="12">
                  <c:v>Quartier 11</c:v>
                </c:pt>
                <c:pt idx="13">
                  <c:v>Quartier 12</c:v>
                </c:pt>
                <c:pt idx="14">
                  <c:v>Quartier 13 A</c:v>
                </c:pt>
                <c:pt idx="15">
                  <c:v>Quartier 13 B</c:v>
                </c:pt>
                <c:pt idx="16">
                  <c:v>Quartier 2</c:v>
                </c:pt>
                <c:pt idx="17">
                  <c:v>Quartier 3</c:v>
                </c:pt>
                <c:pt idx="18">
                  <c:v>Quartier 4</c:v>
                </c:pt>
                <c:pt idx="19">
                  <c:v>Quartier 5</c:v>
                </c:pt>
                <c:pt idx="20">
                  <c:v>Quartier 6</c:v>
                </c:pt>
                <c:pt idx="21">
                  <c:v>Quartier 7</c:v>
                </c:pt>
                <c:pt idx="22">
                  <c:v>Quartier 8</c:v>
                </c:pt>
                <c:pt idx="23">
                  <c:v>Quartier 9</c:v>
                </c:pt>
                <c:pt idx="24">
                  <c:v>Badara</c:v>
                </c:pt>
                <c:pt idx="25">
                  <c:v>Bahumbu 1</c:v>
                </c:pt>
                <c:pt idx="26">
                  <c:v>Bahumbu 2</c:v>
                </c:pt>
                <c:pt idx="27">
                  <c:v>Bibwa</c:v>
                </c:pt>
                <c:pt idx="28">
                  <c:v>Buma</c:v>
                </c:pt>
                <c:pt idx="29">
                  <c:v>Dingidingi</c:v>
                </c:pt>
                <c:pt idx="30">
                  <c:v>Fleuve</c:v>
                </c:pt>
                <c:pt idx="31">
                  <c:v>Kindobo</c:v>
                </c:pt>
                <c:pt idx="32">
                  <c:v>Mikala</c:v>
                </c:pt>
                <c:pt idx="33">
                  <c:v>Mikondo (Nsele)</c:v>
                </c:pt>
                <c:pt idx="34">
                  <c:v>Mikonga</c:v>
                </c:pt>
                <c:pt idx="35">
                  <c:v>Mpasa 1</c:v>
                </c:pt>
                <c:pt idx="36">
                  <c:v>Mpasa 2</c:v>
                </c:pt>
                <c:pt idx="37">
                  <c:v>Nsele</c:v>
                </c:pt>
                <c:pt idx="38">
                  <c:v>Pecheur</c:v>
                </c:pt>
              </c:strCache>
            </c:strRef>
          </c:cat>
          <c:val>
            <c:numRef>
              <c:f>Sheet1!$C$2:$C$40</c:f>
              <c:numCache>
                <c:formatCode>General</c:formatCode>
                <c:ptCount val="39"/>
                <c:pt idx="0">
                  <c:v>100.0</c:v>
                </c:pt>
                <c:pt idx="1">
                  <c:v>95.0</c:v>
                </c:pt>
                <c:pt idx="2">
                  <c:v>89.3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97.5</c:v>
                </c:pt>
                <c:pt idx="8">
                  <c:v>93.8</c:v>
                </c:pt>
                <c:pt idx="9">
                  <c:v>83.8</c:v>
                </c:pt>
                <c:pt idx="10">
                  <c:v>100.0</c:v>
                </c:pt>
                <c:pt idx="11">
                  <c:v>100.0</c:v>
                </c:pt>
                <c:pt idx="12">
                  <c:v>100.0</c:v>
                </c:pt>
                <c:pt idx="13">
                  <c:v>100.0</c:v>
                </c:pt>
                <c:pt idx="14">
                  <c:v>100.0</c:v>
                </c:pt>
                <c:pt idx="15">
                  <c:v>100.0</c:v>
                </c:pt>
                <c:pt idx="16">
                  <c:v>100.0</c:v>
                </c:pt>
                <c:pt idx="17">
                  <c:v>100.0</c:v>
                </c:pt>
                <c:pt idx="18">
                  <c:v>100.0</c:v>
                </c:pt>
                <c:pt idx="19">
                  <c:v>100.0</c:v>
                </c:pt>
                <c:pt idx="20">
                  <c:v>100.0</c:v>
                </c:pt>
                <c:pt idx="21">
                  <c:v>100.0</c:v>
                </c:pt>
                <c:pt idx="22">
                  <c:v>100.0</c:v>
                </c:pt>
                <c:pt idx="23">
                  <c:v>100.0</c:v>
                </c:pt>
                <c:pt idx="24">
                  <c:v>100.0</c:v>
                </c:pt>
                <c:pt idx="25">
                  <c:v>80.7</c:v>
                </c:pt>
                <c:pt idx="26">
                  <c:v>87.5</c:v>
                </c:pt>
                <c:pt idx="27">
                  <c:v>83.3</c:v>
                </c:pt>
                <c:pt idx="28">
                  <c:v>100.0</c:v>
                </c:pt>
                <c:pt idx="29">
                  <c:v>100.0</c:v>
                </c:pt>
                <c:pt idx="30">
                  <c:v>100.0</c:v>
                </c:pt>
                <c:pt idx="31">
                  <c:v>100.0</c:v>
                </c:pt>
                <c:pt idx="32">
                  <c:v>91.7</c:v>
                </c:pt>
                <c:pt idx="33">
                  <c:v>87.5</c:v>
                </c:pt>
                <c:pt idx="34">
                  <c:v>92.9</c:v>
                </c:pt>
                <c:pt idx="35">
                  <c:v>83.3</c:v>
                </c:pt>
                <c:pt idx="36">
                  <c:v>77.1</c:v>
                </c:pt>
                <c:pt idx="37">
                  <c:v>100.0</c:v>
                </c:pt>
                <c:pt idx="38">
                  <c:v>100.0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Enfants ZD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Biyela</c:v>
                </c:pt>
                <c:pt idx="1">
                  <c:v>Kikimi</c:v>
                </c:pt>
                <c:pt idx="2">
                  <c:v>Kimbanseke</c:v>
                </c:pt>
                <c:pt idx="3">
                  <c:v>Kingasani</c:v>
                </c:pt>
                <c:pt idx="4">
                  <c:v>Maluku 1</c:v>
                </c:pt>
                <c:pt idx="5">
                  <c:v>Maluku 2</c:v>
                </c:pt>
                <c:pt idx="6">
                  <c:v>Masina 1</c:v>
                </c:pt>
                <c:pt idx="7">
                  <c:v>Masina 2</c:v>
                </c:pt>
                <c:pt idx="8">
                  <c:v>Ndjili</c:v>
                </c:pt>
                <c:pt idx="9">
                  <c:v>Nsele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440</c:v>
                </c:pt>
                <c:pt idx="1">
                  <c:v>184</c:v>
                </c:pt>
                <c:pt idx="2">
                  <c:v>602</c:v>
                </c:pt>
                <c:pt idx="3">
                  <c:v>1021</c:v>
                </c:pt>
                <c:pt idx="4">
                  <c:v>137</c:v>
                </c:pt>
                <c:pt idx="5">
                  <c:v>433</c:v>
                </c:pt>
                <c:pt idx="6">
                  <c:v>475</c:v>
                </c:pt>
                <c:pt idx="7">
                  <c:v>734</c:v>
                </c:pt>
                <c:pt idx="8">
                  <c:v>1190</c:v>
                </c:pt>
                <c:pt idx="9">
                  <c:v>967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Enfants SV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Biyela</c:v>
                </c:pt>
                <c:pt idx="1">
                  <c:v>Kikimi</c:v>
                </c:pt>
                <c:pt idx="2">
                  <c:v>Kimbanseke</c:v>
                </c:pt>
                <c:pt idx="3">
                  <c:v>Kingasani</c:v>
                </c:pt>
                <c:pt idx="4">
                  <c:v>Maluku 1</c:v>
                </c:pt>
                <c:pt idx="5">
                  <c:v>Maluku 2</c:v>
                </c:pt>
                <c:pt idx="6">
                  <c:v>Masina 1</c:v>
                </c:pt>
                <c:pt idx="7">
                  <c:v>Masina 2</c:v>
                </c:pt>
                <c:pt idx="8">
                  <c:v>Ndjili</c:v>
                </c:pt>
                <c:pt idx="9">
                  <c:v>Nsele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763</c:v>
                </c:pt>
                <c:pt idx="1">
                  <c:v>380</c:v>
                </c:pt>
                <c:pt idx="2">
                  <c:v>760</c:v>
                </c:pt>
                <c:pt idx="3">
                  <c:v>1204</c:v>
                </c:pt>
                <c:pt idx="4">
                  <c:v>296</c:v>
                </c:pt>
                <c:pt idx="5">
                  <c:v>448</c:v>
                </c:pt>
                <c:pt idx="6">
                  <c:v>630</c:v>
                </c:pt>
                <c:pt idx="7">
                  <c:v>895</c:v>
                </c:pt>
                <c:pt idx="8">
                  <c:v>1378</c:v>
                </c:pt>
                <c:pt idx="9">
                  <c:v>1048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Enfants ZD</c:v>
                </c:pt>
              </c:strCache>
            </c:strRef>
          </c:tx>
          <c:cat>
            <c:strRef>
              <c:f>Sheet1!$A$2:$A$41</c:f>
              <c:strCache>
                <c:ptCount val="40"/>
                <c:pt idx="0">
                  <c:v>Batumuna</c:v>
                </c:pt>
                <c:pt idx="1">
                  <c:v>Biyela</c:v>
                </c:pt>
                <c:pt idx="2">
                  <c:v>Kamba Mulumba</c:v>
                </c:pt>
                <c:pt idx="3">
                  <c:v>Kisantu</c:v>
                </c:pt>
                <c:pt idx="4">
                  <c:v>Luebo 1</c:v>
                </c:pt>
                <c:pt idx="5">
                  <c:v>Luebo 2</c:v>
                </c:pt>
                <c:pt idx="6">
                  <c:v>Malonda 1</c:v>
                </c:pt>
                <c:pt idx="7">
                  <c:v>Malonda 2</c:v>
                </c:pt>
                <c:pt idx="8">
                  <c:v>Mokali</c:v>
                </c:pt>
                <c:pt idx="9">
                  <c:v>Sakombi 1</c:v>
                </c:pt>
                <c:pt idx="10">
                  <c:v>Sakombi 2</c:v>
                </c:pt>
                <c:pt idx="11">
                  <c:v>Bisengo Mwambe</c:v>
                </c:pt>
                <c:pt idx="12">
                  <c:v>Bosembo</c:v>
                </c:pt>
                <c:pt idx="13">
                  <c:v>Cité De L'Espoir</c:v>
                </c:pt>
                <c:pt idx="14">
                  <c:v>Kikimi (Kikimi)</c:v>
                </c:pt>
                <c:pt idx="15">
                  <c:v>Lobiko</c:v>
                </c:pt>
                <c:pt idx="16">
                  <c:v>Marechal</c:v>
                </c:pt>
                <c:pt idx="17">
                  <c:v>Mfumu Nketo</c:v>
                </c:pt>
                <c:pt idx="18">
                  <c:v>Mikondo (Kikimi)</c:v>
                </c:pt>
                <c:pt idx="19">
                  <c:v>Ngampani</c:v>
                </c:pt>
                <c:pt idx="20">
                  <c:v>Bahumbu</c:v>
                </c:pt>
                <c:pt idx="21">
                  <c:v>Bamboma</c:v>
                </c:pt>
                <c:pt idx="22">
                  <c:v>Boma</c:v>
                </c:pt>
                <c:pt idx="23">
                  <c:v>Esanga</c:v>
                </c:pt>
                <c:pt idx="24">
                  <c:v>Kimfuta</c:v>
                </c:pt>
                <c:pt idx="25">
                  <c:v>Kutu</c:v>
                </c:pt>
                <c:pt idx="26">
                  <c:v>Mangana</c:v>
                </c:pt>
                <c:pt idx="27">
                  <c:v>Maviokele</c:v>
                </c:pt>
                <c:pt idx="28">
                  <c:v>Mbuala</c:v>
                </c:pt>
                <c:pt idx="29">
                  <c:v>Nsumabua</c:v>
                </c:pt>
                <c:pt idx="30">
                  <c:v>Salongo</c:v>
                </c:pt>
                <c:pt idx="31">
                  <c:v>17 Mai</c:v>
                </c:pt>
                <c:pt idx="32">
                  <c:v>Atandele</c:v>
                </c:pt>
                <c:pt idx="33">
                  <c:v>Kingasani</c:v>
                </c:pt>
                <c:pt idx="34">
                  <c:v>Lisanga</c:v>
                </c:pt>
                <c:pt idx="35">
                  <c:v>Molende</c:v>
                </c:pt>
                <c:pt idx="36">
                  <c:v>Mulie</c:v>
                </c:pt>
                <c:pt idx="37">
                  <c:v>Nsanga</c:v>
                </c:pt>
                <c:pt idx="38">
                  <c:v>St Paul</c:v>
                </c:pt>
                <c:pt idx="39">
                  <c:v>Basuku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51</c:v>
                </c:pt>
                <c:pt idx="1">
                  <c:v>55</c:v>
                </c:pt>
                <c:pt idx="2">
                  <c:v>105</c:v>
                </c:pt>
                <c:pt idx="3">
                  <c:v>36</c:v>
                </c:pt>
                <c:pt idx="4">
                  <c:v>91</c:v>
                </c:pt>
                <c:pt idx="5">
                  <c:v>14</c:v>
                </c:pt>
                <c:pt idx="6">
                  <c:v>0</c:v>
                </c:pt>
                <c:pt idx="7">
                  <c:v>24</c:v>
                </c:pt>
                <c:pt idx="8">
                  <c:v>39</c:v>
                </c:pt>
                <c:pt idx="9">
                  <c:v>21</c:v>
                </c:pt>
                <c:pt idx="10">
                  <c:v>4</c:v>
                </c:pt>
                <c:pt idx="11">
                  <c:v>48</c:v>
                </c:pt>
                <c:pt idx="12">
                  <c:v>27</c:v>
                </c:pt>
                <c:pt idx="13">
                  <c:v>3</c:v>
                </c:pt>
                <c:pt idx="14">
                  <c:v>42</c:v>
                </c:pt>
                <c:pt idx="15">
                  <c:v>52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13</c:v>
                </c:pt>
                <c:pt idx="20">
                  <c:v>47</c:v>
                </c:pt>
                <c:pt idx="21">
                  <c:v>0</c:v>
                </c:pt>
                <c:pt idx="22">
                  <c:v>106</c:v>
                </c:pt>
                <c:pt idx="23">
                  <c:v>177</c:v>
                </c:pt>
                <c:pt idx="24">
                  <c:v>0</c:v>
                </c:pt>
                <c:pt idx="25">
                  <c:v>11</c:v>
                </c:pt>
                <c:pt idx="26">
                  <c:v>137</c:v>
                </c:pt>
                <c:pt idx="27">
                  <c:v>0</c:v>
                </c:pt>
                <c:pt idx="28">
                  <c:v>1</c:v>
                </c:pt>
                <c:pt idx="29">
                  <c:v>124</c:v>
                </c:pt>
                <c:pt idx="30">
                  <c:v>0</c:v>
                </c:pt>
                <c:pt idx="31">
                  <c:v>1</c:v>
                </c:pt>
                <c:pt idx="32">
                  <c:v>53</c:v>
                </c:pt>
                <c:pt idx="33">
                  <c:v>50</c:v>
                </c:pt>
                <c:pt idx="34">
                  <c:v>150</c:v>
                </c:pt>
                <c:pt idx="35">
                  <c:v>274</c:v>
                </c:pt>
                <c:pt idx="36">
                  <c:v>226</c:v>
                </c:pt>
                <c:pt idx="37">
                  <c:v>194</c:v>
                </c:pt>
                <c:pt idx="38">
                  <c:v>74</c:v>
                </c:pt>
                <c:pt idx="39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Enfants SV</c:v>
                </c:pt>
              </c:strCache>
            </c:strRef>
          </c:tx>
          <c:cat>
            <c:strRef>
              <c:f>Sheet1!$A$2:$A$41</c:f>
              <c:strCache>
                <c:ptCount val="40"/>
                <c:pt idx="0">
                  <c:v>Batumuna</c:v>
                </c:pt>
                <c:pt idx="1">
                  <c:v>Biyela</c:v>
                </c:pt>
                <c:pt idx="2">
                  <c:v>Kamba Mulumba</c:v>
                </c:pt>
                <c:pt idx="3">
                  <c:v>Kisantu</c:v>
                </c:pt>
                <c:pt idx="4">
                  <c:v>Luebo 1</c:v>
                </c:pt>
                <c:pt idx="5">
                  <c:v>Luebo 2</c:v>
                </c:pt>
                <c:pt idx="6">
                  <c:v>Malonda 1</c:v>
                </c:pt>
                <c:pt idx="7">
                  <c:v>Malonda 2</c:v>
                </c:pt>
                <c:pt idx="8">
                  <c:v>Mokali</c:v>
                </c:pt>
                <c:pt idx="9">
                  <c:v>Sakombi 1</c:v>
                </c:pt>
                <c:pt idx="10">
                  <c:v>Sakombi 2</c:v>
                </c:pt>
                <c:pt idx="11">
                  <c:v>Bisengo Mwambe</c:v>
                </c:pt>
                <c:pt idx="12">
                  <c:v>Bosembo</c:v>
                </c:pt>
                <c:pt idx="13">
                  <c:v>Cité De L'Espoir</c:v>
                </c:pt>
                <c:pt idx="14">
                  <c:v>Kikimi (Kikimi)</c:v>
                </c:pt>
                <c:pt idx="15">
                  <c:v>Lobiko</c:v>
                </c:pt>
                <c:pt idx="16">
                  <c:v>Marechal</c:v>
                </c:pt>
                <c:pt idx="17">
                  <c:v>Mfumu Nketo</c:v>
                </c:pt>
                <c:pt idx="18">
                  <c:v>Mikondo (Kikimi)</c:v>
                </c:pt>
                <c:pt idx="19">
                  <c:v>Ngampani</c:v>
                </c:pt>
                <c:pt idx="20">
                  <c:v>Bahumbu</c:v>
                </c:pt>
                <c:pt idx="21">
                  <c:v>Bamboma</c:v>
                </c:pt>
                <c:pt idx="22">
                  <c:v>Boma</c:v>
                </c:pt>
                <c:pt idx="23">
                  <c:v>Esanga</c:v>
                </c:pt>
                <c:pt idx="24">
                  <c:v>Kimfuta</c:v>
                </c:pt>
                <c:pt idx="25">
                  <c:v>Kutu</c:v>
                </c:pt>
                <c:pt idx="26">
                  <c:v>Mangana</c:v>
                </c:pt>
                <c:pt idx="27">
                  <c:v>Maviokele</c:v>
                </c:pt>
                <c:pt idx="28">
                  <c:v>Mbuala</c:v>
                </c:pt>
                <c:pt idx="29">
                  <c:v>Nsumabua</c:v>
                </c:pt>
                <c:pt idx="30">
                  <c:v>Salongo</c:v>
                </c:pt>
                <c:pt idx="31">
                  <c:v>17 Mai</c:v>
                </c:pt>
                <c:pt idx="32">
                  <c:v>Atandele</c:v>
                </c:pt>
                <c:pt idx="33">
                  <c:v>Kingasani</c:v>
                </c:pt>
                <c:pt idx="34">
                  <c:v>Lisanga</c:v>
                </c:pt>
                <c:pt idx="35">
                  <c:v>Molende</c:v>
                </c:pt>
                <c:pt idx="36">
                  <c:v>Mulie</c:v>
                </c:pt>
                <c:pt idx="37">
                  <c:v>Nsanga</c:v>
                </c:pt>
                <c:pt idx="38">
                  <c:v>St Paul</c:v>
                </c:pt>
                <c:pt idx="39">
                  <c:v>Basuku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118</c:v>
                </c:pt>
                <c:pt idx="1">
                  <c:v>92</c:v>
                </c:pt>
                <c:pt idx="2">
                  <c:v>151</c:v>
                </c:pt>
                <c:pt idx="3">
                  <c:v>70</c:v>
                </c:pt>
                <c:pt idx="4">
                  <c:v>104</c:v>
                </c:pt>
                <c:pt idx="5">
                  <c:v>43</c:v>
                </c:pt>
                <c:pt idx="6">
                  <c:v>9</c:v>
                </c:pt>
                <c:pt idx="7">
                  <c:v>76</c:v>
                </c:pt>
                <c:pt idx="8">
                  <c:v>17</c:v>
                </c:pt>
                <c:pt idx="9">
                  <c:v>49</c:v>
                </c:pt>
                <c:pt idx="10">
                  <c:v>34</c:v>
                </c:pt>
                <c:pt idx="11">
                  <c:v>48</c:v>
                </c:pt>
                <c:pt idx="12">
                  <c:v>73</c:v>
                </c:pt>
                <c:pt idx="13">
                  <c:v>4</c:v>
                </c:pt>
                <c:pt idx="14">
                  <c:v>105</c:v>
                </c:pt>
                <c:pt idx="15">
                  <c:v>114</c:v>
                </c:pt>
                <c:pt idx="16">
                  <c:v>0</c:v>
                </c:pt>
                <c:pt idx="17">
                  <c:v>0</c:v>
                </c:pt>
                <c:pt idx="18">
                  <c:v>13</c:v>
                </c:pt>
                <c:pt idx="19">
                  <c:v>23</c:v>
                </c:pt>
                <c:pt idx="20">
                  <c:v>51</c:v>
                </c:pt>
                <c:pt idx="21">
                  <c:v>0</c:v>
                </c:pt>
                <c:pt idx="22">
                  <c:v>112</c:v>
                </c:pt>
                <c:pt idx="23">
                  <c:v>183</c:v>
                </c:pt>
                <c:pt idx="24">
                  <c:v>87</c:v>
                </c:pt>
                <c:pt idx="25">
                  <c:v>28</c:v>
                </c:pt>
                <c:pt idx="26">
                  <c:v>151</c:v>
                </c:pt>
                <c:pt idx="27">
                  <c:v>0</c:v>
                </c:pt>
                <c:pt idx="28">
                  <c:v>11</c:v>
                </c:pt>
                <c:pt idx="29">
                  <c:v>137</c:v>
                </c:pt>
                <c:pt idx="30">
                  <c:v>0</c:v>
                </c:pt>
                <c:pt idx="31">
                  <c:v>11</c:v>
                </c:pt>
                <c:pt idx="32">
                  <c:v>53</c:v>
                </c:pt>
                <c:pt idx="33">
                  <c:v>73</c:v>
                </c:pt>
                <c:pt idx="34">
                  <c:v>126</c:v>
                </c:pt>
                <c:pt idx="35">
                  <c:v>382</c:v>
                </c:pt>
                <c:pt idx="36">
                  <c:v>238</c:v>
                </c:pt>
                <c:pt idx="37">
                  <c:v>216</c:v>
                </c:pt>
                <c:pt idx="38">
                  <c:v>107</c:v>
                </c:pt>
                <c:pt idx="39">
                  <c:v>16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Enfants ZD</c:v>
                </c:pt>
              </c:strCache>
            </c:strRef>
          </c:tx>
          <c:cat>
            <c:strRef>
              <c:f>Sheet1!$A$2:$A$41</c:f>
              <c:strCache>
                <c:ptCount val="40"/>
                <c:pt idx="0">
                  <c:v>Bita</c:v>
                </c:pt>
                <c:pt idx="1">
                  <c:v>Bu</c:v>
                </c:pt>
                <c:pt idx="2">
                  <c:v>Kikimi (Maluku 1)</c:v>
                </c:pt>
                <c:pt idx="3">
                  <c:v>Kimpoko</c:v>
                </c:pt>
                <c:pt idx="4">
                  <c:v>Kingankati</c:v>
                </c:pt>
                <c:pt idx="5">
                  <c:v>Kingankati 2</c:v>
                </c:pt>
                <c:pt idx="6">
                  <c:v>Maluku</c:v>
                </c:pt>
                <c:pt idx="7">
                  <c:v>Mangegenge</c:v>
                </c:pt>
                <c:pt idx="8">
                  <c:v>Mayindombe1</c:v>
                </c:pt>
                <c:pt idx="9">
                  <c:v>Mayindombe2</c:v>
                </c:pt>
                <c:pt idx="10">
                  <c:v>Menkao</c:v>
                </c:pt>
                <c:pt idx="11">
                  <c:v>Monako</c:v>
                </c:pt>
                <c:pt idx="12">
                  <c:v>Ngana</c:v>
                </c:pt>
                <c:pt idx="13">
                  <c:v>Nguma 1</c:v>
                </c:pt>
                <c:pt idx="14">
                  <c:v>Nguma 2</c:v>
                </c:pt>
                <c:pt idx="15">
                  <c:v>Bukana</c:v>
                </c:pt>
                <c:pt idx="16">
                  <c:v>Busira</c:v>
                </c:pt>
                <c:pt idx="17">
                  <c:v>Dumi</c:v>
                </c:pt>
                <c:pt idx="18">
                  <c:v>Kingawa</c:v>
                </c:pt>
                <c:pt idx="19">
                  <c:v>Kinguala</c:v>
                </c:pt>
                <c:pt idx="20">
                  <c:v>Mampu</c:v>
                </c:pt>
                <c:pt idx="21">
                  <c:v>Mbankana</c:v>
                </c:pt>
                <c:pt idx="22">
                  <c:v>Mbete</c:v>
                </c:pt>
                <c:pt idx="23">
                  <c:v>Mongata</c:v>
                </c:pt>
                <c:pt idx="24">
                  <c:v>Nkieme</c:v>
                </c:pt>
                <c:pt idx="25">
                  <c:v>Yoso</c:v>
                </c:pt>
                <c:pt idx="26">
                  <c:v>Yuo</c:v>
                </c:pt>
                <c:pt idx="27">
                  <c:v>Abattoire 1</c:v>
                </c:pt>
                <c:pt idx="28">
                  <c:v>Abattoire 2</c:v>
                </c:pt>
                <c:pt idx="29">
                  <c:v>Boba</c:v>
                </c:pt>
                <c:pt idx="30">
                  <c:v>Efoloko</c:v>
                </c:pt>
                <c:pt idx="31">
                  <c:v>Imbali</c:v>
                </c:pt>
                <c:pt idx="32">
                  <c:v>Kimbangu</c:v>
                </c:pt>
                <c:pt idx="33">
                  <c:v>Mfumu Nsuka 1</c:v>
                </c:pt>
                <c:pt idx="34">
                  <c:v>Mfumu Nsuka 2</c:v>
                </c:pt>
                <c:pt idx="35">
                  <c:v>Nzuzi Wa Mbombo</c:v>
                </c:pt>
                <c:pt idx="36">
                  <c:v>Sans Fils</c:v>
                </c:pt>
                <c:pt idx="37">
                  <c:v>Tshiangu</c:v>
                </c:pt>
                <c:pt idx="38">
                  <c:v>Télévision</c:v>
                </c:pt>
                <c:pt idx="39">
                  <c:v>Congo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38</c:v>
                </c:pt>
                <c:pt idx="4">
                  <c:v>0</c:v>
                </c:pt>
                <c:pt idx="5">
                  <c:v>51</c:v>
                </c:pt>
                <c:pt idx="6">
                  <c:v>0</c:v>
                </c:pt>
                <c:pt idx="7">
                  <c:v>1</c:v>
                </c:pt>
                <c:pt idx="8">
                  <c:v>12</c:v>
                </c:pt>
                <c:pt idx="9">
                  <c:v>6</c:v>
                </c:pt>
                <c:pt idx="10">
                  <c:v>0</c:v>
                </c:pt>
                <c:pt idx="11">
                  <c:v>0</c:v>
                </c:pt>
                <c:pt idx="12">
                  <c:v>6</c:v>
                </c:pt>
                <c:pt idx="13">
                  <c:v>0</c:v>
                </c:pt>
                <c:pt idx="14">
                  <c:v>4</c:v>
                </c:pt>
                <c:pt idx="15">
                  <c:v>7</c:v>
                </c:pt>
                <c:pt idx="16">
                  <c:v>14</c:v>
                </c:pt>
                <c:pt idx="17">
                  <c:v>0</c:v>
                </c:pt>
                <c:pt idx="18">
                  <c:v>15</c:v>
                </c:pt>
                <c:pt idx="19">
                  <c:v>10</c:v>
                </c:pt>
                <c:pt idx="20">
                  <c:v>120</c:v>
                </c:pt>
                <c:pt idx="21">
                  <c:v>0</c:v>
                </c:pt>
                <c:pt idx="22">
                  <c:v>4</c:v>
                </c:pt>
                <c:pt idx="23">
                  <c:v>85</c:v>
                </c:pt>
                <c:pt idx="24">
                  <c:v>118</c:v>
                </c:pt>
                <c:pt idx="25">
                  <c:v>59</c:v>
                </c:pt>
                <c:pt idx="26">
                  <c:v>2</c:v>
                </c:pt>
                <c:pt idx="27">
                  <c:v>88</c:v>
                </c:pt>
                <c:pt idx="28">
                  <c:v>98</c:v>
                </c:pt>
                <c:pt idx="29">
                  <c:v>0</c:v>
                </c:pt>
                <c:pt idx="30">
                  <c:v>0</c:v>
                </c:pt>
                <c:pt idx="31">
                  <c:v>137</c:v>
                </c:pt>
                <c:pt idx="32">
                  <c:v>26</c:v>
                </c:pt>
                <c:pt idx="33">
                  <c:v>16</c:v>
                </c:pt>
                <c:pt idx="34">
                  <c:v>50</c:v>
                </c:pt>
                <c:pt idx="35">
                  <c:v>0</c:v>
                </c:pt>
                <c:pt idx="36">
                  <c:v>4</c:v>
                </c:pt>
                <c:pt idx="37">
                  <c:v>47</c:v>
                </c:pt>
                <c:pt idx="38">
                  <c:v>10</c:v>
                </c:pt>
                <c:pt idx="39">
                  <c:v>58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Enfants SV</c:v>
                </c:pt>
              </c:strCache>
            </c:strRef>
          </c:tx>
          <c:cat>
            <c:strRef>
              <c:f>Sheet1!$A$2:$A$41</c:f>
              <c:strCache>
                <c:ptCount val="40"/>
                <c:pt idx="0">
                  <c:v>Bita</c:v>
                </c:pt>
                <c:pt idx="1">
                  <c:v>Bu</c:v>
                </c:pt>
                <c:pt idx="2">
                  <c:v>Kikimi (Maluku 1)</c:v>
                </c:pt>
                <c:pt idx="3">
                  <c:v>Kimpoko</c:v>
                </c:pt>
                <c:pt idx="4">
                  <c:v>Kingankati</c:v>
                </c:pt>
                <c:pt idx="5">
                  <c:v>Kingankati 2</c:v>
                </c:pt>
                <c:pt idx="6">
                  <c:v>Maluku</c:v>
                </c:pt>
                <c:pt idx="7">
                  <c:v>Mangegenge</c:v>
                </c:pt>
                <c:pt idx="8">
                  <c:v>Mayindombe1</c:v>
                </c:pt>
                <c:pt idx="9">
                  <c:v>Mayindombe2</c:v>
                </c:pt>
                <c:pt idx="10">
                  <c:v>Menkao</c:v>
                </c:pt>
                <c:pt idx="11">
                  <c:v>Monako</c:v>
                </c:pt>
                <c:pt idx="12">
                  <c:v>Ngana</c:v>
                </c:pt>
                <c:pt idx="13">
                  <c:v>Nguma 1</c:v>
                </c:pt>
                <c:pt idx="14">
                  <c:v>Nguma 2</c:v>
                </c:pt>
                <c:pt idx="15">
                  <c:v>Bukana</c:v>
                </c:pt>
                <c:pt idx="16">
                  <c:v>Busira</c:v>
                </c:pt>
                <c:pt idx="17">
                  <c:v>Dumi</c:v>
                </c:pt>
                <c:pt idx="18">
                  <c:v>Kingawa</c:v>
                </c:pt>
                <c:pt idx="19">
                  <c:v>Kinguala</c:v>
                </c:pt>
                <c:pt idx="20">
                  <c:v>Mampu</c:v>
                </c:pt>
                <c:pt idx="21">
                  <c:v>Mbankana</c:v>
                </c:pt>
                <c:pt idx="22">
                  <c:v>Mbete</c:v>
                </c:pt>
                <c:pt idx="23">
                  <c:v>Mongata</c:v>
                </c:pt>
                <c:pt idx="24">
                  <c:v>Nkieme</c:v>
                </c:pt>
                <c:pt idx="25">
                  <c:v>Yoso</c:v>
                </c:pt>
                <c:pt idx="26">
                  <c:v>Yuo</c:v>
                </c:pt>
                <c:pt idx="27">
                  <c:v>Abattoire 1</c:v>
                </c:pt>
                <c:pt idx="28">
                  <c:v>Abattoire 2</c:v>
                </c:pt>
                <c:pt idx="29">
                  <c:v>Boba</c:v>
                </c:pt>
                <c:pt idx="30">
                  <c:v>Efoloko</c:v>
                </c:pt>
                <c:pt idx="31">
                  <c:v>Imbali</c:v>
                </c:pt>
                <c:pt idx="32">
                  <c:v>Kimbangu</c:v>
                </c:pt>
                <c:pt idx="33">
                  <c:v>Mfumu Nsuka 1</c:v>
                </c:pt>
                <c:pt idx="34">
                  <c:v>Mfumu Nsuka 2</c:v>
                </c:pt>
                <c:pt idx="35">
                  <c:v>Nzuzi Wa Mbombo</c:v>
                </c:pt>
                <c:pt idx="36">
                  <c:v>Sans Fils</c:v>
                </c:pt>
                <c:pt idx="37">
                  <c:v>Tshiangu</c:v>
                </c:pt>
                <c:pt idx="38">
                  <c:v>Télévision</c:v>
                </c:pt>
                <c:pt idx="39">
                  <c:v>Congo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2</c:v>
                </c:pt>
                <c:pt idx="1">
                  <c:v>0</c:v>
                </c:pt>
                <c:pt idx="2">
                  <c:v>25</c:v>
                </c:pt>
                <c:pt idx="3">
                  <c:v>52</c:v>
                </c:pt>
                <c:pt idx="4">
                  <c:v>0</c:v>
                </c:pt>
                <c:pt idx="5">
                  <c:v>52</c:v>
                </c:pt>
                <c:pt idx="6">
                  <c:v>0</c:v>
                </c:pt>
                <c:pt idx="7">
                  <c:v>42</c:v>
                </c:pt>
                <c:pt idx="8">
                  <c:v>36</c:v>
                </c:pt>
                <c:pt idx="9">
                  <c:v>26</c:v>
                </c:pt>
                <c:pt idx="10">
                  <c:v>0</c:v>
                </c:pt>
                <c:pt idx="11">
                  <c:v>0</c:v>
                </c:pt>
                <c:pt idx="12">
                  <c:v>34</c:v>
                </c:pt>
                <c:pt idx="13">
                  <c:v>0</c:v>
                </c:pt>
                <c:pt idx="14">
                  <c:v>10</c:v>
                </c:pt>
                <c:pt idx="15">
                  <c:v>10</c:v>
                </c:pt>
                <c:pt idx="16">
                  <c:v>6</c:v>
                </c:pt>
                <c:pt idx="17">
                  <c:v>0</c:v>
                </c:pt>
                <c:pt idx="18">
                  <c:v>13</c:v>
                </c:pt>
                <c:pt idx="19">
                  <c:v>10</c:v>
                </c:pt>
                <c:pt idx="20">
                  <c:v>139</c:v>
                </c:pt>
                <c:pt idx="21">
                  <c:v>0</c:v>
                </c:pt>
                <c:pt idx="22">
                  <c:v>6</c:v>
                </c:pt>
                <c:pt idx="23">
                  <c:v>82</c:v>
                </c:pt>
                <c:pt idx="24">
                  <c:v>119</c:v>
                </c:pt>
                <c:pt idx="25">
                  <c:v>61</c:v>
                </c:pt>
                <c:pt idx="26">
                  <c:v>2</c:v>
                </c:pt>
                <c:pt idx="27">
                  <c:v>141</c:v>
                </c:pt>
                <c:pt idx="28">
                  <c:v>69</c:v>
                </c:pt>
                <c:pt idx="29">
                  <c:v>0</c:v>
                </c:pt>
                <c:pt idx="30">
                  <c:v>4</c:v>
                </c:pt>
                <c:pt idx="31">
                  <c:v>188</c:v>
                </c:pt>
                <c:pt idx="32">
                  <c:v>60</c:v>
                </c:pt>
                <c:pt idx="33">
                  <c:v>24</c:v>
                </c:pt>
                <c:pt idx="34">
                  <c:v>29</c:v>
                </c:pt>
                <c:pt idx="35">
                  <c:v>0</c:v>
                </c:pt>
                <c:pt idx="36">
                  <c:v>7</c:v>
                </c:pt>
                <c:pt idx="37">
                  <c:v>82</c:v>
                </c:pt>
                <c:pt idx="38">
                  <c:v>28</c:v>
                </c:pt>
                <c:pt idx="39">
                  <c:v>71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Enfants ZD</c:v>
                </c:pt>
              </c:strCache>
            </c:strRef>
          </c:tx>
          <c:cat>
            <c:strRef>
              <c:f>Sheet1!$A$2:$A$40</c:f>
              <c:strCache>
                <c:ptCount val="39"/>
                <c:pt idx="0">
                  <c:v>Kasai</c:v>
                </c:pt>
                <c:pt idx="1">
                  <c:v>Kivu</c:v>
                </c:pt>
                <c:pt idx="2">
                  <c:v>Lokari</c:v>
                </c:pt>
                <c:pt idx="3">
                  <c:v>Lubamba</c:v>
                </c:pt>
                <c:pt idx="4">
                  <c:v>Mafuta Kizola</c:v>
                </c:pt>
                <c:pt idx="5">
                  <c:v>Mandiangu</c:v>
                </c:pt>
                <c:pt idx="6">
                  <c:v>Mapela</c:v>
                </c:pt>
                <c:pt idx="7">
                  <c:v>Matadi</c:v>
                </c:pt>
                <c:pt idx="8">
                  <c:v>Pelende</c:v>
                </c:pt>
                <c:pt idx="9">
                  <c:v>Tshuenge</c:v>
                </c:pt>
                <c:pt idx="10">
                  <c:v>Quartier 1</c:v>
                </c:pt>
                <c:pt idx="11">
                  <c:v>Quartier 10</c:v>
                </c:pt>
                <c:pt idx="12">
                  <c:v>Quartier 11</c:v>
                </c:pt>
                <c:pt idx="13">
                  <c:v>Quartier 12</c:v>
                </c:pt>
                <c:pt idx="14">
                  <c:v>Quartier 13 A</c:v>
                </c:pt>
                <c:pt idx="15">
                  <c:v>Quartier 13 B</c:v>
                </c:pt>
                <c:pt idx="16">
                  <c:v>Quartier 2</c:v>
                </c:pt>
                <c:pt idx="17">
                  <c:v>Quartier 3</c:v>
                </c:pt>
                <c:pt idx="18">
                  <c:v>Quartier 4</c:v>
                </c:pt>
                <c:pt idx="19">
                  <c:v>Quartier 5</c:v>
                </c:pt>
                <c:pt idx="20">
                  <c:v>Quartier 6</c:v>
                </c:pt>
                <c:pt idx="21">
                  <c:v>Quartier 7</c:v>
                </c:pt>
                <c:pt idx="22">
                  <c:v>Quartier 8</c:v>
                </c:pt>
                <c:pt idx="23">
                  <c:v>Quartier 9</c:v>
                </c:pt>
                <c:pt idx="24">
                  <c:v>Badara</c:v>
                </c:pt>
                <c:pt idx="25">
                  <c:v>Bahumbu 1</c:v>
                </c:pt>
                <c:pt idx="26">
                  <c:v>Bahumbu 2</c:v>
                </c:pt>
                <c:pt idx="27">
                  <c:v>Bibwa</c:v>
                </c:pt>
                <c:pt idx="28">
                  <c:v>Buma</c:v>
                </c:pt>
                <c:pt idx="29">
                  <c:v>Dingidingi</c:v>
                </c:pt>
                <c:pt idx="30">
                  <c:v>Fleuve</c:v>
                </c:pt>
                <c:pt idx="31">
                  <c:v>Kindobo</c:v>
                </c:pt>
                <c:pt idx="32">
                  <c:v>Mikala</c:v>
                </c:pt>
                <c:pt idx="33">
                  <c:v>Mikondo (Nsele)</c:v>
                </c:pt>
                <c:pt idx="34">
                  <c:v>Mikonga</c:v>
                </c:pt>
                <c:pt idx="35">
                  <c:v>Mpasa 1</c:v>
                </c:pt>
                <c:pt idx="36">
                  <c:v>Mpasa 2</c:v>
                </c:pt>
                <c:pt idx="37">
                  <c:v>Nsele</c:v>
                </c:pt>
                <c:pt idx="38">
                  <c:v>Pecheur</c:v>
                </c:pt>
              </c:strCache>
            </c:strRef>
          </c:cat>
          <c:val>
            <c:numRef>
              <c:f>Sheet1!$B$2:$B$40</c:f>
              <c:numCache>
                <c:formatCode>General</c:formatCode>
                <c:ptCount val="39"/>
                <c:pt idx="0">
                  <c:v>162</c:v>
                </c:pt>
                <c:pt idx="1">
                  <c:v>29</c:v>
                </c:pt>
                <c:pt idx="2">
                  <c:v>163</c:v>
                </c:pt>
                <c:pt idx="3">
                  <c:v>26</c:v>
                </c:pt>
                <c:pt idx="4">
                  <c:v>119</c:v>
                </c:pt>
                <c:pt idx="5">
                  <c:v>15</c:v>
                </c:pt>
                <c:pt idx="6">
                  <c:v>27</c:v>
                </c:pt>
                <c:pt idx="7">
                  <c:v>19</c:v>
                </c:pt>
                <c:pt idx="8">
                  <c:v>106</c:v>
                </c:pt>
                <c:pt idx="9">
                  <c:v>9</c:v>
                </c:pt>
                <c:pt idx="10">
                  <c:v>61</c:v>
                </c:pt>
                <c:pt idx="11">
                  <c:v>70</c:v>
                </c:pt>
                <c:pt idx="12">
                  <c:v>0</c:v>
                </c:pt>
                <c:pt idx="13">
                  <c:v>261</c:v>
                </c:pt>
                <c:pt idx="14">
                  <c:v>1</c:v>
                </c:pt>
                <c:pt idx="15">
                  <c:v>165</c:v>
                </c:pt>
                <c:pt idx="16">
                  <c:v>1</c:v>
                </c:pt>
                <c:pt idx="17">
                  <c:v>196</c:v>
                </c:pt>
                <c:pt idx="18">
                  <c:v>298</c:v>
                </c:pt>
                <c:pt idx="19">
                  <c:v>39</c:v>
                </c:pt>
                <c:pt idx="20">
                  <c:v>76</c:v>
                </c:pt>
                <c:pt idx="21">
                  <c:v>0</c:v>
                </c:pt>
                <c:pt idx="22">
                  <c:v>15</c:v>
                </c:pt>
                <c:pt idx="23">
                  <c:v>7</c:v>
                </c:pt>
                <c:pt idx="24">
                  <c:v>51</c:v>
                </c:pt>
                <c:pt idx="25">
                  <c:v>166</c:v>
                </c:pt>
                <c:pt idx="26">
                  <c:v>149</c:v>
                </c:pt>
                <c:pt idx="27">
                  <c:v>218</c:v>
                </c:pt>
                <c:pt idx="28">
                  <c:v>6</c:v>
                </c:pt>
                <c:pt idx="29">
                  <c:v>4</c:v>
                </c:pt>
                <c:pt idx="30">
                  <c:v>39</c:v>
                </c:pt>
                <c:pt idx="31">
                  <c:v>0</c:v>
                </c:pt>
                <c:pt idx="32">
                  <c:v>3</c:v>
                </c:pt>
                <c:pt idx="33">
                  <c:v>8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322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Enfants SV</c:v>
                </c:pt>
              </c:strCache>
            </c:strRef>
          </c:tx>
          <c:cat>
            <c:strRef>
              <c:f>Sheet1!$A$2:$A$40</c:f>
              <c:strCache>
                <c:ptCount val="39"/>
                <c:pt idx="0">
                  <c:v>Kasai</c:v>
                </c:pt>
                <c:pt idx="1">
                  <c:v>Kivu</c:v>
                </c:pt>
                <c:pt idx="2">
                  <c:v>Lokari</c:v>
                </c:pt>
                <c:pt idx="3">
                  <c:v>Lubamba</c:v>
                </c:pt>
                <c:pt idx="4">
                  <c:v>Mafuta Kizola</c:v>
                </c:pt>
                <c:pt idx="5">
                  <c:v>Mandiangu</c:v>
                </c:pt>
                <c:pt idx="6">
                  <c:v>Mapela</c:v>
                </c:pt>
                <c:pt idx="7">
                  <c:v>Matadi</c:v>
                </c:pt>
                <c:pt idx="8">
                  <c:v>Pelende</c:v>
                </c:pt>
                <c:pt idx="9">
                  <c:v>Tshuenge</c:v>
                </c:pt>
                <c:pt idx="10">
                  <c:v>Quartier 1</c:v>
                </c:pt>
                <c:pt idx="11">
                  <c:v>Quartier 10</c:v>
                </c:pt>
                <c:pt idx="12">
                  <c:v>Quartier 11</c:v>
                </c:pt>
                <c:pt idx="13">
                  <c:v>Quartier 12</c:v>
                </c:pt>
                <c:pt idx="14">
                  <c:v>Quartier 13 A</c:v>
                </c:pt>
                <c:pt idx="15">
                  <c:v>Quartier 13 B</c:v>
                </c:pt>
                <c:pt idx="16">
                  <c:v>Quartier 2</c:v>
                </c:pt>
                <c:pt idx="17">
                  <c:v>Quartier 3</c:v>
                </c:pt>
                <c:pt idx="18">
                  <c:v>Quartier 4</c:v>
                </c:pt>
                <c:pt idx="19">
                  <c:v>Quartier 5</c:v>
                </c:pt>
                <c:pt idx="20">
                  <c:v>Quartier 6</c:v>
                </c:pt>
                <c:pt idx="21">
                  <c:v>Quartier 7</c:v>
                </c:pt>
                <c:pt idx="22">
                  <c:v>Quartier 8</c:v>
                </c:pt>
                <c:pt idx="23">
                  <c:v>Quartier 9</c:v>
                </c:pt>
                <c:pt idx="24">
                  <c:v>Badara</c:v>
                </c:pt>
                <c:pt idx="25">
                  <c:v>Bahumbu 1</c:v>
                </c:pt>
                <c:pt idx="26">
                  <c:v>Bahumbu 2</c:v>
                </c:pt>
                <c:pt idx="27">
                  <c:v>Bibwa</c:v>
                </c:pt>
                <c:pt idx="28">
                  <c:v>Buma</c:v>
                </c:pt>
                <c:pt idx="29">
                  <c:v>Dingidingi</c:v>
                </c:pt>
                <c:pt idx="30">
                  <c:v>Fleuve</c:v>
                </c:pt>
                <c:pt idx="31">
                  <c:v>Kindobo</c:v>
                </c:pt>
                <c:pt idx="32">
                  <c:v>Mikala</c:v>
                </c:pt>
                <c:pt idx="33">
                  <c:v>Mikondo (Nsele)</c:v>
                </c:pt>
                <c:pt idx="34">
                  <c:v>Mikonga</c:v>
                </c:pt>
                <c:pt idx="35">
                  <c:v>Mpasa 1</c:v>
                </c:pt>
                <c:pt idx="36">
                  <c:v>Mpasa 2</c:v>
                </c:pt>
                <c:pt idx="37">
                  <c:v>Nsele</c:v>
                </c:pt>
                <c:pt idx="38">
                  <c:v>Pecheur</c:v>
                </c:pt>
              </c:strCache>
            </c:strRef>
          </c:cat>
          <c:val>
            <c:numRef>
              <c:f>Sheet1!$C$2:$C$40</c:f>
              <c:numCache>
                <c:formatCode>General</c:formatCode>
                <c:ptCount val="39"/>
                <c:pt idx="0">
                  <c:v>159</c:v>
                </c:pt>
                <c:pt idx="1">
                  <c:v>45</c:v>
                </c:pt>
                <c:pt idx="2">
                  <c:v>171</c:v>
                </c:pt>
                <c:pt idx="3">
                  <c:v>38</c:v>
                </c:pt>
                <c:pt idx="4">
                  <c:v>123</c:v>
                </c:pt>
                <c:pt idx="5">
                  <c:v>21</c:v>
                </c:pt>
                <c:pt idx="6">
                  <c:v>66</c:v>
                </c:pt>
                <c:pt idx="7">
                  <c:v>83</c:v>
                </c:pt>
                <c:pt idx="8">
                  <c:v>109</c:v>
                </c:pt>
                <c:pt idx="9">
                  <c:v>9</c:v>
                </c:pt>
                <c:pt idx="10">
                  <c:v>75</c:v>
                </c:pt>
                <c:pt idx="11">
                  <c:v>77</c:v>
                </c:pt>
                <c:pt idx="12">
                  <c:v>0</c:v>
                </c:pt>
                <c:pt idx="13">
                  <c:v>230</c:v>
                </c:pt>
                <c:pt idx="14">
                  <c:v>0</c:v>
                </c:pt>
                <c:pt idx="15">
                  <c:v>199</c:v>
                </c:pt>
                <c:pt idx="16">
                  <c:v>39</c:v>
                </c:pt>
                <c:pt idx="17">
                  <c:v>193</c:v>
                </c:pt>
                <c:pt idx="18">
                  <c:v>298</c:v>
                </c:pt>
                <c:pt idx="19">
                  <c:v>65</c:v>
                </c:pt>
                <c:pt idx="20">
                  <c:v>89</c:v>
                </c:pt>
                <c:pt idx="21">
                  <c:v>0</c:v>
                </c:pt>
                <c:pt idx="22">
                  <c:v>75</c:v>
                </c:pt>
                <c:pt idx="23">
                  <c:v>37</c:v>
                </c:pt>
                <c:pt idx="24">
                  <c:v>64</c:v>
                </c:pt>
                <c:pt idx="25">
                  <c:v>174</c:v>
                </c:pt>
                <c:pt idx="26">
                  <c:v>155</c:v>
                </c:pt>
                <c:pt idx="27">
                  <c:v>226</c:v>
                </c:pt>
                <c:pt idx="28">
                  <c:v>12</c:v>
                </c:pt>
                <c:pt idx="29">
                  <c:v>6</c:v>
                </c:pt>
                <c:pt idx="30">
                  <c:v>43</c:v>
                </c:pt>
                <c:pt idx="31">
                  <c:v>2</c:v>
                </c:pt>
                <c:pt idx="32">
                  <c:v>12</c:v>
                </c:pt>
                <c:pt idx="33">
                  <c:v>19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334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Abandon DTC1-DTC3 %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Biyela</c:v>
                </c:pt>
                <c:pt idx="1">
                  <c:v>Kikimi</c:v>
                </c:pt>
                <c:pt idx="2">
                  <c:v>Kimbanseke</c:v>
                </c:pt>
                <c:pt idx="3">
                  <c:v>Kingasani</c:v>
                </c:pt>
                <c:pt idx="4">
                  <c:v>Maluku 1</c:v>
                </c:pt>
                <c:pt idx="5">
                  <c:v>Maluku 2</c:v>
                </c:pt>
                <c:pt idx="6">
                  <c:v>Masina 1</c:v>
                </c:pt>
                <c:pt idx="7">
                  <c:v>Masina 2</c:v>
                </c:pt>
                <c:pt idx="8">
                  <c:v>Ndjili</c:v>
                </c:pt>
                <c:pt idx="9">
                  <c:v>Nsele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12.5</c:v>
                </c:pt>
                <c:pt idx="1">
                  <c:v>7.5</c:v>
                </c:pt>
                <c:pt idx="2">
                  <c:v>5.6</c:v>
                </c:pt>
                <c:pt idx="3">
                  <c:v>5.4</c:v>
                </c:pt>
                <c:pt idx="4">
                  <c:v>7.6</c:v>
                </c:pt>
                <c:pt idx="5">
                  <c:v>2.8</c:v>
                </c:pt>
                <c:pt idx="6">
                  <c:v>4.7</c:v>
                </c:pt>
                <c:pt idx="7">
                  <c:v>3.3</c:v>
                </c:pt>
                <c:pt idx="8">
                  <c:v>9.1</c:v>
                </c:pt>
                <c:pt idx="9">
                  <c:v>3.5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Abandon BCG-VAR1 %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Biyela</c:v>
                </c:pt>
                <c:pt idx="1">
                  <c:v>Kikimi</c:v>
                </c:pt>
                <c:pt idx="2">
                  <c:v>Kimbanseke</c:v>
                </c:pt>
                <c:pt idx="3">
                  <c:v>Kingasani</c:v>
                </c:pt>
                <c:pt idx="4">
                  <c:v>Maluku 1</c:v>
                </c:pt>
                <c:pt idx="5">
                  <c:v>Maluku 2</c:v>
                </c:pt>
                <c:pt idx="6">
                  <c:v>Masina 1</c:v>
                </c:pt>
                <c:pt idx="7">
                  <c:v>Masina 2</c:v>
                </c:pt>
                <c:pt idx="8">
                  <c:v>Ndjili</c:v>
                </c:pt>
                <c:pt idx="9">
                  <c:v>Nsele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33.0</c:v>
                </c:pt>
                <c:pt idx="1">
                  <c:v>16.2</c:v>
                </c:pt>
                <c:pt idx="2">
                  <c:v>28.2</c:v>
                </c:pt>
                <c:pt idx="3">
                  <c:v>13.8</c:v>
                </c:pt>
                <c:pt idx="4">
                  <c:v>22.2</c:v>
                </c:pt>
                <c:pt idx="5">
                  <c:v>15.2</c:v>
                </c:pt>
                <c:pt idx="6">
                  <c:v>10.4</c:v>
                </c:pt>
                <c:pt idx="7">
                  <c:v>21.0</c:v>
                </c:pt>
                <c:pt idx="8">
                  <c:v>11.5</c:v>
                </c:pt>
                <c:pt idx="9">
                  <c:v>31.7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Abandon DTC1-DTC3 %</c:v>
                </c:pt>
              </c:strCache>
            </c:strRef>
          </c:tx>
          <c:cat>
            <c:strRef>
              <c:f>Sheet1!$A$2:$A$41</c:f>
              <c:strCache>
                <c:ptCount val="40"/>
                <c:pt idx="0">
                  <c:v>Batumuna</c:v>
                </c:pt>
                <c:pt idx="1">
                  <c:v>Biyela</c:v>
                </c:pt>
                <c:pt idx="2">
                  <c:v>Kamba Mulumba</c:v>
                </c:pt>
                <c:pt idx="3">
                  <c:v>Kisantu</c:v>
                </c:pt>
                <c:pt idx="4">
                  <c:v>Luebo 1</c:v>
                </c:pt>
                <c:pt idx="5">
                  <c:v>Luebo 2</c:v>
                </c:pt>
                <c:pt idx="6">
                  <c:v>Malonda 1</c:v>
                </c:pt>
                <c:pt idx="7">
                  <c:v>Malonda 2</c:v>
                </c:pt>
                <c:pt idx="8">
                  <c:v>Mokali</c:v>
                </c:pt>
                <c:pt idx="9">
                  <c:v>Sakombi 1</c:v>
                </c:pt>
                <c:pt idx="10">
                  <c:v>Sakombi 2</c:v>
                </c:pt>
                <c:pt idx="11">
                  <c:v>Bisengo Mwambe</c:v>
                </c:pt>
                <c:pt idx="12">
                  <c:v>Bosembo</c:v>
                </c:pt>
                <c:pt idx="13">
                  <c:v>Cité De L'Espoir</c:v>
                </c:pt>
                <c:pt idx="14">
                  <c:v>Kikimi (Kikimi)</c:v>
                </c:pt>
                <c:pt idx="15">
                  <c:v>Lobiko</c:v>
                </c:pt>
                <c:pt idx="16">
                  <c:v>Marechal</c:v>
                </c:pt>
                <c:pt idx="17">
                  <c:v>Mfumu Nketo</c:v>
                </c:pt>
                <c:pt idx="18">
                  <c:v>Mikondo (Kikimi)</c:v>
                </c:pt>
                <c:pt idx="19">
                  <c:v>Ngampani</c:v>
                </c:pt>
                <c:pt idx="20">
                  <c:v>Bahumbu</c:v>
                </c:pt>
                <c:pt idx="21">
                  <c:v>Bamboma</c:v>
                </c:pt>
                <c:pt idx="22">
                  <c:v>Boma</c:v>
                </c:pt>
                <c:pt idx="23">
                  <c:v>Esanga</c:v>
                </c:pt>
                <c:pt idx="24">
                  <c:v>Kimfuta</c:v>
                </c:pt>
                <c:pt idx="25">
                  <c:v>Kutu</c:v>
                </c:pt>
                <c:pt idx="26">
                  <c:v>Mangana</c:v>
                </c:pt>
                <c:pt idx="27">
                  <c:v>Maviokele</c:v>
                </c:pt>
                <c:pt idx="28">
                  <c:v>Mbuala</c:v>
                </c:pt>
                <c:pt idx="29">
                  <c:v>Nsumabua</c:v>
                </c:pt>
                <c:pt idx="30">
                  <c:v>Salongo</c:v>
                </c:pt>
                <c:pt idx="31">
                  <c:v>17 Mai</c:v>
                </c:pt>
                <c:pt idx="32">
                  <c:v>Atandele</c:v>
                </c:pt>
                <c:pt idx="33">
                  <c:v>Kingasani</c:v>
                </c:pt>
                <c:pt idx="34">
                  <c:v>Lisanga</c:v>
                </c:pt>
                <c:pt idx="35">
                  <c:v>Molende</c:v>
                </c:pt>
                <c:pt idx="36">
                  <c:v>Mulie</c:v>
                </c:pt>
                <c:pt idx="37">
                  <c:v>Nsanga</c:v>
                </c:pt>
                <c:pt idx="38">
                  <c:v>St Paul</c:v>
                </c:pt>
                <c:pt idx="39">
                  <c:v>Basuku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20.0</c:v>
                </c:pt>
                <c:pt idx="1">
                  <c:v>9.0</c:v>
                </c:pt>
                <c:pt idx="2">
                  <c:v>14.8</c:v>
                </c:pt>
                <c:pt idx="3">
                  <c:v>11.5</c:v>
                </c:pt>
                <c:pt idx="4">
                  <c:v>4.3</c:v>
                </c:pt>
                <c:pt idx="5">
                  <c:v>8.8</c:v>
                </c:pt>
                <c:pt idx="6">
                  <c:v>23.5</c:v>
                </c:pt>
                <c:pt idx="7">
                  <c:v>13.9</c:v>
                </c:pt>
                <c:pt idx="8">
                  <c:v>-8.4</c:v>
                </c:pt>
                <c:pt idx="9">
                  <c:v>18.9</c:v>
                </c:pt>
                <c:pt idx="10">
                  <c:v>13.5</c:v>
                </c:pt>
                <c:pt idx="11">
                  <c:v>0</c:v>
                </c:pt>
                <c:pt idx="12">
                  <c:v>6.6</c:v>
                </c:pt>
                <c:pt idx="13">
                  <c:v>-1.0</c:v>
                </c:pt>
                <c:pt idx="14">
                  <c:v>9.7</c:v>
                </c:pt>
                <c:pt idx="15">
                  <c:v>10.2</c:v>
                </c:pt>
                <c:pt idx="16">
                  <c:v>7.3</c:v>
                </c:pt>
                <c:pt idx="17">
                  <c:v>6.7</c:v>
                </c:pt>
                <c:pt idx="18">
                  <c:v>13.3</c:v>
                </c:pt>
                <c:pt idx="19">
                  <c:v>5.2</c:v>
                </c:pt>
                <c:pt idx="20">
                  <c:v>2.8</c:v>
                </c:pt>
                <c:pt idx="21">
                  <c:v>3.3</c:v>
                </c:pt>
                <c:pt idx="22">
                  <c:v>4.8</c:v>
                </c:pt>
                <c:pt idx="23">
                  <c:v>4.4</c:v>
                </c:pt>
                <c:pt idx="24">
                  <c:v>11.4</c:v>
                </c:pt>
                <c:pt idx="25">
                  <c:v>6.6</c:v>
                </c:pt>
                <c:pt idx="26">
                  <c:v>12.3</c:v>
                </c:pt>
                <c:pt idx="27">
                  <c:v>1.6</c:v>
                </c:pt>
                <c:pt idx="28">
                  <c:v>1.6</c:v>
                </c:pt>
                <c:pt idx="29">
                  <c:v>6.9</c:v>
                </c:pt>
                <c:pt idx="30">
                  <c:v>2.7</c:v>
                </c:pt>
                <c:pt idx="31">
                  <c:v>4.6</c:v>
                </c:pt>
                <c:pt idx="32">
                  <c:v>0</c:v>
                </c:pt>
                <c:pt idx="33">
                  <c:v>13.4</c:v>
                </c:pt>
                <c:pt idx="34">
                  <c:v>-2.3</c:v>
                </c:pt>
                <c:pt idx="35">
                  <c:v>15.6</c:v>
                </c:pt>
                <c:pt idx="36">
                  <c:v>2.8</c:v>
                </c:pt>
                <c:pt idx="37">
                  <c:v>1.2</c:v>
                </c:pt>
                <c:pt idx="38">
                  <c:v>5.9</c:v>
                </c:pt>
                <c:pt idx="39">
                  <c:v>1.3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Abandon BCG-VAR1 %</c:v>
                </c:pt>
              </c:strCache>
            </c:strRef>
          </c:tx>
          <c:cat>
            <c:strRef>
              <c:f>Sheet1!$A$2:$A$41</c:f>
              <c:strCache>
                <c:ptCount val="40"/>
                <c:pt idx="0">
                  <c:v>Batumuna</c:v>
                </c:pt>
                <c:pt idx="1">
                  <c:v>Biyela</c:v>
                </c:pt>
                <c:pt idx="2">
                  <c:v>Kamba Mulumba</c:v>
                </c:pt>
                <c:pt idx="3">
                  <c:v>Kisantu</c:v>
                </c:pt>
                <c:pt idx="4">
                  <c:v>Luebo 1</c:v>
                </c:pt>
                <c:pt idx="5">
                  <c:v>Luebo 2</c:v>
                </c:pt>
                <c:pt idx="6">
                  <c:v>Malonda 1</c:v>
                </c:pt>
                <c:pt idx="7">
                  <c:v>Malonda 2</c:v>
                </c:pt>
                <c:pt idx="8">
                  <c:v>Mokali</c:v>
                </c:pt>
                <c:pt idx="9">
                  <c:v>Sakombi 1</c:v>
                </c:pt>
                <c:pt idx="10">
                  <c:v>Sakombi 2</c:v>
                </c:pt>
                <c:pt idx="11">
                  <c:v>Bisengo Mwambe</c:v>
                </c:pt>
                <c:pt idx="12">
                  <c:v>Bosembo</c:v>
                </c:pt>
                <c:pt idx="13">
                  <c:v>Cité De L'Espoir</c:v>
                </c:pt>
                <c:pt idx="14">
                  <c:v>Kikimi (Kikimi)</c:v>
                </c:pt>
                <c:pt idx="15">
                  <c:v>Lobiko</c:v>
                </c:pt>
                <c:pt idx="16">
                  <c:v>Marechal</c:v>
                </c:pt>
                <c:pt idx="17">
                  <c:v>Mfumu Nketo</c:v>
                </c:pt>
                <c:pt idx="18">
                  <c:v>Mikondo (Kikimi)</c:v>
                </c:pt>
                <c:pt idx="19">
                  <c:v>Ngampani</c:v>
                </c:pt>
                <c:pt idx="20">
                  <c:v>Bahumbu</c:v>
                </c:pt>
                <c:pt idx="21">
                  <c:v>Bamboma</c:v>
                </c:pt>
                <c:pt idx="22">
                  <c:v>Boma</c:v>
                </c:pt>
                <c:pt idx="23">
                  <c:v>Esanga</c:v>
                </c:pt>
                <c:pt idx="24">
                  <c:v>Kimfuta</c:v>
                </c:pt>
                <c:pt idx="25">
                  <c:v>Kutu</c:v>
                </c:pt>
                <c:pt idx="26">
                  <c:v>Mangana</c:v>
                </c:pt>
                <c:pt idx="27">
                  <c:v>Maviokele</c:v>
                </c:pt>
                <c:pt idx="28">
                  <c:v>Mbuala</c:v>
                </c:pt>
                <c:pt idx="29">
                  <c:v>Nsumabua</c:v>
                </c:pt>
                <c:pt idx="30">
                  <c:v>Salongo</c:v>
                </c:pt>
                <c:pt idx="31">
                  <c:v>17 Mai</c:v>
                </c:pt>
                <c:pt idx="32">
                  <c:v>Atandele</c:v>
                </c:pt>
                <c:pt idx="33">
                  <c:v>Kingasani</c:v>
                </c:pt>
                <c:pt idx="34">
                  <c:v>Lisanga</c:v>
                </c:pt>
                <c:pt idx="35">
                  <c:v>Molende</c:v>
                </c:pt>
                <c:pt idx="36">
                  <c:v>Mulie</c:v>
                </c:pt>
                <c:pt idx="37">
                  <c:v>Nsanga</c:v>
                </c:pt>
                <c:pt idx="38">
                  <c:v>St Paul</c:v>
                </c:pt>
                <c:pt idx="39">
                  <c:v>Basuku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44.5</c:v>
                </c:pt>
                <c:pt idx="1">
                  <c:v>14.9</c:v>
                </c:pt>
                <c:pt idx="2">
                  <c:v>39.4</c:v>
                </c:pt>
                <c:pt idx="3">
                  <c:v>57.8</c:v>
                </c:pt>
                <c:pt idx="4">
                  <c:v>46.6</c:v>
                </c:pt>
                <c:pt idx="5">
                  <c:v>21.1</c:v>
                </c:pt>
                <c:pt idx="6">
                  <c:v>24.2</c:v>
                </c:pt>
                <c:pt idx="7">
                  <c:v>35.3</c:v>
                </c:pt>
                <c:pt idx="8">
                  <c:v>29.7</c:v>
                </c:pt>
                <c:pt idx="9">
                  <c:v>1.7</c:v>
                </c:pt>
                <c:pt idx="10">
                  <c:v>51.8</c:v>
                </c:pt>
                <c:pt idx="11">
                  <c:v>19.7</c:v>
                </c:pt>
                <c:pt idx="12">
                  <c:v>-29.4</c:v>
                </c:pt>
                <c:pt idx="13">
                  <c:v>4.5</c:v>
                </c:pt>
                <c:pt idx="14">
                  <c:v>7.7</c:v>
                </c:pt>
                <c:pt idx="15">
                  <c:v>4.4</c:v>
                </c:pt>
                <c:pt idx="16">
                  <c:v>12.4</c:v>
                </c:pt>
                <c:pt idx="17">
                  <c:v>36.2</c:v>
                </c:pt>
                <c:pt idx="18">
                  <c:v>24.8</c:v>
                </c:pt>
                <c:pt idx="19">
                  <c:v>31.6</c:v>
                </c:pt>
                <c:pt idx="20">
                  <c:v>35.9</c:v>
                </c:pt>
                <c:pt idx="21">
                  <c:v>39.0</c:v>
                </c:pt>
                <c:pt idx="22">
                  <c:v>4.5</c:v>
                </c:pt>
                <c:pt idx="23">
                  <c:v>26.1</c:v>
                </c:pt>
                <c:pt idx="24">
                  <c:v>54.6</c:v>
                </c:pt>
                <c:pt idx="25">
                  <c:v>12.4</c:v>
                </c:pt>
                <c:pt idx="26">
                  <c:v>25.3</c:v>
                </c:pt>
                <c:pt idx="27">
                  <c:v>26.6</c:v>
                </c:pt>
                <c:pt idx="28">
                  <c:v>25.7</c:v>
                </c:pt>
                <c:pt idx="29">
                  <c:v>19.8</c:v>
                </c:pt>
                <c:pt idx="30">
                  <c:v>15.1</c:v>
                </c:pt>
                <c:pt idx="31">
                  <c:v>39.9</c:v>
                </c:pt>
                <c:pt idx="32">
                  <c:v>25.5</c:v>
                </c:pt>
                <c:pt idx="33">
                  <c:v>40.8</c:v>
                </c:pt>
                <c:pt idx="34">
                  <c:v>8.3</c:v>
                </c:pt>
                <c:pt idx="35">
                  <c:v>-9.7</c:v>
                </c:pt>
                <c:pt idx="36">
                  <c:v>-5.0</c:v>
                </c:pt>
                <c:pt idx="37">
                  <c:v>-7.0</c:v>
                </c:pt>
                <c:pt idx="38">
                  <c:v>-9.5</c:v>
                </c:pt>
                <c:pt idx="39">
                  <c:v>38.3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Abandon DTC1-DTC3 %</c:v>
                </c:pt>
              </c:strCache>
            </c:strRef>
          </c:tx>
          <c:cat>
            <c:strRef>
              <c:f>Sheet1!$A$2:$A$41</c:f>
              <c:strCache>
                <c:ptCount val="40"/>
                <c:pt idx="0">
                  <c:v>Bita</c:v>
                </c:pt>
                <c:pt idx="1">
                  <c:v>Bu</c:v>
                </c:pt>
                <c:pt idx="2">
                  <c:v>Kikimi (Maluku 1)</c:v>
                </c:pt>
                <c:pt idx="3">
                  <c:v>Kimpoko</c:v>
                </c:pt>
                <c:pt idx="4">
                  <c:v>Kingankati</c:v>
                </c:pt>
                <c:pt idx="5">
                  <c:v>Kingankati 2</c:v>
                </c:pt>
                <c:pt idx="6">
                  <c:v>Maluku</c:v>
                </c:pt>
                <c:pt idx="7">
                  <c:v>Mangegenge</c:v>
                </c:pt>
                <c:pt idx="8">
                  <c:v>Mayindombe1</c:v>
                </c:pt>
                <c:pt idx="9">
                  <c:v>Mayindombe2</c:v>
                </c:pt>
                <c:pt idx="10">
                  <c:v>Menkao</c:v>
                </c:pt>
                <c:pt idx="11">
                  <c:v>Monako</c:v>
                </c:pt>
                <c:pt idx="12">
                  <c:v>Ngana</c:v>
                </c:pt>
                <c:pt idx="13">
                  <c:v>Nguma 1</c:v>
                </c:pt>
                <c:pt idx="14">
                  <c:v>Nguma 2</c:v>
                </c:pt>
                <c:pt idx="15">
                  <c:v>Bukana</c:v>
                </c:pt>
                <c:pt idx="16">
                  <c:v>Busira</c:v>
                </c:pt>
                <c:pt idx="17">
                  <c:v>Dumi</c:v>
                </c:pt>
                <c:pt idx="18">
                  <c:v>Kingawa</c:v>
                </c:pt>
                <c:pt idx="19">
                  <c:v>Kinguala</c:v>
                </c:pt>
                <c:pt idx="20">
                  <c:v>Mampu</c:v>
                </c:pt>
                <c:pt idx="21">
                  <c:v>Mbankana</c:v>
                </c:pt>
                <c:pt idx="22">
                  <c:v>Mbete</c:v>
                </c:pt>
                <c:pt idx="23">
                  <c:v>Mongata</c:v>
                </c:pt>
                <c:pt idx="24">
                  <c:v>Nkieme</c:v>
                </c:pt>
                <c:pt idx="25">
                  <c:v>Yoso</c:v>
                </c:pt>
                <c:pt idx="26">
                  <c:v>Yuo</c:v>
                </c:pt>
                <c:pt idx="27">
                  <c:v>Abattoire 1</c:v>
                </c:pt>
                <c:pt idx="28">
                  <c:v>Abattoire 2</c:v>
                </c:pt>
                <c:pt idx="29">
                  <c:v>Boba</c:v>
                </c:pt>
                <c:pt idx="30">
                  <c:v>Efoloko</c:v>
                </c:pt>
                <c:pt idx="31">
                  <c:v>Imbali</c:v>
                </c:pt>
                <c:pt idx="32">
                  <c:v>Kimbangu</c:v>
                </c:pt>
                <c:pt idx="33">
                  <c:v>Mfumu Nsuka 1</c:v>
                </c:pt>
                <c:pt idx="34">
                  <c:v>Mfumu Nsuka 2</c:v>
                </c:pt>
                <c:pt idx="35">
                  <c:v>Nzuzi Wa Mbombo</c:v>
                </c:pt>
                <c:pt idx="36">
                  <c:v>Sans Fils</c:v>
                </c:pt>
                <c:pt idx="37">
                  <c:v>Tshiangu</c:v>
                </c:pt>
                <c:pt idx="38">
                  <c:v>Télévision</c:v>
                </c:pt>
                <c:pt idx="39">
                  <c:v>Congo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6.4</c:v>
                </c:pt>
                <c:pt idx="1">
                  <c:v>2.3</c:v>
                </c:pt>
                <c:pt idx="2">
                  <c:v>22.6</c:v>
                </c:pt>
                <c:pt idx="3">
                  <c:v>17.5</c:v>
                </c:pt>
                <c:pt idx="4">
                  <c:v>16.1</c:v>
                </c:pt>
                <c:pt idx="5">
                  <c:v>1.8</c:v>
                </c:pt>
                <c:pt idx="6">
                  <c:v>2.8</c:v>
                </c:pt>
                <c:pt idx="7">
                  <c:v>10.5</c:v>
                </c:pt>
                <c:pt idx="8">
                  <c:v>12.3</c:v>
                </c:pt>
                <c:pt idx="9">
                  <c:v>23.2</c:v>
                </c:pt>
                <c:pt idx="10">
                  <c:v>1.3</c:v>
                </c:pt>
                <c:pt idx="11">
                  <c:v>4.5</c:v>
                </c:pt>
                <c:pt idx="12">
                  <c:v>24.2</c:v>
                </c:pt>
                <c:pt idx="13">
                  <c:v>4.6</c:v>
                </c:pt>
                <c:pt idx="14">
                  <c:v>3.9</c:v>
                </c:pt>
                <c:pt idx="15">
                  <c:v>2.2</c:v>
                </c:pt>
                <c:pt idx="16">
                  <c:v>-8.6</c:v>
                </c:pt>
                <c:pt idx="17">
                  <c:v>7.2</c:v>
                </c:pt>
                <c:pt idx="18">
                  <c:v>-2.4</c:v>
                </c:pt>
                <c:pt idx="19">
                  <c:v>0</c:v>
                </c:pt>
                <c:pt idx="20">
                  <c:v>7.0</c:v>
                </c:pt>
                <c:pt idx="21">
                  <c:v>1.5</c:v>
                </c:pt>
                <c:pt idx="22">
                  <c:v>2.5</c:v>
                </c:pt>
                <c:pt idx="23">
                  <c:v>-2.9</c:v>
                </c:pt>
                <c:pt idx="24">
                  <c:v>3.8</c:v>
                </c:pt>
                <c:pt idx="25">
                  <c:v>2.9</c:v>
                </c:pt>
                <c:pt idx="26">
                  <c:v>0</c:v>
                </c:pt>
                <c:pt idx="27">
                  <c:v>3.5</c:v>
                </c:pt>
                <c:pt idx="28">
                  <c:v>-1.4</c:v>
                </c:pt>
                <c:pt idx="29">
                  <c:v>2.6</c:v>
                </c:pt>
                <c:pt idx="30">
                  <c:v>7.7</c:v>
                </c:pt>
                <c:pt idx="31">
                  <c:v>11.0</c:v>
                </c:pt>
                <c:pt idx="32">
                  <c:v>4.2</c:v>
                </c:pt>
                <c:pt idx="33">
                  <c:v>1.9</c:v>
                </c:pt>
                <c:pt idx="34">
                  <c:v>1.1</c:v>
                </c:pt>
                <c:pt idx="35">
                  <c:v>15.7</c:v>
                </c:pt>
                <c:pt idx="36">
                  <c:v>4.1</c:v>
                </c:pt>
                <c:pt idx="37">
                  <c:v>3.4</c:v>
                </c:pt>
                <c:pt idx="38">
                  <c:v>1.6</c:v>
                </c:pt>
                <c:pt idx="39">
                  <c:v>1.3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Abandon BCG-VAR1 %</c:v>
                </c:pt>
              </c:strCache>
            </c:strRef>
          </c:tx>
          <c:cat>
            <c:strRef>
              <c:f>Sheet1!$A$2:$A$41</c:f>
              <c:strCache>
                <c:ptCount val="40"/>
                <c:pt idx="0">
                  <c:v>Bita</c:v>
                </c:pt>
                <c:pt idx="1">
                  <c:v>Bu</c:v>
                </c:pt>
                <c:pt idx="2">
                  <c:v>Kikimi (Maluku 1)</c:v>
                </c:pt>
                <c:pt idx="3">
                  <c:v>Kimpoko</c:v>
                </c:pt>
                <c:pt idx="4">
                  <c:v>Kingankati</c:v>
                </c:pt>
                <c:pt idx="5">
                  <c:v>Kingankati 2</c:v>
                </c:pt>
                <c:pt idx="6">
                  <c:v>Maluku</c:v>
                </c:pt>
                <c:pt idx="7">
                  <c:v>Mangegenge</c:v>
                </c:pt>
                <c:pt idx="8">
                  <c:v>Mayindombe1</c:v>
                </c:pt>
                <c:pt idx="9">
                  <c:v>Mayindombe2</c:v>
                </c:pt>
                <c:pt idx="10">
                  <c:v>Menkao</c:v>
                </c:pt>
                <c:pt idx="11">
                  <c:v>Monako</c:v>
                </c:pt>
                <c:pt idx="12">
                  <c:v>Ngana</c:v>
                </c:pt>
                <c:pt idx="13">
                  <c:v>Nguma 1</c:v>
                </c:pt>
                <c:pt idx="14">
                  <c:v>Nguma 2</c:v>
                </c:pt>
                <c:pt idx="15">
                  <c:v>Bukana</c:v>
                </c:pt>
                <c:pt idx="16">
                  <c:v>Busira</c:v>
                </c:pt>
                <c:pt idx="17">
                  <c:v>Dumi</c:v>
                </c:pt>
                <c:pt idx="18">
                  <c:v>Kingawa</c:v>
                </c:pt>
                <c:pt idx="19">
                  <c:v>Kinguala</c:v>
                </c:pt>
                <c:pt idx="20">
                  <c:v>Mampu</c:v>
                </c:pt>
                <c:pt idx="21">
                  <c:v>Mbankana</c:v>
                </c:pt>
                <c:pt idx="22">
                  <c:v>Mbete</c:v>
                </c:pt>
                <c:pt idx="23">
                  <c:v>Mongata</c:v>
                </c:pt>
                <c:pt idx="24">
                  <c:v>Nkieme</c:v>
                </c:pt>
                <c:pt idx="25">
                  <c:v>Yoso</c:v>
                </c:pt>
                <c:pt idx="26">
                  <c:v>Yuo</c:v>
                </c:pt>
                <c:pt idx="27">
                  <c:v>Abattoire 1</c:v>
                </c:pt>
                <c:pt idx="28">
                  <c:v>Abattoire 2</c:v>
                </c:pt>
                <c:pt idx="29">
                  <c:v>Boba</c:v>
                </c:pt>
                <c:pt idx="30">
                  <c:v>Efoloko</c:v>
                </c:pt>
                <c:pt idx="31">
                  <c:v>Imbali</c:v>
                </c:pt>
                <c:pt idx="32">
                  <c:v>Kimbangu</c:v>
                </c:pt>
                <c:pt idx="33">
                  <c:v>Mfumu Nsuka 1</c:v>
                </c:pt>
                <c:pt idx="34">
                  <c:v>Mfumu Nsuka 2</c:v>
                </c:pt>
                <c:pt idx="35">
                  <c:v>Nzuzi Wa Mbombo</c:v>
                </c:pt>
                <c:pt idx="36">
                  <c:v>Sans Fils</c:v>
                </c:pt>
                <c:pt idx="37">
                  <c:v>Tshiangu</c:v>
                </c:pt>
                <c:pt idx="38">
                  <c:v>Télévision</c:v>
                </c:pt>
                <c:pt idx="39">
                  <c:v>Congo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25.9</c:v>
                </c:pt>
                <c:pt idx="1">
                  <c:v>34.4</c:v>
                </c:pt>
                <c:pt idx="2">
                  <c:v>24.2</c:v>
                </c:pt>
                <c:pt idx="3">
                  <c:v>69.0</c:v>
                </c:pt>
                <c:pt idx="4">
                  <c:v>44.2</c:v>
                </c:pt>
                <c:pt idx="5">
                  <c:v>0.5</c:v>
                </c:pt>
                <c:pt idx="6">
                  <c:v>5.9</c:v>
                </c:pt>
                <c:pt idx="7">
                  <c:v>11.2</c:v>
                </c:pt>
                <c:pt idx="8">
                  <c:v>-3.6</c:v>
                </c:pt>
                <c:pt idx="9">
                  <c:v>54.1</c:v>
                </c:pt>
                <c:pt idx="10">
                  <c:v>9.0</c:v>
                </c:pt>
                <c:pt idx="11">
                  <c:v>15.2</c:v>
                </c:pt>
                <c:pt idx="12">
                  <c:v>37.5</c:v>
                </c:pt>
                <c:pt idx="13">
                  <c:v>30.6</c:v>
                </c:pt>
                <c:pt idx="14">
                  <c:v>33.0</c:v>
                </c:pt>
                <c:pt idx="15">
                  <c:v>16.7</c:v>
                </c:pt>
                <c:pt idx="16">
                  <c:v>40.2</c:v>
                </c:pt>
                <c:pt idx="17">
                  <c:v>33.5</c:v>
                </c:pt>
                <c:pt idx="18">
                  <c:v>37.3</c:v>
                </c:pt>
                <c:pt idx="19">
                  <c:v>20.0</c:v>
                </c:pt>
                <c:pt idx="20">
                  <c:v>4.0</c:v>
                </c:pt>
                <c:pt idx="21">
                  <c:v>8.6</c:v>
                </c:pt>
                <c:pt idx="22">
                  <c:v>9.5</c:v>
                </c:pt>
                <c:pt idx="23">
                  <c:v>-10.9</c:v>
                </c:pt>
                <c:pt idx="24">
                  <c:v>-7.1</c:v>
                </c:pt>
                <c:pt idx="25">
                  <c:v>9.5</c:v>
                </c:pt>
                <c:pt idx="26">
                  <c:v>4.4</c:v>
                </c:pt>
                <c:pt idx="27">
                  <c:v>6.8</c:v>
                </c:pt>
                <c:pt idx="28">
                  <c:v>11.2</c:v>
                </c:pt>
                <c:pt idx="29">
                  <c:v>34.7</c:v>
                </c:pt>
                <c:pt idx="30">
                  <c:v>1.9</c:v>
                </c:pt>
                <c:pt idx="31">
                  <c:v>9.9</c:v>
                </c:pt>
                <c:pt idx="32">
                  <c:v>14.6</c:v>
                </c:pt>
                <c:pt idx="33">
                  <c:v>7.2</c:v>
                </c:pt>
                <c:pt idx="34">
                  <c:v>-46.4</c:v>
                </c:pt>
                <c:pt idx="35">
                  <c:v>9.5</c:v>
                </c:pt>
                <c:pt idx="36">
                  <c:v>12.5</c:v>
                </c:pt>
                <c:pt idx="37">
                  <c:v>15.8</c:v>
                </c:pt>
                <c:pt idx="38">
                  <c:v>12.1</c:v>
                </c:pt>
                <c:pt idx="39">
                  <c:v>27.8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Abandon DTC1-DTC3 %</c:v>
                </c:pt>
              </c:strCache>
            </c:strRef>
          </c:tx>
          <c:cat>
            <c:strRef>
              <c:f>Sheet1!$A$2:$A$40</c:f>
              <c:strCache>
                <c:ptCount val="39"/>
                <c:pt idx="0">
                  <c:v>Kasai</c:v>
                </c:pt>
                <c:pt idx="1">
                  <c:v>Kivu</c:v>
                </c:pt>
                <c:pt idx="2">
                  <c:v>Lokari</c:v>
                </c:pt>
                <c:pt idx="3">
                  <c:v>Lubamba</c:v>
                </c:pt>
                <c:pt idx="4">
                  <c:v>Mafuta Kizola</c:v>
                </c:pt>
                <c:pt idx="5">
                  <c:v>Mandiangu</c:v>
                </c:pt>
                <c:pt idx="6">
                  <c:v>Mapela</c:v>
                </c:pt>
                <c:pt idx="7">
                  <c:v>Matadi</c:v>
                </c:pt>
                <c:pt idx="8">
                  <c:v>Pelende</c:v>
                </c:pt>
                <c:pt idx="9">
                  <c:v>Tshuenge</c:v>
                </c:pt>
                <c:pt idx="10">
                  <c:v>Quartier 1</c:v>
                </c:pt>
                <c:pt idx="11">
                  <c:v>Quartier 10</c:v>
                </c:pt>
                <c:pt idx="12">
                  <c:v>Quartier 11</c:v>
                </c:pt>
                <c:pt idx="13">
                  <c:v>Quartier 12</c:v>
                </c:pt>
                <c:pt idx="14">
                  <c:v>Quartier 13 A</c:v>
                </c:pt>
                <c:pt idx="15">
                  <c:v>Quartier 13 B</c:v>
                </c:pt>
                <c:pt idx="16">
                  <c:v>Quartier 2</c:v>
                </c:pt>
                <c:pt idx="17">
                  <c:v>Quartier 3</c:v>
                </c:pt>
                <c:pt idx="18">
                  <c:v>Quartier 4</c:v>
                </c:pt>
                <c:pt idx="19">
                  <c:v>Quartier 5</c:v>
                </c:pt>
                <c:pt idx="20">
                  <c:v>Quartier 6</c:v>
                </c:pt>
                <c:pt idx="21">
                  <c:v>Quartier 7</c:v>
                </c:pt>
                <c:pt idx="22">
                  <c:v>Quartier 8</c:v>
                </c:pt>
                <c:pt idx="23">
                  <c:v>Quartier 9</c:v>
                </c:pt>
                <c:pt idx="24">
                  <c:v>Badara</c:v>
                </c:pt>
                <c:pt idx="25">
                  <c:v>Bahumbu 1</c:v>
                </c:pt>
                <c:pt idx="26">
                  <c:v>Bahumbu 2</c:v>
                </c:pt>
                <c:pt idx="27">
                  <c:v>Bibwa</c:v>
                </c:pt>
                <c:pt idx="28">
                  <c:v>Buma</c:v>
                </c:pt>
                <c:pt idx="29">
                  <c:v>Dingidingi</c:v>
                </c:pt>
                <c:pt idx="30">
                  <c:v>Fleuve</c:v>
                </c:pt>
                <c:pt idx="31">
                  <c:v>Kindobo</c:v>
                </c:pt>
                <c:pt idx="32">
                  <c:v>Mikala</c:v>
                </c:pt>
                <c:pt idx="33">
                  <c:v>Mikondo (Nsele)</c:v>
                </c:pt>
                <c:pt idx="34">
                  <c:v>Mikonga</c:v>
                </c:pt>
                <c:pt idx="35">
                  <c:v>Mpasa 1</c:v>
                </c:pt>
                <c:pt idx="36">
                  <c:v>Mpasa 2</c:v>
                </c:pt>
                <c:pt idx="37">
                  <c:v>Nsele</c:v>
                </c:pt>
                <c:pt idx="38">
                  <c:v>Pecheur</c:v>
                </c:pt>
              </c:strCache>
            </c:strRef>
          </c:cat>
          <c:val>
            <c:numRef>
              <c:f>Sheet1!$B$2:$B$40</c:f>
              <c:numCache>
                <c:formatCode>General</c:formatCode>
                <c:ptCount val="39"/>
                <c:pt idx="0">
                  <c:v>-0.5</c:v>
                </c:pt>
                <c:pt idx="1">
                  <c:v>5.5</c:v>
                </c:pt>
                <c:pt idx="2">
                  <c:v>0.9</c:v>
                </c:pt>
                <c:pt idx="3">
                  <c:v>3.3</c:v>
                </c:pt>
                <c:pt idx="4">
                  <c:v>0.7</c:v>
                </c:pt>
                <c:pt idx="5">
                  <c:v>3.6</c:v>
                </c:pt>
                <c:pt idx="6">
                  <c:v>6.5</c:v>
                </c:pt>
                <c:pt idx="7">
                  <c:v>13.5</c:v>
                </c:pt>
                <c:pt idx="8">
                  <c:v>2.4</c:v>
                </c:pt>
                <c:pt idx="9">
                  <c:v>-2.7</c:v>
                </c:pt>
                <c:pt idx="10">
                  <c:v>11.4</c:v>
                </c:pt>
                <c:pt idx="11">
                  <c:v>5.8</c:v>
                </c:pt>
                <c:pt idx="12">
                  <c:v>-4.1</c:v>
                </c:pt>
                <c:pt idx="13">
                  <c:v>-14.6</c:v>
                </c:pt>
                <c:pt idx="14">
                  <c:v>10.6</c:v>
                </c:pt>
                <c:pt idx="15">
                  <c:v>11.2</c:v>
                </c:pt>
                <c:pt idx="16">
                  <c:v>17.2</c:v>
                </c:pt>
                <c:pt idx="17">
                  <c:v>-1.0</c:v>
                </c:pt>
                <c:pt idx="18">
                  <c:v>0</c:v>
                </c:pt>
                <c:pt idx="19">
                  <c:v>12.1</c:v>
                </c:pt>
                <c:pt idx="20">
                  <c:v>2.6</c:v>
                </c:pt>
                <c:pt idx="21">
                  <c:v>18.4</c:v>
                </c:pt>
                <c:pt idx="22">
                  <c:v>12.9</c:v>
                </c:pt>
                <c:pt idx="23">
                  <c:v>13.1</c:v>
                </c:pt>
                <c:pt idx="24">
                  <c:v>3.4</c:v>
                </c:pt>
                <c:pt idx="25">
                  <c:v>12.1</c:v>
                </c:pt>
                <c:pt idx="26">
                  <c:v>1.7</c:v>
                </c:pt>
                <c:pt idx="27">
                  <c:v>2.0</c:v>
                </c:pt>
                <c:pt idx="28">
                  <c:v>4.7</c:v>
                </c:pt>
                <c:pt idx="29">
                  <c:v>5.8</c:v>
                </c:pt>
                <c:pt idx="30">
                  <c:v>7.5</c:v>
                </c:pt>
                <c:pt idx="31">
                  <c:v>4.8</c:v>
                </c:pt>
                <c:pt idx="32">
                  <c:v>2.1</c:v>
                </c:pt>
                <c:pt idx="33">
                  <c:v>4.8</c:v>
                </c:pt>
                <c:pt idx="34">
                  <c:v>2.9</c:v>
                </c:pt>
                <c:pt idx="35">
                  <c:v>2.2</c:v>
                </c:pt>
                <c:pt idx="36">
                  <c:v>2.1</c:v>
                </c:pt>
                <c:pt idx="37">
                  <c:v>6.6</c:v>
                </c:pt>
                <c:pt idx="38">
                  <c:v>2.3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Abandon BCG-VAR1 %</c:v>
                </c:pt>
              </c:strCache>
            </c:strRef>
          </c:tx>
          <c:cat>
            <c:strRef>
              <c:f>Sheet1!$A$2:$A$40</c:f>
              <c:strCache>
                <c:ptCount val="39"/>
                <c:pt idx="0">
                  <c:v>Kasai</c:v>
                </c:pt>
                <c:pt idx="1">
                  <c:v>Kivu</c:v>
                </c:pt>
                <c:pt idx="2">
                  <c:v>Lokari</c:v>
                </c:pt>
                <c:pt idx="3">
                  <c:v>Lubamba</c:v>
                </c:pt>
                <c:pt idx="4">
                  <c:v>Mafuta Kizola</c:v>
                </c:pt>
                <c:pt idx="5">
                  <c:v>Mandiangu</c:v>
                </c:pt>
                <c:pt idx="6">
                  <c:v>Mapela</c:v>
                </c:pt>
                <c:pt idx="7">
                  <c:v>Matadi</c:v>
                </c:pt>
                <c:pt idx="8">
                  <c:v>Pelende</c:v>
                </c:pt>
                <c:pt idx="9">
                  <c:v>Tshuenge</c:v>
                </c:pt>
                <c:pt idx="10">
                  <c:v>Quartier 1</c:v>
                </c:pt>
                <c:pt idx="11">
                  <c:v>Quartier 10</c:v>
                </c:pt>
                <c:pt idx="12">
                  <c:v>Quartier 11</c:v>
                </c:pt>
                <c:pt idx="13">
                  <c:v>Quartier 12</c:v>
                </c:pt>
                <c:pt idx="14">
                  <c:v>Quartier 13 A</c:v>
                </c:pt>
                <c:pt idx="15">
                  <c:v>Quartier 13 B</c:v>
                </c:pt>
                <c:pt idx="16">
                  <c:v>Quartier 2</c:v>
                </c:pt>
                <c:pt idx="17">
                  <c:v>Quartier 3</c:v>
                </c:pt>
                <c:pt idx="18">
                  <c:v>Quartier 4</c:v>
                </c:pt>
                <c:pt idx="19">
                  <c:v>Quartier 5</c:v>
                </c:pt>
                <c:pt idx="20">
                  <c:v>Quartier 6</c:v>
                </c:pt>
                <c:pt idx="21">
                  <c:v>Quartier 7</c:v>
                </c:pt>
                <c:pt idx="22">
                  <c:v>Quartier 8</c:v>
                </c:pt>
                <c:pt idx="23">
                  <c:v>Quartier 9</c:v>
                </c:pt>
                <c:pt idx="24">
                  <c:v>Badara</c:v>
                </c:pt>
                <c:pt idx="25">
                  <c:v>Bahumbu 1</c:v>
                </c:pt>
                <c:pt idx="26">
                  <c:v>Bahumbu 2</c:v>
                </c:pt>
                <c:pt idx="27">
                  <c:v>Bibwa</c:v>
                </c:pt>
                <c:pt idx="28">
                  <c:v>Buma</c:v>
                </c:pt>
                <c:pt idx="29">
                  <c:v>Dingidingi</c:v>
                </c:pt>
                <c:pt idx="30">
                  <c:v>Fleuve</c:v>
                </c:pt>
                <c:pt idx="31">
                  <c:v>Kindobo</c:v>
                </c:pt>
                <c:pt idx="32">
                  <c:v>Mikala</c:v>
                </c:pt>
                <c:pt idx="33">
                  <c:v>Mikondo (Nsele)</c:v>
                </c:pt>
                <c:pt idx="34">
                  <c:v>Mikonga</c:v>
                </c:pt>
                <c:pt idx="35">
                  <c:v>Mpasa 1</c:v>
                </c:pt>
                <c:pt idx="36">
                  <c:v>Mpasa 2</c:v>
                </c:pt>
                <c:pt idx="37">
                  <c:v>Nsele</c:v>
                </c:pt>
                <c:pt idx="38">
                  <c:v>Pecheur</c:v>
                </c:pt>
              </c:strCache>
            </c:strRef>
          </c:cat>
          <c:val>
            <c:numRef>
              <c:f>Sheet1!$C$2:$C$40</c:f>
              <c:numCache>
                <c:formatCode>General</c:formatCode>
                <c:ptCount val="39"/>
                <c:pt idx="0">
                  <c:v>14.2</c:v>
                </c:pt>
                <c:pt idx="1">
                  <c:v>10.9</c:v>
                </c:pt>
                <c:pt idx="2">
                  <c:v>19.2</c:v>
                </c:pt>
                <c:pt idx="3">
                  <c:v>30.5</c:v>
                </c:pt>
                <c:pt idx="4">
                  <c:v>13.7</c:v>
                </c:pt>
                <c:pt idx="5">
                  <c:v>10.4</c:v>
                </c:pt>
                <c:pt idx="6">
                  <c:v>26.0</c:v>
                </c:pt>
                <c:pt idx="7">
                  <c:v>37.1</c:v>
                </c:pt>
                <c:pt idx="8">
                  <c:v>10.2</c:v>
                </c:pt>
                <c:pt idx="9">
                  <c:v>12.2</c:v>
                </c:pt>
                <c:pt idx="10">
                  <c:v>-4.9</c:v>
                </c:pt>
                <c:pt idx="11">
                  <c:v>46.2</c:v>
                </c:pt>
                <c:pt idx="12">
                  <c:v>-6.9</c:v>
                </c:pt>
                <c:pt idx="13">
                  <c:v>-92.9</c:v>
                </c:pt>
                <c:pt idx="14">
                  <c:v>-14.8</c:v>
                </c:pt>
                <c:pt idx="15">
                  <c:v>20.9</c:v>
                </c:pt>
                <c:pt idx="16">
                  <c:v>7.4</c:v>
                </c:pt>
                <c:pt idx="17">
                  <c:v>14.9</c:v>
                </c:pt>
                <c:pt idx="18">
                  <c:v>30.1</c:v>
                </c:pt>
                <c:pt idx="19">
                  <c:v>28.1</c:v>
                </c:pt>
                <c:pt idx="20">
                  <c:v>37.9</c:v>
                </c:pt>
                <c:pt idx="21">
                  <c:v>14.0</c:v>
                </c:pt>
                <c:pt idx="22">
                  <c:v>33.9</c:v>
                </c:pt>
                <c:pt idx="23">
                  <c:v>-4.1</c:v>
                </c:pt>
                <c:pt idx="24">
                  <c:v>9.3</c:v>
                </c:pt>
                <c:pt idx="25">
                  <c:v>32.1</c:v>
                </c:pt>
                <c:pt idx="26">
                  <c:v>14.2</c:v>
                </c:pt>
                <c:pt idx="27">
                  <c:v>10.4</c:v>
                </c:pt>
                <c:pt idx="28">
                  <c:v>-2.1</c:v>
                </c:pt>
                <c:pt idx="29">
                  <c:v>16.9</c:v>
                </c:pt>
                <c:pt idx="30">
                  <c:v>7.4</c:v>
                </c:pt>
                <c:pt idx="31">
                  <c:v>10.0</c:v>
                </c:pt>
                <c:pt idx="32">
                  <c:v>43.5</c:v>
                </c:pt>
                <c:pt idx="33">
                  <c:v>26.0</c:v>
                </c:pt>
                <c:pt idx="34">
                  <c:v>27.9</c:v>
                </c:pt>
                <c:pt idx="35">
                  <c:v>32.1</c:v>
                </c:pt>
                <c:pt idx="36">
                  <c:v>62.3</c:v>
                </c:pt>
                <c:pt idx="37">
                  <c:v>35.6</c:v>
                </c:pt>
                <c:pt idx="38">
                  <c:v>25.5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fr-F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75" name="Google Shape;7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82" name="Google Shape;82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89" name="Google Shape;89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97" name="Google Shape;9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e de titre">
  <p:cSld name="Diapositive de titre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9"/>
          <p:cNvSpPr txBox="1"/>
          <p:nvPr>
            <p:ph type="ctrTitle"/>
          </p:nvPr>
        </p:nvSpPr>
        <p:spPr>
          <a:xfrm>
            <a:off x="3385429" y="3768778"/>
            <a:ext cx="8572500" cy="23415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E4E79"/>
              </a:buClr>
              <a:buSzPts val="4800"/>
              <a:buFont typeface="Arimo"/>
              <a:buNone/>
              <a:defRPr sz="4800">
                <a:solidFill>
                  <a:srgbClr val="1E4E79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  <p:pic>
        <p:nvPicPr>
          <p:cNvPr id="21" name="Google Shape;21;p2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23810" y="0"/>
            <a:ext cx="12215810" cy="37179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re et contenu" type="obj">
  <p:cSld name="OBJECT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0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0"/>
          <p:cNvSpPr txBox="1"/>
          <p:nvPr>
            <p:ph idx="1" type="body"/>
          </p:nvPr>
        </p:nvSpPr>
        <p:spPr>
          <a:xfrm>
            <a:off x="838200" y="18002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" name="Google Shape;25;p3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ison" type="twoTxTwoObj">
  <p:cSld name="TWO_OBJECTS_WITH_TEXT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31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1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29" name="Google Shape;29;p31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" name="Google Shape;30;p31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1" name="Google Shape;31;p31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3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re de section" type="secHead">
  <p:cSld name="SECTION_HEADER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32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mo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32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6" name="Google Shape;36;p3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ux contenus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3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33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33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3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re seul" type="titleOnly">
  <p:cSld name="TITLE_ONLY">
    <p:bg>
      <p:bgPr>
        <a:gradFill>
          <a:gsLst>
            <a:gs pos="0">
              <a:srgbClr val="DDEAF6"/>
            </a:gs>
            <a:gs pos="14276">
              <a:srgbClr val="F1F7FC"/>
            </a:gs>
            <a:gs pos="24785">
              <a:schemeClr val="lt1"/>
            </a:gs>
            <a:gs pos="36289">
              <a:schemeClr val="lt1"/>
            </a:gs>
            <a:gs pos="54900">
              <a:schemeClr val="lt1"/>
            </a:gs>
            <a:gs pos="75000">
              <a:schemeClr val="lt1"/>
            </a:gs>
            <a:gs pos="83000">
              <a:schemeClr val="lt1"/>
            </a:gs>
            <a:gs pos="100000">
              <a:schemeClr val="lt1"/>
            </a:gs>
          </a:gsLst>
          <a:lin ang="5400000" scaled="0"/>
        </a:gra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34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mo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3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ide" type="blank">
  <p:cSld name="BLANK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3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u avec légende" type="objTx">
  <p:cSld name="OBJECT_WITH_CAPTION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36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mo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36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1" name="Google Shape;51;p3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avec légende" type="picTx">
  <p:cSld name="PICTURE_WITH_CAPTION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37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mo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37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55" name="Google Shape;55;p37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6" name="Google Shape;56;p3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re et texte vertical" type="vertTx">
  <p:cSld name="VERTICAL_TEXT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8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8"/>
          <p:cNvSpPr txBox="1"/>
          <p:nvPr>
            <p:ph idx="1" type="body"/>
          </p:nvPr>
        </p:nvSpPr>
        <p:spPr>
          <a:xfrm rot="5400000">
            <a:off x="3920331" y="-12819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0" name="Google Shape;60;p3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re vertical et texte" type="vertTitleAndTx">
  <p:cSld name="VERTICAL_TITLE_AND_VERTICAL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9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9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4" name="Google Shape;64;p3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DDEAF6"/>
            </a:gs>
            <a:gs pos="24785">
              <a:schemeClr val="lt1"/>
            </a:gs>
            <a:gs pos="36289">
              <a:schemeClr val="lt1"/>
            </a:gs>
            <a:gs pos="54900">
              <a:schemeClr val="lt1"/>
            </a:gs>
            <a:gs pos="75000">
              <a:schemeClr val="lt1"/>
            </a:gs>
            <a:gs pos="83000">
              <a:schemeClr val="lt1"/>
            </a:gs>
            <a:gs pos="100000">
              <a:schemeClr val="lt1"/>
            </a:gs>
          </a:gsLst>
          <a:lin ang="5400000" scaled="0"/>
        </a:gra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8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mo"/>
              <a:buNone/>
              <a:defRPr b="0" i="0" sz="4400" u="none" cap="none" strike="noStrik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8"/>
          <p:cNvSpPr txBox="1"/>
          <p:nvPr>
            <p:ph idx="1" type="body"/>
          </p:nvPr>
        </p:nvSpPr>
        <p:spPr>
          <a:xfrm>
            <a:off x="838200" y="18002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9pPr>
          </a:lstStyle>
          <a:p/>
        </p:txBody>
      </p:sp>
      <p:sp>
        <p:nvSpPr>
          <p:cNvPr id="12" name="Google Shape;12;p28"/>
          <p:cNvSpPr txBox="1"/>
          <p:nvPr>
            <p:ph idx="10" type="dt"/>
          </p:nvPr>
        </p:nvSpPr>
        <p:spPr>
          <a:xfrm>
            <a:off x="6045198" y="6356350"/>
            <a:ext cx="2489201" cy="365125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9pPr>
          </a:lstStyle>
          <a:p/>
        </p:txBody>
      </p:sp>
      <p:sp>
        <p:nvSpPr>
          <p:cNvPr id="13" name="Google Shape;13;p2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  <p:cxnSp>
        <p:nvCxnSpPr>
          <p:cNvPr id="14" name="Google Shape;14;p28"/>
          <p:cNvCxnSpPr/>
          <p:nvPr/>
        </p:nvCxnSpPr>
        <p:spPr>
          <a:xfrm rot="10800000">
            <a:off x="406399" y="1354138"/>
            <a:ext cx="11556998" cy="0"/>
          </a:xfrm>
          <a:prstGeom prst="straightConnector1">
            <a:avLst/>
          </a:prstGeom>
          <a:noFill/>
          <a:ln cap="flat" cmpd="sng" w="28575">
            <a:solidFill>
              <a:srgbClr val="00499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" name="Google Shape;15;p28"/>
          <p:cNvCxnSpPr/>
          <p:nvPr/>
        </p:nvCxnSpPr>
        <p:spPr>
          <a:xfrm rot="10800000">
            <a:off x="406397" y="6280147"/>
            <a:ext cx="11556999" cy="1"/>
          </a:xfrm>
          <a:prstGeom prst="straightConnector1">
            <a:avLst/>
          </a:prstGeom>
          <a:noFill/>
          <a:ln cap="flat" cmpd="sng" w="9525">
            <a:solidFill>
              <a:srgbClr val="004890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6" name="Google Shape;16;p28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06396" y="6327774"/>
            <a:ext cx="685803" cy="50482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8"/>
          <p:cNvSpPr/>
          <p:nvPr/>
        </p:nvSpPr>
        <p:spPr>
          <a:xfrm>
            <a:off x="1130300" y="6311900"/>
            <a:ext cx="4483100" cy="520700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rgbClr val="42719B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Libre Franklin"/>
              <a:buNone/>
            </a:pPr>
            <a:r>
              <a:rPr b="0" i="0" lang="fr-FR" sz="1800" u="none" cap="none" strike="noStrike">
                <a:solidFill>
                  <a:srgbClr val="2F5496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Vacciner c’est aimer, vacciner c’est protéger</a:t>
            </a:r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"/>
          <p:cNvSpPr txBox="1"/>
          <p:nvPr>
            <p:ph type="ctrTitle"/>
          </p:nvPr>
        </p:nvSpPr>
        <p:spPr>
          <a:xfrm>
            <a:off x="0" y="3768778"/>
            <a:ext cx="11957929" cy="23415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333CC"/>
              </a:buClr>
              <a:buSzPts val="4000"/>
              <a:buFont typeface="Arial Black"/>
              <a:buNone/>
            </a:pPr>
            <a:br>
              <a:rPr b="1" lang="fr-FR" sz="4000">
                <a:solidFill>
                  <a:srgbClr val="3333CC"/>
                </a:solidFill>
                <a:latin typeface="Arial Black"/>
                <a:ea typeface="Arial Black"/>
                <a:cs typeface="Arial Black"/>
                <a:sym typeface="Arial Black"/>
              </a:rPr>
            </a:br>
            <a:r>
              <a:rPr lang="fr-FR"/>
              <a:t> </a:t>
            </a:r>
            <a:br>
              <a:rPr b="1" lang="fr-FR" sz="2400">
                <a:solidFill>
                  <a:srgbClr val="002060"/>
                </a:solidFill>
              </a:rPr>
            </a:br>
            <a:r>
              <a:rPr b="1" lang="fr-FR" sz="2400">
                <a:solidFill>
                  <a:srgbClr val="3333CC"/>
                </a:solidFill>
                <a:latin typeface="Arial Black"/>
                <a:ea typeface="Arial Black"/>
                <a:cs typeface="Arial Black"/>
                <a:sym typeface="Arial Black"/>
              </a:rPr>
              <a:t> </a:t>
            </a:r>
            <a:endParaRPr sz="2400"/>
          </a:p>
        </p:txBody>
      </p:sp>
      <p:sp>
        <p:nvSpPr>
          <p:cNvPr id="70" name="Google Shape;70;p1"/>
          <p:cNvSpPr txBox="1"/>
          <p:nvPr/>
        </p:nvSpPr>
        <p:spPr>
          <a:xfrm>
            <a:off x="2392472" y="3823839"/>
            <a:ext cx="77661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fr-FR" sz="3900" u="none" cap="none" strike="noStrike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REVUE</a:t>
            </a:r>
            <a:r>
              <a:rPr b="1" i="0" lang="fr-FR" sz="3100" u="none" cap="none" strike="noStrike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i="0" lang="fr-FR" sz="3900" u="none" cap="none" strike="noStrike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FORMATIVE PEV 202</a:t>
            </a:r>
            <a:r>
              <a:rPr b="1" lang="fr-FR" sz="39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</a:t>
            </a:r>
            <a:r>
              <a:rPr b="1" i="0" lang="fr-FR" sz="3900" u="none" cap="none" strike="noStrike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sz="13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1" name="Google Shape;71;p1"/>
          <p:cNvSpPr txBox="1"/>
          <p:nvPr/>
        </p:nvSpPr>
        <p:spPr>
          <a:xfrm>
            <a:off x="263050" y="4572000"/>
            <a:ext cx="11747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-FR" sz="20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PRÉSENTATION</a:t>
            </a:r>
            <a:r>
              <a:rPr b="1" i="0" lang="fr-FR" sz="2000" u="none" cap="none" strike="noStrike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DES PERFORMANCES  </a:t>
            </a:r>
            <a:r>
              <a:rPr b="1" lang="fr-FR" sz="20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JANVIER À AVRIL 2026</a:t>
            </a:r>
            <a:r>
              <a:rPr b="1" i="0" lang="fr-FR" sz="2000" u="none" cap="none" strike="noStrike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 LA  ZONE DE </a:t>
            </a:r>
            <a:r>
              <a:rPr b="1" lang="fr-FR" sz="20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SANTÉ</a:t>
            </a:r>
            <a:r>
              <a:rPr b="1" i="0" lang="fr-FR" sz="2000" u="none" cap="none" strike="noStrike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DE:      </a:t>
            </a:r>
            <a:r>
              <a:rPr b="1" i="0" lang="fr-FR" sz="2000" u="none" cap="none" strike="noStrike">
                <a:solidFill>
                  <a:srgbClr val="FF000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</a:t>
            </a:r>
            <a:endParaRPr/>
          </a:p>
        </p:txBody>
      </p:sp>
      <p:sp>
        <p:nvSpPr>
          <p:cNvPr id="72" name="Google Shape;72;p1"/>
          <p:cNvSpPr txBox="1"/>
          <p:nvPr/>
        </p:nvSpPr>
        <p:spPr>
          <a:xfrm>
            <a:off x="3767534" y="5423798"/>
            <a:ext cx="4121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fr-FR" sz="2400">
                <a:solidFill>
                  <a:srgbClr val="00B05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PRÉSENTÉE</a:t>
            </a:r>
            <a:r>
              <a:rPr b="1" lang="fr-FR" sz="2400">
                <a:solidFill>
                  <a:srgbClr val="00B05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PAR :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"/>
          <p:cNvSpPr txBox="1"/>
          <p:nvPr>
            <p:ph type="title"/>
          </p:nvPr>
        </p:nvSpPr>
        <p:spPr>
          <a:xfrm>
            <a:off x="192088" y="115888"/>
            <a:ext cx="11736387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6000"/>
              <a:buFont typeface="Times New Roman"/>
              <a:buNone/>
            </a:pPr>
            <a:r>
              <a:rPr b="1" lang="fr-FR" sz="48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Plan de présentation</a:t>
            </a:r>
            <a:endParaRPr sz="4800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9" name="Google Shape;79;p2"/>
          <p:cNvSpPr txBox="1"/>
          <p:nvPr>
            <p:ph idx="1" type="body"/>
          </p:nvPr>
        </p:nvSpPr>
        <p:spPr>
          <a:xfrm>
            <a:off x="444661" y="1441410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77500" lnSpcReduction="20000"/>
          </a:bodyPr>
          <a:lstStyle/>
          <a:p>
            <a:pPr indent="-544830" lvl="0" marL="5715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Informations générales.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4483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Objectifs 2026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4483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Résultats 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0193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•"/>
            </a:pPr>
            <a:r>
              <a:rPr lang="fr-FR" sz="2800">
                <a:latin typeface="Times New Roman"/>
                <a:ea typeface="Times New Roman"/>
                <a:cs typeface="Times New Roman"/>
                <a:sym typeface="Times New Roman"/>
              </a:rPr>
              <a:t>De processus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0193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•"/>
            </a:pPr>
            <a:r>
              <a:rPr lang="fr-FR" sz="2800">
                <a:latin typeface="Times New Roman"/>
                <a:ea typeface="Times New Roman"/>
                <a:cs typeface="Times New Roman"/>
                <a:sym typeface="Times New Roman"/>
              </a:rPr>
              <a:t>De Couverture (Performances Janvier - Avril 2026)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4483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Leçons apprises et bonnes pratiques 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4483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Analyse FFOM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4483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Problèmes prioritaires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4483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Analyse causale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4483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Plan de redressement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4483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Besoins en formation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407035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onstantia"/>
              <a:buNone/>
            </a:pPr>
            <a:r>
              <a:t/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"/>
          <p:cNvSpPr txBox="1"/>
          <p:nvPr>
            <p:ph idx="1" type="body"/>
          </p:nvPr>
        </p:nvSpPr>
        <p:spPr>
          <a:xfrm>
            <a:off x="444661" y="1441410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71500" lvl="0" marL="5715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Carte postale de la zone de santé.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9370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onstantia"/>
              <a:buNone/>
            </a:pPr>
            <a:r>
              <a:t/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6" name="Google Shape;86;p3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850900" lvl="0" marL="85725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300"/>
              <a:buFont typeface="Times New Roman"/>
              <a:buAutoNum type="romanUcPeriod"/>
            </a:pPr>
            <a:r>
              <a:rPr b="1" i="0" lang="fr-FR" sz="4300" u="none" cap="none" strike="noStrike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Informations Générales</a:t>
            </a:r>
            <a:endParaRPr i="0" sz="4300" u="none" cap="none" strike="noStrike">
              <a:solidFill>
                <a:srgbClr val="2F4D8E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4"/>
          <p:cNvSpPr txBox="1"/>
          <p:nvPr>
            <p:ph idx="1" type="body"/>
          </p:nvPr>
        </p:nvSpPr>
        <p:spPr>
          <a:xfrm>
            <a:off x="444661" y="1441410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fr-FR"/>
              <a:t>.</a:t>
            </a:r>
            <a:endParaRPr/>
          </a:p>
          <a:p>
            <a:pPr indent="-39370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onstantia"/>
              <a:buNone/>
            </a:pPr>
            <a:r>
              <a:t/>
            </a:r>
            <a:endParaRPr/>
          </a:p>
        </p:txBody>
      </p:sp>
      <p:sp>
        <p:nvSpPr>
          <p:cNvPr id="93" name="Google Shape;93;p4"/>
          <p:cNvSpPr txBox="1"/>
          <p:nvPr>
            <p:ph type="title"/>
          </p:nvPr>
        </p:nvSpPr>
        <p:spPr>
          <a:xfrm>
            <a:off x="1092200" y="114605"/>
            <a:ext cx="10261600" cy="5993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-857250" lvl="0" marL="85725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ct val="100000"/>
              <a:buFont typeface="Times New Roman"/>
              <a:buAutoNum type="romanUcPeriod"/>
            </a:pPr>
            <a:r>
              <a:rPr b="1" i="0" lang="fr-FR" sz="4400" u="none" cap="none" strike="noStrike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Informations Générales</a:t>
            </a:r>
            <a:endParaRPr i="0" sz="4400" u="none" cap="none" strike="noStrike">
              <a:solidFill>
                <a:srgbClr val="2F4D8E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94" name="Google Shape;94;p4"/>
          <p:cNvGraphicFramePr/>
          <p:nvPr/>
        </p:nvGraphicFramePr>
        <p:xfrm>
          <a:off x="228598" y="95710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5640175"/>
                <a:gridCol w="6109850"/>
              </a:tblGrid>
              <a:tr h="384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Items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Année 202</a:t>
                      </a:r>
                      <a:r>
                        <a:rPr b="1" lang="fr-FR" sz="16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</a:t>
                      </a:r>
                      <a:endParaRPr b="1" i="0" sz="1600" u="none" cap="none" strike="noStrike">
                        <a:solidFill>
                          <a:srgbClr val="FF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062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Zone de Santé</a:t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062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Superficie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8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Pop totale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73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Densité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8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Pop cible 0-11 mois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8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Pop cible 12-23 mois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73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Pop cible 24-59 mois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8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Pop spéciale (Accès difficile, Campements, ilots, ….)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8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d’AS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8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CS fonctionnels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05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CS opérationnels en PEV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2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8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CS d’accès difficile</a:t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71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8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Poids démographique des AS d’accès difficile</a:t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5"/>
          <p:cNvSpPr txBox="1"/>
          <p:nvPr>
            <p:ph idx="1" type="body"/>
          </p:nvPr>
        </p:nvSpPr>
        <p:spPr>
          <a:xfrm>
            <a:off x="444661" y="1441410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fr-FR"/>
              <a:t>.</a:t>
            </a:r>
            <a:endParaRPr/>
          </a:p>
          <a:p>
            <a:pPr indent="-39370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onstantia"/>
              <a:buNone/>
            </a:pPr>
            <a:r>
              <a:t/>
            </a:r>
            <a:endParaRPr/>
          </a:p>
        </p:txBody>
      </p:sp>
      <p:sp>
        <p:nvSpPr>
          <p:cNvPr id="101" name="Google Shape;101;p5"/>
          <p:cNvSpPr txBox="1"/>
          <p:nvPr>
            <p:ph type="title"/>
          </p:nvPr>
        </p:nvSpPr>
        <p:spPr>
          <a:xfrm>
            <a:off x="1092200" y="114605"/>
            <a:ext cx="10261600" cy="5993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-857250" lvl="0" marL="85725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ct val="100000"/>
              <a:buFont typeface="Times New Roman"/>
              <a:buAutoNum type="romanUcPeriod"/>
            </a:pPr>
            <a:r>
              <a:rPr b="1" i="0" lang="fr-FR" sz="4400" u="none" cap="none" strike="noStrike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Informations Générales</a:t>
            </a:r>
            <a:endParaRPr i="0" sz="4400" u="none" cap="none" strike="noStrike">
              <a:solidFill>
                <a:srgbClr val="2F4D8E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102" name="Google Shape;102;p5"/>
          <p:cNvGraphicFramePr/>
          <p:nvPr/>
        </p:nvGraphicFramePr>
        <p:xfrm>
          <a:off x="266007" y="150757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5602775"/>
                <a:gridCol w="6109850"/>
              </a:tblGrid>
              <a:tr h="4254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Items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Année 202</a:t>
                      </a:r>
                      <a:r>
                        <a:rPr b="1" lang="fr-FR" sz="16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</a:t>
                      </a:r>
                      <a:endParaRPr b="1" i="0" sz="1600" u="none" cap="none" strike="noStrike">
                        <a:solidFill>
                          <a:srgbClr val="FF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47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CS avec réfrigérateurs fonctionnels  solaire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47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CS avec réfrigérateurs non fonctionnels 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47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CAC planifiées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5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CAC fonctionnelles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4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RECO planifiés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5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RECO Fonctionnels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5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Moyens roulants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"/>
          <p:cNvSpPr txBox="1"/>
          <p:nvPr>
            <p:ph type="title"/>
          </p:nvPr>
        </p:nvSpPr>
        <p:spPr>
          <a:xfrm>
            <a:off x="326003" y="365125"/>
            <a:ext cx="11712272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b="1" lang="fr-FR" sz="31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Cartographie des partenaires techniques et financiers en appui</a:t>
            </a:r>
            <a:br>
              <a:rPr lang="fr-FR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108" name="Google Shape;108;p6"/>
          <p:cNvGraphicFramePr/>
          <p:nvPr/>
        </p:nvGraphicFramePr>
        <p:xfrm>
          <a:off x="326003" y="138675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{248DD74A-A1A7-4777-8AA3-1E47BC875A0D}</a:tableStyleId>
              </a:tblPr>
              <a:tblGrid>
                <a:gridCol w="884125"/>
                <a:gridCol w="3006200"/>
                <a:gridCol w="2628225"/>
                <a:gridCol w="2781300"/>
                <a:gridCol w="2324950"/>
              </a:tblGrid>
              <a:tr h="404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 u="none" cap="none" strike="noStrike">
                          <a:solidFill>
                            <a:srgbClr val="1155CC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N°</a:t>
                      </a:r>
                      <a:endParaRPr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>
                          <a:solidFill>
                            <a:srgbClr val="1155CC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PTF</a:t>
                      </a:r>
                      <a:endParaRPr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>
                          <a:solidFill>
                            <a:srgbClr val="1155CC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Type d’intervention</a:t>
                      </a:r>
                      <a:endParaRPr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>
                          <a:solidFill>
                            <a:srgbClr val="1155CC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Partielle/Globale</a:t>
                      </a:r>
                      <a:endParaRPr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>
                          <a:solidFill>
                            <a:srgbClr val="1155CC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Observation</a:t>
                      </a:r>
                      <a:endParaRPr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4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4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4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4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4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4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4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4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7"/>
          <p:cNvSpPr txBox="1"/>
          <p:nvPr>
            <p:ph type="title"/>
          </p:nvPr>
        </p:nvSpPr>
        <p:spPr>
          <a:xfrm>
            <a:off x="713984" y="338203"/>
            <a:ext cx="10639816" cy="8936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400"/>
              <a:buFont typeface="Arial"/>
              <a:buNone/>
            </a:pPr>
            <a:r>
              <a:rPr b="1" lang="fr-FR">
                <a:solidFill>
                  <a:srgbClr val="2F4D8E"/>
                </a:solidFill>
                <a:latin typeface="Arial"/>
                <a:ea typeface="Arial"/>
                <a:cs typeface="Arial"/>
                <a:sym typeface="Arial"/>
              </a:rPr>
              <a:t>II. Objectifs  ZS en 2025</a:t>
            </a:r>
            <a:endParaRPr/>
          </a:p>
        </p:txBody>
      </p:sp>
      <p:sp>
        <p:nvSpPr>
          <p:cNvPr id="114" name="Google Shape;114;p7"/>
          <p:cNvSpPr txBox="1"/>
          <p:nvPr>
            <p:ph idx="1" type="body"/>
          </p:nvPr>
        </p:nvSpPr>
        <p:spPr>
          <a:xfrm>
            <a:off x="413359" y="1615858"/>
            <a:ext cx="10940441" cy="453570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fr-FR"/>
              <a:t>II.1. Objectifs de processus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fr-FR"/>
              <a:t>II.2. Objectifs de Couverture Vaccinale et réduction du taux de perte par antigène.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8"/>
          <p:cNvSpPr txBox="1"/>
          <p:nvPr>
            <p:ph type="title"/>
          </p:nvPr>
        </p:nvSpPr>
        <p:spPr>
          <a:xfrm>
            <a:off x="690825" y="307775"/>
            <a:ext cx="10261500" cy="8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III. 1. Résultats de processus</a:t>
            </a:r>
            <a:r>
              <a:rPr b="1" lang="fr-FR" sz="4000">
                <a:solidFill>
                  <a:srgbClr val="2F4D8E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graphicFrame>
        <p:nvGraphicFramePr>
          <p:cNvPr id="120" name="Google Shape;120;p8"/>
          <p:cNvGraphicFramePr/>
          <p:nvPr/>
        </p:nvGraphicFramePr>
        <p:xfrm>
          <a:off x="465549" y="137453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6320625"/>
                <a:gridCol w="2470150"/>
                <a:gridCol w="2470150"/>
              </a:tblGrid>
              <a:tr h="61927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b="1"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ITEMS</a:t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b="1" lang="fr-FR" sz="18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Janvier- Avril 2025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b="1" lang="fr-FR" sz="18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</a:t>
                      </a:r>
                      <a:r>
                        <a:rPr b="1" lang="fr-FR" sz="18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Avril 2026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352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8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d’activités planifiées (PAO )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99000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d’activités réalisées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997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personnel formés en gestion technique PEV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23700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Ressources financières allouées 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23700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Ressources financières reçues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23700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Ressources financières utilisées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23700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Ressources financières justifiés (Avances ouvertes) 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9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Arial"/>
                <a:ea typeface="Arial"/>
                <a:cs typeface="Arial"/>
                <a:sym typeface="Arial"/>
              </a:rPr>
              <a:t>III. 1. Résultats de processus </a:t>
            </a:r>
            <a:endParaRPr/>
          </a:p>
        </p:txBody>
      </p:sp>
      <p:graphicFrame>
        <p:nvGraphicFramePr>
          <p:cNvPr id="126" name="Google Shape;126;p9"/>
          <p:cNvGraphicFramePr/>
          <p:nvPr/>
        </p:nvGraphicFramePr>
        <p:xfrm>
          <a:off x="463462" y="138284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6320625"/>
                <a:gridCol w="2470150"/>
                <a:gridCol w="2470150"/>
              </a:tblGrid>
              <a:tr h="61927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b="1"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ITEMS</a:t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b="1" lang="fr-FR" sz="18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Janvier- Avril 2025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b="1" lang="fr-FR" sz="18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Avril 2026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9182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supervisions effectuées BCZS vers les AS (réalisées sur prévues)</a:t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16207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supervisions effectuées du BCZS vers les AS ayant intégrées PEV et Surveillance (réalisées sur prévues)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9927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</a:t>
                      </a:r>
                      <a:r>
                        <a:rPr lang="fr-FR" sz="20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supervisions</a:t>
                      </a: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reçues de l’antenne / coordination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597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réunions de monitorages effectués au BCZS (réalisées sur prévues)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597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réunions de monitorages effectués au CS(réalisées sur prévues)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0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39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III. 1. Résultats de processus </a:t>
            </a:r>
            <a:endParaRPr sz="43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132" name="Google Shape;132;p10"/>
          <p:cNvGraphicFramePr/>
          <p:nvPr/>
        </p:nvGraphicFramePr>
        <p:xfrm>
          <a:off x="438411" y="140248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6081575"/>
                <a:gridCol w="2376725"/>
                <a:gridCol w="2376725"/>
              </a:tblGrid>
              <a:tr h="499500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b="1"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ITEMS</a:t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b="1" lang="fr-FR" sz="18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Janvier- Avril 2025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b="1" lang="fr-FR" sz="18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Avril 2026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062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CS  avec stratégie avancées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117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113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062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CS avec stratégie mobile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14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16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7342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séances de vaccination en stratégie fixe (Prévue/réalisée)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5712 / 5424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6491 / 6298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7342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séances de vaccination en stratégie avancée (Prévue/réalisée)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2199 / 1922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2100 / 1968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682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séances de vaccination en stratégie mobile (Prévue/réalisée)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77 / 76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125 / 117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682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682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1"/>
          <p:cNvSpPr txBox="1"/>
          <p:nvPr>
            <p:ph type="title"/>
          </p:nvPr>
        </p:nvSpPr>
        <p:spPr>
          <a:xfrm>
            <a:off x="339150" y="365125"/>
            <a:ext cx="11546400" cy="8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3960"/>
              <a:buFont typeface="Arial"/>
              <a:buNone/>
            </a:pPr>
            <a:r>
              <a:rPr b="1" lang="fr-FR" sz="376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IV. Performances  par AS et ZS/Janvier  - Avril 2026</a:t>
            </a:r>
            <a:endParaRPr sz="376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8" name="Google Shape;138;p11"/>
          <p:cNvSpPr txBox="1"/>
          <p:nvPr>
            <p:ph idx="1" type="body"/>
          </p:nvPr>
        </p:nvSpPr>
        <p:spPr>
          <a:xfrm>
            <a:off x="87683" y="1365336"/>
            <a:ext cx="11962355" cy="4910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77500" lnSpcReduction="20000"/>
          </a:bodyPr>
          <a:lstStyle/>
          <a:p>
            <a:pPr indent="-188595" lvl="0" marL="228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●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Complétude et Promptitude 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88595" lvl="0" marL="228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●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Couvertures vaccinales AS/ZS par antigène.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88595" lvl="0" marL="228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●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Proportion des AS avec au moins 80% dans tous les antigènes.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88595" lvl="0" marL="228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●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Nombres enfants ZD et SV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88595" lvl="0" marL="228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●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catégorisation AS/ZS 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88595" lvl="0" marL="228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●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Taux de disponibilité des intrants par AS (BCG, DTC, VAR, VPO)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88595" lvl="0" marL="228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●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Taux de perte par AS et Antigène tracer: VPO, DTC, VAR, VAA et Td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88595" lvl="0" marL="228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●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Disponibilité des outils de rapportage des données (Registre de vacc, carte CPS, Canevas SNIS, fiche de pointage, Jeton de récupération,  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2"/>
          <p:cNvSpPr txBox="1"/>
          <p:nvPr>
            <p:ph type="title"/>
          </p:nvPr>
        </p:nvSpPr>
        <p:spPr>
          <a:xfrm>
            <a:off x="451375" y="365125"/>
            <a:ext cx="11546400" cy="8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3960"/>
              <a:buFont typeface="Arial"/>
              <a:buNone/>
            </a:pPr>
            <a:r>
              <a:rPr b="1" lang="fr-FR" sz="386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IV. Performances  par AS et ZS/Janvier - Avril 2026</a:t>
            </a:r>
            <a:endParaRPr sz="386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4" name="Google Shape;144;p12"/>
          <p:cNvSpPr txBox="1"/>
          <p:nvPr>
            <p:ph idx="1" type="body"/>
          </p:nvPr>
        </p:nvSpPr>
        <p:spPr>
          <a:xfrm>
            <a:off x="87683" y="1365336"/>
            <a:ext cx="11962355" cy="4910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34950" lvl="1" marL="685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•"/>
            </a:pPr>
            <a:r>
              <a:rPr lang="fr-FR" sz="2500">
                <a:latin typeface="Times New Roman"/>
                <a:ea typeface="Times New Roman"/>
                <a:cs typeface="Times New Roman"/>
                <a:sym typeface="Times New Roman"/>
              </a:rPr>
              <a:t>Performance communication:</a:t>
            </a:r>
            <a:endParaRPr sz="2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34950" lvl="2" marL="114300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</a:pPr>
            <a:r>
              <a:rPr lang="fr-FR" sz="2100">
                <a:latin typeface="Times New Roman"/>
                <a:ea typeface="Times New Roman"/>
                <a:cs typeface="Times New Roman"/>
                <a:sym typeface="Times New Roman"/>
              </a:rPr>
              <a:t>Nombres enfants identifiés et récupérés (DHIS2)</a:t>
            </a:r>
            <a:endParaRPr sz="21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34950" lvl="2" marL="114300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</a:pPr>
            <a:r>
              <a:rPr lang="fr-FR" sz="2100">
                <a:latin typeface="Times New Roman"/>
                <a:ea typeface="Times New Roman"/>
                <a:cs typeface="Times New Roman"/>
                <a:sym typeface="Times New Roman"/>
              </a:rPr>
              <a:t>taux d’abandon en BCG/VAR-RR</a:t>
            </a:r>
            <a:endParaRPr sz="21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34950" lvl="2" marL="114300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</a:pPr>
            <a:r>
              <a:rPr lang="fr-FR" sz="2100">
                <a:latin typeface="Times New Roman"/>
                <a:ea typeface="Times New Roman"/>
                <a:cs typeface="Times New Roman"/>
                <a:sym typeface="Times New Roman"/>
              </a:rPr>
              <a:t>Taux d’abandon en DTC1/DTC3 </a:t>
            </a:r>
            <a:endParaRPr sz="21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1" marL="45720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t/>
            </a:r>
            <a:endParaRPr sz="2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9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3"/>
          <p:cNvSpPr txBox="1"/>
          <p:nvPr>
            <p:ph idx="1" type="body"/>
          </p:nvPr>
        </p:nvSpPr>
        <p:spPr>
          <a:xfrm>
            <a:off x="838200" y="18002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Char char="•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CONCERNE PROVINCES AVEC FINANCEMENT FAE: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•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TSHOPO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•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TSHUAPA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•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MAINDOMBE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•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KASAI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•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HAUT KATANGA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•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MONGALA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DEAF6"/>
              </a:gs>
              <a:gs pos="24785">
                <a:schemeClr val="lt1"/>
              </a:gs>
              <a:gs pos="36289">
                <a:schemeClr val="lt1"/>
              </a:gs>
              <a:gs pos="54900">
                <a:schemeClr val="lt1"/>
              </a:gs>
              <a:gs pos="75000">
                <a:schemeClr val="lt1"/>
              </a:gs>
              <a:gs pos="83000">
                <a:schemeClr val="lt1"/>
              </a:gs>
              <a:gs pos="100000">
                <a:schemeClr val="lt1"/>
              </a:gs>
            </a:gsLst>
            <a:lin ang="5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55" name="Google Shape;155;p14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E75B5"/>
              </a:gs>
            </a:gsLst>
            <a:lin ang="8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56" name="Google Shape;156;p14"/>
          <p:cNvSpPr/>
          <p:nvPr/>
        </p:nvSpPr>
        <p:spPr>
          <a:xfrm flipH="1" rot="10800000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5B9BD5">
                  <a:alpha val="0"/>
                </a:srgbClr>
              </a:gs>
              <a:gs pos="20000">
                <a:srgbClr val="5B9BD5">
                  <a:alpha val="0"/>
                </a:srgbClr>
              </a:gs>
              <a:gs pos="100000">
                <a:srgbClr val="1E4E79">
                  <a:alpha val="54901"/>
                </a:srgbClr>
              </a:gs>
            </a:gsLst>
            <a:lin ang="13800001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57" name="Google Shape;157;p14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5B9BD5">
                  <a:alpha val="65882"/>
                </a:srgbClr>
              </a:gs>
              <a:gs pos="100000">
                <a:srgbClr val="000000">
                  <a:alpha val="30196"/>
                </a:srgbClr>
              </a:gs>
            </a:gsLst>
            <a:lin ang="13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58" name="Google Shape;158;p14"/>
          <p:cNvSpPr/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1E4E79">
                  <a:alpha val="52156"/>
                </a:srgbClr>
              </a:gs>
              <a:gs pos="100000">
                <a:srgbClr val="1E4E79">
                  <a:alpha val="52156"/>
                </a:srgbClr>
              </a:gs>
            </a:gsLst>
            <a:lin ang="168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59" name="Google Shape;159;p14"/>
          <p:cNvSpPr txBox="1"/>
          <p:nvPr>
            <p:ph type="title"/>
          </p:nvPr>
        </p:nvSpPr>
        <p:spPr>
          <a:xfrm>
            <a:off x="315687" y="294538"/>
            <a:ext cx="10951864" cy="1033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rimo"/>
              <a:buNone/>
            </a:pPr>
            <a:r>
              <a:rPr lang="fr-FR" sz="3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Résultats obtenus de septembre 2023 à septembre 2025 (FAE)</a:t>
            </a:r>
            <a:endParaRPr sz="376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160" name="Google Shape;160;p14"/>
          <p:cNvGraphicFramePr/>
          <p:nvPr/>
        </p:nvGraphicFramePr>
        <p:xfrm>
          <a:off x="315687" y="170691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3069925"/>
                <a:gridCol w="1816900"/>
                <a:gridCol w="1190375"/>
                <a:gridCol w="1399225"/>
                <a:gridCol w="1399225"/>
                <a:gridCol w="1399225"/>
                <a:gridCol w="1190375"/>
              </a:tblGrid>
              <a:tr h="518400"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Stratégies 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% de ZS mettant en œuvre la stratégie 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%  d'AS mettant en œuvre la stratégie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3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d'enfants vaccinés 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hMerge="1"/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fr-FR" sz="16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Total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25125">
                <a:tc vMerge="1"/>
                <a:tc vMerge="1"/>
                <a:tc vMerge="1"/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Septembre à décembre 2023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à </a:t>
                      </a:r>
                      <a:r>
                        <a:rPr lang="fr-FR" sz="17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Décembre </a:t>
                      </a: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2024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fr-FR" sz="17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à Décembre 2025</a:t>
                      </a:r>
                      <a:endParaRPr i="0" sz="1700" u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vMerge="1"/>
              </a:tr>
              <a:tr h="388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Fixe/horaire adapté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Avancée/cartographie des ZS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Porte à porte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Point de concentration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1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Vaccination à tout contact pour la réduction des OVM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25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Autres à préciser (Initiatives locales de récupération des EZD et SV)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42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Total 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DEAF6"/>
              </a:gs>
              <a:gs pos="24785">
                <a:schemeClr val="lt1"/>
              </a:gs>
              <a:gs pos="36289">
                <a:schemeClr val="lt1"/>
              </a:gs>
              <a:gs pos="54900">
                <a:schemeClr val="lt1"/>
              </a:gs>
              <a:gs pos="75000">
                <a:schemeClr val="lt1"/>
              </a:gs>
              <a:gs pos="83000">
                <a:schemeClr val="lt1"/>
              </a:gs>
              <a:gs pos="100000">
                <a:schemeClr val="lt1"/>
              </a:gs>
            </a:gsLst>
            <a:lin ang="5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66" name="Google Shape;166;p15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E75B5"/>
              </a:gs>
            </a:gsLst>
            <a:lin ang="8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67" name="Google Shape;167;p15"/>
          <p:cNvSpPr/>
          <p:nvPr/>
        </p:nvSpPr>
        <p:spPr>
          <a:xfrm flipH="1" rot="10800000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5B9BD5">
                  <a:alpha val="0"/>
                </a:srgbClr>
              </a:gs>
              <a:gs pos="20000">
                <a:srgbClr val="5B9BD5">
                  <a:alpha val="0"/>
                </a:srgbClr>
              </a:gs>
              <a:gs pos="100000">
                <a:srgbClr val="1E4E79">
                  <a:alpha val="54901"/>
                </a:srgbClr>
              </a:gs>
            </a:gsLst>
            <a:lin ang="13800001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68" name="Google Shape;168;p15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5B9BD5">
                  <a:alpha val="65882"/>
                </a:srgbClr>
              </a:gs>
              <a:gs pos="100000">
                <a:srgbClr val="000000">
                  <a:alpha val="30196"/>
                </a:srgbClr>
              </a:gs>
            </a:gsLst>
            <a:lin ang="13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69" name="Google Shape;169;p15"/>
          <p:cNvSpPr/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1E4E79">
                  <a:alpha val="52156"/>
                </a:srgbClr>
              </a:gs>
              <a:gs pos="100000">
                <a:srgbClr val="1E4E79">
                  <a:alpha val="52156"/>
                </a:srgbClr>
              </a:gs>
            </a:gsLst>
            <a:lin ang="168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70" name="Google Shape;170;p15"/>
          <p:cNvSpPr txBox="1"/>
          <p:nvPr>
            <p:ph type="title"/>
          </p:nvPr>
        </p:nvSpPr>
        <p:spPr>
          <a:xfrm>
            <a:off x="315687" y="294538"/>
            <a:ext cx="10951864" cy="1033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rimo"/>
              <a:buNone/>
            </a:pPr>
            <a:r>
              <a:rPr lang="fr-FR" sz="3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Résultats : identification / récupération des ZD et SV de septembre 2023 à décembre 2025 (FAE)</a:t>
            </a:r>
            <a:endParaRPr sz="376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171" name="Google Shape;171;p15"/>
          <p:cNvGraphicFramePr/>
          <p:nvPr/>
        </p:nvGraphicFramePr>
        <p:xfrm>
          <a:off x="259884" y="162274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396525"/>
                <a:gridCol w="3046450"/>
                <a:gridCol w="1212875"/>
                <a:gridCol w="1271550"/>
                <a:gridCol w="1173750"/>
                <a:gridCol w="1017250"/>
                <a:gridCol w="1017250"/>
                <a:gridCol w="1017250"/>
                <a:gridCol w="1017250"/>
                <a:gridCol w="674900"/>
              </a:tblGrid>
              <a:tr h="282525"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N0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 de la Zone de santé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4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fr-FR" sz="1300" u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Identification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fr-FR" sz="1300" u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Récupération 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hMerge="1"/>
                <a:tc hMerge="1"/>
              </a:tr>
              <a:tr h="968750">
                <a:tc vMerge="1"/>
                <a:tc vMerge="1"/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Nbre de ZD identifié au démarrage FAE ( UNICEF)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Nbre de SV identifié au démarrage FAE ( UNICEF)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Nbre de ZD identifié en continu ( SANRU/OSC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Nbre de SV identifié en continu ( SANRU/OSC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Nbre ZD récupérés 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Nbre SV récupérés 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% ZD récupérés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% SV récupérés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8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10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11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 grid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6"/>
          <p:cNvSpPr txBox="1"/>
          <p:nvPr>
            <p:ph type="title"/>
          </p:nvPr>
        </p:nvSpPr>
        <p:spPr>
          <a:xfrm>
            <a:off x="1092200" y="365125"/>
            <a:ext cx="10261600" cy="6620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39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4.10. Surveillance PFA</a:t>
            </a:r>
            <a:endParaRPr sz="43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177" name="Google Shape;177;p16"/>
          <p:cNvGraphicFramePr/>
          <p:nvPr/>
        </p:nvGraphicFramePr>
        <p:xfrm>
          <a:off x="179388" y="132775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7605050"/>
                <a:gridCol w="1067850"/>
                <a:gridCol w="1067850"/>
                <a:gridCol w="1032550"/>
                <a:gridCol w="1034750"/>
              </a:tblGrid>
              <a:tr h="704650">
                <a:tc row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b="1" i="0" lang="fr-FR" sz="3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Indicateurs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4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 </a:t>
                      </a:r>
                      <a:r>
                        <a:rPr b="1" lang="fr-FR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avril 2025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rtl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fr-FR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 janvier - avril 2026</a:t>
                      </a:r>
                      <a:endParaRPr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84900">
                <a:tc vMerge="1"/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 i="0" sz="12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 i="0" sz="12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66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visites des</a:t>
                      </a:r>
                      <a:r>
                        <a:rPr b="1" i="0" lang="fr-FR" sz="14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</a:t>
                      </a: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sites par priorité pour la surveillance PFA</a:t>
                      </a:r>
                      <a:r>
                        <a:rPr b="1" i="0" lang="fr-FR" sz="14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(THP, HP,MP,FP)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66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4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THP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78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2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4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HP</a:t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9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2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4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MP</a:t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12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2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4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FP</a:t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7"/>
          <p:cNvSpPr txBox="1"/>
          <p:nvPr>
            <p:ph type="title"/>
          </p:nvPr>
        </p:nvSpPr>
        <p:spPr>
          <a:xfrm>
            <a:off x="1092200" y="365125"/>
            <a:ext cx="10261600" cy="6620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4.10. Surveillance PFA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183" name="Google Shape;183;p17"/>
          <p:cNvGraphicFramePr/>
          <p:nvPr/>
        </p:nvGraphicFramePr>
        <p:xfrm>
          <a:off x="286247" y="132775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7498200"/>
                <a:gridCol w="1067850"/>
                <a:gridCol w="1067850"/>
                <a:gridCol w="1032550"/>
                <a:gridCol w="1034750"/>
              </a:tblGrid>
              <a:tr h="704650">
                <a:tc row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b="1" i="0" lang="fr-FR" sz="34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Indicateurs</a:t>
                      </a:r>
                      <a:endParaRPr sz="16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 </a:t>
                      </a:r>
                      <a:r>
                        <a:rPr b="1" lang="fr-FR" sz="16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avril 2025</a:t>
                      </a:r>
                      <a:endParaRPr sz="16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rtl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-FR" sz="16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 janvier - avril 2026</a:t>
                      </a:r>
                      <a:endParaRPr sz="16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6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84900">
                <a:tc vMerge="1"/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 sz="16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 sz="16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 i="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 i="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66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Actualisation  de la classification des sites par priorité</a:t>
                      </a:r>
                      <a:endParaRPr sz="16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78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2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PFA notifiés</a:t>
                      </a:r>
                      <a:endParaRPr sz="16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9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2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PFA prélevés dans les 14 jrs </a:t>
                      </a:r>
                      <a:endParaRPr sz="16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12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2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PFA investigués dans les 48 h </a:t>
                      </a:r>
                      <a:endParaRPr sz="16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12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2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de Cvdpv</a:t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8"/>
          <p:cNvSpPr txBox="1"/>
          <p:nvPr>
            <p:ph type="title"/>
          </p:nvPr>
        </p:nvSpPr>
        <p:spPr>
          <a:xfrm>
            <a:off x="526093" y="277443"/>
            <a:ext cx="10827707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Arial"/>
                <a:ea typeface="Arial"/>
                <a:cs typeface="Arial"/>
                <a:sym typeface="Arial"/>
              </a:rPr>
              <a:t>4.11. Surveillance rougeole</a:t>
            </a:r>
            <a:endParaRPr/>
          </a:p>
        </p:txBody>
      </p:sp>
      <p:graphicFrame>
        <p:nvGraphicFramePr>
          <p:cNvPr id="189" name="Google Shape;189;p18"/>
          <p:cNvGraphicFramePr/>
          <p:nvPr/>
        </p:nvGraphicFramePr>
        <p:xfrm>
          <a:off x="206374" y="148438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7388350"/>
                <a:gridCol w="1055775"/>
                <a:gridCol w="1055775"/>
                <a:gridCol w="1121775"/>
                <a:gridCol w="1121775"/>
              </a:tblGrid>
              <a:tr h="581775">
                <a:tc row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i="0" lang="fr-FR" sz="29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Indicateurs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7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 </a:t>
                      </a:r>
                      <a:r>
                        <a:rPr b="1" lang="fr-FR" sz="17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avril 2025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rtl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-FR" sz="17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 janvier - avril 2026</a:t>
                      </a:r>
                      <a:endParaRPr sz="17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7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687650"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3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3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3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3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05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9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notifiés dans le REH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3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9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notifiés par la surveillance au cas par cas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3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9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investigués et prélevés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85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9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épidémies notifiées dans le délai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478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9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Epidémies avec riposte/prise en charge</a:t>
                      </a:r>
                      <a:endParaRPr i="0" sz="19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9"/>
          <p:cNvSpPr txBox="1"/>
          <p:nvPr>
            <p:ph type="title"/>
          </p:nvPr>
        </p:nvSpPr>
        <p:spPr>
          <a:xfrm>
            <a:off x="839788" y="77027"/>
            <a:ext cx="10515600" cy="6119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ct val="100000"/>
              <a:buFont typeface="Arial"/>
              <a:buNone/>
            </a:pPr>
            <a:r>
              <a:rPr b="1" lang="fr-FR">
                <a:solidFill>
                  <a:srgbClr val="2F4D8E"/>
                </a:solidFill>
                <a:latin typeface="Arial"/>
                <a:ea typeface="Arial"/>
                <a:cs typeface="Arial"/>
                <a:sym typeface="Arial"/>
              </a:rPr>
              <a:t>4.12. surveillance TNN</a:t>
            </a:r>
            <a:endParaRPr/>
          </a:p>
        </p:txBody>
      </p:sp>
      <p:graphicFrame>
        <p:nvGraphicFramePr>
          <p:cNvPr id="195" name="Google Shape;195;p19"/>
          <p:cNvGraphicFramePr/>
          <p:nvPr/>
        </p:nvGraphicFramePr>
        <p:xfrm>
          <a:off x="0" y="145351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6375400"/>
                <a:gridCol w="1397000"/>
                <a:gridCol w="1307475"/>
                <a:gridCol w="1418600"/>
                <a:gridCol w="1306825"/>
              </a:tblGrid>
              <a:tr h="490850">
                <a:tc row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600"/>
                        <a:buFont typeface="Arial"/>
                        <a:buNone/>
                      </a:pPr>
                      <a:r>
                        <a:rPr i="0" lang="fr-FR" sz="3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Indicateurs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7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 </a:t>
                      </a:r>
                      <a:r>
                        <a:rPr b="1" lang="fr-FR" sz="17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avril 2025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fr-FR" sz="17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avril 2026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680075"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5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5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5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5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64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8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notifiés dans le REH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07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8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notifiés par la surveillance au cas par cas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19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8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investigués et prélevés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9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8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avec riposte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0"/>
          <p:cNvSpPr txBox="1"/>
          <p:nvPr>
            <p:ph type="title"/>
          </p:nvPr>
        </p:nvSpPr>
        <p:spPr>
          <a:xfrm>
            <a:off x="839788" y="77027"/>
            <a:ext cx="10515600" cy="6119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ct val="100000"/>
              <a:buFont typeface="Arial"/>
              <a:buNone/>
            </a:pPr>
            <a:r>
              <a:rPr b="1" lang="fr-FR">
                <a:solidFill>
                  <a:srgbClr val="2F4D8E"/>
                </a:solidFill>
                <a:latin typeface="Arial"/>
                <a:ea typeface="Arial"/>
                <a:cs typeface="Arial"/>
                <a:sym typeface="Arial"/>
              </a:rPr>
              <a:t>4.12. surveillance FJ</a:t>
            </a:r>
            <a:endParaRPr/>
          </a:p>
        </p:txBody>
      </p:sp>
      <p:graphicFrame>
        <p:nvGraphicFramePr>
          <p:cNvPr id="201" name="Google Shape;201;p20"/>
          <p:cNvGraphicFramePr/>
          <p:nvPr/>
        </p:nvGraphicFramePr>
        <p:xfrm>
          <a:off x="400685" y="129984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{E2C20AF3-28AD-4B50-9251-37FC827B966A}</a:tableStyleId>
              </a:tblPr>
              <a:tblGrid>
                <a:gridCol w="6868150"/>
                <a:gridCol w="1294775"/>
                <a:gridCol w="1294125"/>
                <a:gridCol w="1293500"/>
                <a:gridCol w="1040775"/>
              </a:tblGrid>
              <a:tr h="476875">
                <a:tc row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600"/>
                        <a:buFont typeface="Libre Franklin"/>
                        <a:buNone/>
                      </a:pPr>
                      <a:r>
                        <a:rPr lang="fr-FR" sz="3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Indicateurs</a:t>
                      </a:r>
                      <a:endParaRPr i="0" sz="3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7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 </a:t>
                      </a:r>
                      <a:r>
                        <a:rPr b="1" lang="fr-FR" sz="17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avril 2025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fr-FR" sz="17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avril 2026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</a:tr>
              <a:tr h="968375"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5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5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5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5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878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rPr lang="fr-FR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notifiés dans le REH</a:t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983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rPr lang="fr-FR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notifiés par la surveillance au cas par cas</a:t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821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rPr lang="fr-FR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investigués et prélevés</a:t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1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V. Leçons apprises et bonnes pratiques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7" name="Google Shape;207;p21"/>
          <p:cNvSpPr txBox="1"/>
          <p:nvPr>
            <p:ph idx="1" type="body"/>
          </p:nvPr>
        </p:nvSpPr>
        <p:spPr>
          <a:xfrm>
            <a:off x="838200" y="18002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2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V. ANALYSE FFOM par composante ACZ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3" name="Google Shape;213;p22"/>
          <p:cNvSpPr txBox="1"/>
          <p:nvPr>
            <p:ph idx="1" type="body"/>
          </p:nvPr>
        </p:nvSpPr>
        <p:spPr>
          <a:xfrm>
            <a:off x="838200" y="18002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3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VI. Problèmes prioritaires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9" name="Google Shape;219;p23"/>
          <p:cNvSpPr txBox="1"/>
          <p:nvPr>
            <p:ph idx="1" type="body"/>
          </p:nvPr>
        </p:nvSpPr>
        <p:spPr>
          <a:xfrm>
            <a:off x="838200" y="18002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4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VI. Analyses causales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25" name="Google Shape;225;p24"/>
          <p:cNvSpPr txBox="1"/>
          <p:nvPr>
            <p:ph idx="1" type="body"/>
          </p:nvPr>
        </p:nvSpPr>
        <p:spPr>
          <a:xfrm>
            <a:off x="838200" y="18002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5"/>
          <p:cNvSpPr txBox="1"/>
          <p:nvPr>
            <p:ph type="title"/>
          </p:nvPr>
        </p:nvSpPr>
        <p:spPr>
          <a:xfrm>
            <a:off x="688932" y="365125"/>
            <a:ext cx="10664868" cy="58685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ct val="100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VII. Plan de redressement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31" name="Google Shape;231;p25"/>
          <p:cNvSpPr txBox="1"/>
          <p:nvPr>
            <p:ph idx="1" type="body"/>
          </p:nvPr>
        </p:nvSpPr>
        <p:spPr>
          <a:xfrm>
            <a:off x="325677" y="1402915"/>
            <a:ext cx="11028123" cy="4748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6"/>
          <p:cNvSpPr txBox="1"/>
          <p:nvPr>
            <p:ph type="title"/>
          </p:nvPr>
        </p:nvSpPr>
        <p:spPr>
          <a:xfrm>
            <a:off x="688932" y="365125"/>
            <a:ext cx="10664868" cy="58685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ct val="100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VII. Besoins en formation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37" name="Google Shape;237;p26"/>
          <p:cNvSpPr txBox="1"/>
          <p:nvPr>
            <p:ph idx="1" type="body"/>
          </p:nvPr>
        </p:nvSpPr>
        <p:spPr>
          <a:xfrm>
            <a:off x="325677" y="1402915"/>
            <a:ext cx="11028123" cy="4748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27"/>
          <p:cNvSpPr txBox="1"/>
          <p:nvPr>
            <p:ph type="title"/>
          </p:nvPr>
        </p:nvSpPr>
        <p:spPr>
          <a:xfrm rot="-1997459">
            <a:off x="1531057" y="3042541"/>
            <a:ext cx="6581775" cy="16320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12420"/>
              <a:buFont typeface="Arimo"/>
              <a:buNone/>
            </a:pPr>
            <a:r>
              <a:rPr b="1" lang="fr-FR" sz="12220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MERCI !</a:t>
            </a:r>
            <a:endParaRPr sz="376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Complétude &amp; Promptitude par Zone de Santé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792000"/>
          <a:ext cx="11832000" cy="5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Complétude &amp; Promptitude par Aire de Santé (1)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792000"/>
          <a:ext cx="11832000" cy="5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Complétude &amp; Promptitude par Aire de Santé (2)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792000"/>
          <a:ext cx="11832000" cy="5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Complétude &amp; Promptitude par Aire de Santé (3)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792000"/>
          <a:ext cx="11832000" cy="5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Couverture vaccinale administrative par ZS — tous antigènes (%)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720000"/>
          <a:ext cx="11831980" cy="2678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72540"/>
                <a:gridCol w="532972"/>
                <a:gridCol w="532972"/>
                <a:gridCol w="532972"/>
                <a:gridCol w="532972"/>
                <a:gridCol w="532972"/>
                <a:gridCol w="532972"/>
                <a:gridCol w="532972"/>
                <a:gridCol w="532972"/>
                <a:gridCol w="532972"/>
                <a:gridCol w="532972"/>
                <a:gridCol w="532972"/>
                <a:gridCol w="532972"/>
                <a:gridCol w="532972"/>
                <a:gridCol w="532972"/>
                <a:gridCol w="532972"/>
                <a:gridCol w="532972"/>
                <a:gridCol w="532972"/>
                <a:gridCol w="532972"/>
                <a:gridCol w="532972"/>
                <a:gridCol w="532972"/>
              </a:tblGrid>
              <a:tr h="2232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Zone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VPO0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DTC1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VPO1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ROTA1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PCV13-1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DTC2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VPO2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ROTA2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PCV13-2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DTC3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VPO3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VPI1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ROTA3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PCV13-3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VAR1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VPI2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VAR2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Td2+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1E293B"/>
                          </a:solidFill>
                        </a:rPr>
                        <a:t>TOTAL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Kikimi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255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Kimbanseke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Maluku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Maluku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Masina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Masina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Ndjili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Couverture vaccinale administrative par AS — tous antigènes (%) (1)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720000"/>
          <a:ext cx="11831983" cy="592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61203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</a:tblGrid>
              <a:tr h="219333"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VPO0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DTC1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ROTA1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PCV13-1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DTC2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ROTA2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PCV13-2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DTC3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VPI1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ROTA3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PCV13-3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VAR1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VPI2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VAR2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Td2+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Batumuna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Kamba Mulumba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Kisantu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Luebo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Luebo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Malonda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Malonda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Mokali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Sakombi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Sakombi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Bisengo Mwambe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Bosembo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Cité De L'Espoir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Kikimi (Kikimi)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1480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Lobiko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Marechal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Mfumu Nketo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Mikondo (Kikimi)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Ngampani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Bahumbu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183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Bamboma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170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170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170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170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Boma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Esanga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Kimfuta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19342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Kutu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Couverture vaccinale administrative par AS — tous antigènes (%) (2)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720000"/>
          <a:ext cx="11831983" cy="592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61203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</a:tblGrid>
              <a:tr h="219333"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VPO0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DTC1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ROTA1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PCV13-1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DTC2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ROTA2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PCV13-2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DTC3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VPI1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ROTA3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PCV13-3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VAR1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VPI2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VAR2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Td2+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Mangana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Maviokele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Mbuala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Nsumabua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Salongo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17 Mai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182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Atandele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Lisanga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Molende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Mulie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Nsanga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St Paul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Basuku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Bita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Bu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Kikimi (Maluku 1)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Kimpoko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171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Kingankati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Kingankati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Maluku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Mangegenge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Mayindombe1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Mayindombe2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Menkao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19342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Monako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Couverture vaccinale administrative par AS — tous antigènes (%) (3)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720000"/>
          <a:ext cx="11831983" cy="592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61203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</a:tblGrid>
              <a:tr h="219333"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VPO0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DTC1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ROTA1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PCV13-1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DTC2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ROTA2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PCV13-2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DTC3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VPI1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ROTA3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PCV13-3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VAR1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VPI2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VAR2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Td2+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Ngana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271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Nguma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Nguma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Bukana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Busira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Dumi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Kingawa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Kinguala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Mampu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Mbankana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Mbete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Mongata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Nkieme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Yoso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Yuo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Abattoire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Abattoire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Boba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Efoloko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Imbali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Kimbangu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Mfumu Nsuka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Mfumu Nsuka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183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Nzuzi Wa Mbombo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Sans Fils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185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42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Tshiangu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Couverture vaccinale administrative par AS — tous antigènes (%) (4)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720000"/>
          <a:ext cx="11831983" cy="592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61203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</a:tblGrid>
              <a:tr h="219333"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VPO0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DTC1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ROTA1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PCV13-1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DTC2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ROTA2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PCV13-2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DTC3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VPI1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ROTA3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PCV13-3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VAR1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VPI2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VAR2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Td2+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Télévision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Congo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Kasai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Kivu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Lokari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Lubamba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Mafuta Kizola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Mandiangu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Mapela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Matadi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Pelende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Tshuenge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Quartier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Quartier 10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Quartier 11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Quartier 12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Quartier 13 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Quartier 13 B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Quartier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Quartier 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Quartier 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Quartier 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Quartier 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Quartier 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178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176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176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175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176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175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175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175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Quartier 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42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Quartier 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Couverture vaccinale administrative par AS — tous antigènes (%) (5)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720000"/>
          <a:ext cx="11831983" cy="3571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61203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</a:tblGrid>
              <a:tr h="223200"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VPO0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DTC1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ROTA1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PCV13-1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DTC2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ROTA2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PCV13-2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DTC3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VPI1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ROTA3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PCV13-3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VAR1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VPI2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VAR2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Td2+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Badara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Bahumbu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Bahumbu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Bibwa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Buma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Dingidingi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Fleuve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Kindobo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Mikala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Mikondo (Nsele)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Mikonga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Mpasa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Mpasa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Pecheur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Zéro-Dose (ZD) et Sous-Vaccinés (SV) par ZS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792000"/>
          <a:ext cx="11832000" cy="5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Zéro-Dose (ZD) et Sous-Vaccinés (SV) par AS (1)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792000"/>
          <a:ext cx="11832000" cy="5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Zéro-Dose (ZD) et Sous-Vaccinés (SV) par AS (2)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792000"/>
          <a:ext cx="11832000" cy="5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Zéro-Dose (ZD) et Sous-Vaccinés (SV) par AS (3)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792000"/>
          <a:ext cx="11832000" cy="5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Catégorisation ACZ par ZS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Cat.1: P1≥90 &amp; TA≤10 · Cat.2: P1≥90 &amp; TA&gt;10 · Cat.3: P1&lt;90 &amp; TA≤10 · Cat.4: P1&lt;90 &amp; TA&gt;10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64000"/>
          <a:ext cx="11831999" cy="2678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36421"/>
                <a:gridCol w="2490947"/>
                <a:gridCol w="3113684"/>
                <a:gridCol w="2490947"/>
              </a:tblGrid>
              <a:tr h="2232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Zone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CV Penta1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Taux abandon DTC1-DTC3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Catégorie ACZ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93B"/>
                          </a:solidFill>
                        </a:rPr>
                        <a:t>TOTAL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101.2%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6.1%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98.5%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12.5%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Kikimi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108.7%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7.5%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Kimbanseke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104.1%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5.6%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88.3%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5.4%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Maluku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110.8%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7.6%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Maluku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84.7%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2.8%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Masina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105.9%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4.7%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Masina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91.0%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Ndjili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101.1%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9.1%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102.7%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Catégorisation ACZ par AS (1)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Cat.1: P1≥90 &amp; TA≤10 · Cat.2: P1≥90 &amp; TA&gt;10 · Cat.3: P1&lt;90 &amp; TA≤10 · Cat.4: P1&lt;90 &amp; TA&gt;10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64000"/>
          <a:ext cx="11831999" cy="577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36421"/>
                <a:gridCol w="2490947"/>
                <a:gridCol w="3113684"/>
                <a:gridCol w="2490947"/>
              </a:tblGrid>
              <a:tr h="13437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CV Penta1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Taux abandon DTC1-DTC3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Catégorie ACZ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Batumuna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90.1%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20.0%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88.3%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Kamba Mulumba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76.4%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14.8%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Kisantu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93.7%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Luebo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77.0%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Luebo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Malonda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132.6%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23.5%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Malonda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95.5%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Mokali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93.1%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-8.4%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Sakombi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113.3%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18.9%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Sakombi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108.4%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Bisengo Mwambe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86.8%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Bosembo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101.5%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6.6%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Cité De L'Espoir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106.9%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-1.0%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Kikimi (Kikimi)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94.0%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Lobiko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95.4%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Marechal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116.8%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Mfumu Nketo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136.3%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6.7%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Mikondo (Kikimi)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119.5%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Ngampani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104.8%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Bahumbu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119.8%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Bamboma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169.9%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Boma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91.3%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4.8%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Esanga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80.3%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Kimfuta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101.5%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Kutu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102.0%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Mangana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88.8%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Maviokele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123.9%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Mbuala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104.6%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1.6%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Nsumabua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81.8%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Salongo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117.0%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17 Mai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134.3%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Atandele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87.9%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103.7%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Lisanga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82.1%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-2.3%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Molende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71.7%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15.6%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Mulie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65.2%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Nsanga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83.5%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St Paul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90.7%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5.9%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Basuku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105.9%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Bita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114.2%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103.1%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Catégorisation ACZ par AS (2)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Cat.1: P1≥90 &amp; TA≤10 · Cat.2: P1≥90 &amp; TA&gt;10 · Cat.3: P1&lt;90 &amp; TA≤10 · Cat.4: P1&lt;90 &amp; TA&gt;10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64000"/>
          <a:ext cx="11831999" cy="577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36421"/>
                <a:gridCol w="2490947"/>
                <a:gridCol w="3113684"/>
                <a:gridCol w="2490947"/>
              </a:tblGrid>
              <a:tr h="13437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CV Penta1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Taux abandon DTC1-DTC3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Catégorie ACZ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Kikimi (Maluku 1)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120.1%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22.6%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Kimpoko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73.5%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17.5%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Kingankati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130.1%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16.1%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Kingankati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83.2%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Maluku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123.2%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Mangegenge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105.0%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Mayindombe1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96.2%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Mayindombe2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95.6%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23.2%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Menkao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110.2%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Monako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122.4%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Ngana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96.5%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24.2%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Nguma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111.5%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Nguma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97.6%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3.9%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Bukana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95.4%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Busira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86.2%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-8.6%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Dumi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140.4%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Kingawa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84.4%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-2.4%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Kinguala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74.2%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Mampu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69.2%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Mbankana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109.0%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Mbete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95.7%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Mongata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54.8%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-2.9%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Nkieme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18.0%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3.8%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Yoso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54.3%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Yuo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98.2%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Abattoire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94.5%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Abattoire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94.5%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-1.4%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Boba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120.0%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Efoloko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117.0%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Imbali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77.2%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Kimbangu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96.9%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Mfumu Nsuka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103.6%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Mfumu Nsuka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104.1%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Nzuzi Wa Mbombo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136.1%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15.7%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Sans Fils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128.8%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Tshiangu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95.7%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Télévision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99.1%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1.6%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Congo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94.1%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Kasai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77.5%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-0.5%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Kivu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96.9%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Lokari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84.4%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0.9%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3437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Lubamba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93.4%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Catégorisation ACZ par AS (3)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Cat.1: P1≥90 &amp; TA≤10 · Cat.2: P1≥90 &amp; TA&gt;10 · Cat.3: P1&lt;90 &amp; TA≤10 · Cat.4: P1&lt;90 &amp; TA&gt;10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64000"/>
          <a:ext cx="11831999" cy="577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36421"/>
                <a:gridCol w="2490947"/>
                <a:gridCol w="3113684"/>
                <a:gridCol w="2490947"/>
              </a:tblGrid>
              <a:tr h="1605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CV Penta1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Taux abandon DTC1-DTC3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Catégorie ACZ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Mafuta Kizola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83.2%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Mandiangu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102.2%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Mapela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99.0%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Matadi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99.0%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Pelende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79.0%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Tshuenge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-2.7%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103.1%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92.7%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127.5%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-4.1%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44.9%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-14.6%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13 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167.9%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10.6%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13 B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73.4%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113.5%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17.2%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59.6%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-1.0%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43.2%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104.3%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89.5%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175.7%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18.4%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12.9%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127.4%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Badara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103.5%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Bahumbu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92.2%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Bahumbu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79.8%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Bibwa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77.5%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Buma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105.3%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Dingidingi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104.9%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Fleuve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57.6%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Kindobo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117.4%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Mikala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110.2%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Mikondo (Nsele)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102.7%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Mikonga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123.5%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Mpasa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117.0%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Mpasa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119.7%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123.2%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Pecheur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71.0%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disponibilité des intrants par ZS (BCG, DTC, VAR, VPO)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720000"/>
          <a:ext cx="11832000" cy="2678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44000"/>
                <a:gridCol w="1972000"/>
                <a:gridCol w="1972000"/>
                <a:gridCol w="1972000"/>
                <a:gridCol w="1972000"/>
              </a:tblGrid>
              <a:tr h="2232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Zone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93B"/>
                          </a:solidFill>
                        </a:rPr>
                        <a:t>TOTAL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95.1%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96.1%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96.4%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95.8%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Kikimi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Kimbanseke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Maluku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73.7%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79.3%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81.0%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77.6%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Maluku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Masina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Masina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Ndjili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disponibilité des intrants par AS (BCG, DTC, VAR, VPO) (1)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720000"/>
          <a:ext cx="11832000" cy="592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44000"/>
                <a:gridCol w="1972000"/>
                <a:gridCol w="1972000"/>
                <a:gridCol w="1972000"/>
                <a:gridCol w="1972000"/>
              </a:tblGrid>
              <a:tr h="144439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Batumuna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Kamba Mulumba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Kisantu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Luebo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Luebo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Malonda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Malonda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Mokali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Sakombi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Sakombi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Bisengo Mwambe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Bosembo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Cité De L'Espoir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Kikimi (Kikimi)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Lobiko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Marechal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Mfumu Nketo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Mikondo (Kikimi)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Ngampani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Bahumbu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Bamboma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Boma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Esanga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Kimfuta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Kutu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Mangana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Maviokele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Mbuala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Nsumabua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Salongo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17 Mai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Atandele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Lisanga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Molende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Mulie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Nsanga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St Paul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4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Basuku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66.7%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disponibilité des intrants par AS (BCG, DTC, VAR, VPO) (2)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720000"/>
          <a:ext cx="11832000" cy="592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44000"/>
                <a:gridCol w="1972000"/>
                <a:gridCol w="1972000"/>
                <a:gridCol w="1972000"/>
                <a:gridCol w="1972000"/>
              </a:tblGrid>
              <a:tr h="144439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Bita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25.0%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50.0%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50.0%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25.0%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33.3%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50.0%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50.0%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50.0%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Kikimi (Maluku 1)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Kimpoko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66.7%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66.7%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66.7%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66.7%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Kingankati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Kingankati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66.7%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Maluku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Mangegenge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Mayindombe1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Mayindombe2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Menkao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50.0%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Monako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Ngana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Nguma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Nguma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Bukana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Busira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Dumi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Kingawa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Kinguala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Mampu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Mbankana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Mbete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Mongata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Nkieme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Yoso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Yuo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Abattoire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Abattoire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Boba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Efoloko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Imbali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Kimbangu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Mfumu Nsuka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Mfumu Nsuka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Nzuzi Wa Mbombo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Sans Fils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Tshiangu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Télévision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444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Congo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disponibilité des intrants par AS (BCG, DTC, VAR, VPO) (3)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720000"/>
          <a:ext cx="11832000" cy="592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44000"/>
                <a:gridCol w="1972000"/>
                <a:gridCol w="1972000"/>
                <a:gridCol w="1972000"/>
                <a:gridCol w="1972000"/>
              </a:tblGrid>
              <a:tr h="14805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Kasai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Kivu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Lokari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Lubamba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Mafuta Kizola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Mandiangu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Mapela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Matadi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Pelende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Tshuenge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10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11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12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13 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13 B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Badara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Bahumbu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Bahumbu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Bibwa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Buma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Dingidingi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Fleuve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Kindobo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Mikala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Mikondo (Nsele)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Mikonga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Mpasa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Mpasa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Pecheur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perte par ZS et antigène traceur (VPO, DTC, VAR, VAA, Td)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720000"/>
          <a:ext cx="11831994" cy="2678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49599"/>
                <a:gridCol w="1656479"/>
                <a:gridCol w="1656479"/>
                <a:gridCol w="1656479"/>
                <a:gridCol w="1656479"/>
                <a:gridCol w="1656479"/>
              </a:tblGrid>
              <a:tr h="2232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Zone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Td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93B"/>
                          </a:solidFill>
                        </a:rPr>
                        <a:t>TOTAL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15.7%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13.7%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20.0%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21.9%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Kikimi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Kimbanseke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6.4%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5.8%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11.2%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5.9%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Maluku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Maluku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6.3%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13.6%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20.0%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8.3%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Masina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4.0%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2.0%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Masina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Ndjili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perte par AS et antigène traceur (VPO, DTC, VAR, VAA, Td) (1)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720000"/>
          <a:ext cx="11831994" cy="592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49599"/>
                <a:gridCol w="1656479"/>
                <a:gridCol w="1656479"/>
                <a:gridCol w="1656479"/>
                <a:gridCol w="1656479"/>
                <a:gridCol w="1656479"/>
              </a:tblGrid>
              <a:tr h="144439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Td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Batumuna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11.9%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15.7%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26.2%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14.3%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14.0%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24.1%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Kamba Mulumba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14.3%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8.5%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16.1%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24.4%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25.1%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Kisantu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11.1%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14.4%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17.7%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Luebo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13.1%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12.0%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15.8%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11.2%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Luebo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12.2%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15.6%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6.5%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Malonda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13.5%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Malonda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18.1%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17.5%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38.0%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Mokali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26.2%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29.4%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23.7%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30.5%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33.7%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Sakombi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19.9%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15.8%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36.3%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47.2%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42.9%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Sakombi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40.1%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36.8%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70.3%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50.3%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Bisengo Mwambe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11.9%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11.6%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24.9%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24.6%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16.7%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Bosembo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Cité De L'Espoir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Kikimi (Kikimi)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13.6%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Lobiko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Marechal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Mfumu Nketo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Mikondo (Kikimi)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Ngampani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Bahumbu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Bamboma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11.4%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Boma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Esanga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12.1%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Kimfuta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7.3%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27.0%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25.7%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Kutu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Mangana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Maviokele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7.5%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Mbuala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5.3%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39.2%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Nsumabua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6.3%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22.0%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15.5%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Salongo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17 Mai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9.5%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Atandele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13.3%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17.7%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Lisanga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Molende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8.5%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11.9%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Mulie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11.2%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12.2%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Nsanga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St Paul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11.2%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12.3%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4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Basuku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52.7%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24.9%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31.4%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28.6%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26.4%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perte par AS et antigène traceur (VPO, DTC, VAR, VAA, Td) (2)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720000"/>
          <a:ext cx="11831994" cy="592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49599"/>
                <a:gridCol w="1656479"/>
                <a:gridCol w="1656479"/>
                <a:gridCol w="1656479"/>
                <a:gridCol w="1656479"/>
                <a:gridCol w="1656479"/>
              </a:tblGrid>
              <a:tr h="144439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Td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Bita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Kikimi (Maluku 1)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22.0%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Kimpoko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Kingankati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18.0%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18.0%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Kingankati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Maluku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Mangegenge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Mayindombe1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50.4%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51.7%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49.9%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52.1%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Mayindombe2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37.5%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Menkao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Monako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Ngana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14.4%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18.7%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26.7%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Nguma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Nguma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Bukana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13.4%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18.8%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14.0%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Busira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15.4%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12.0%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21.7%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21.7%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22.3%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Dumi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7.3%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13.9%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Kingawa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14.2%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21.7%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Kinguala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24.2%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28.9%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52.9%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36.7%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33.3%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Mampu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29.7%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5.5%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Mbankana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Mbete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17.9%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14.2%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25.3%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36.7%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16.0%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Mongata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25.0%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33.8%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21.9%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15.6%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Nkieme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13.2%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Yoso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12.1%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14.0%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47.8%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47.8%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29.3%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Yuo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10.5%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11.8%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25.5%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32.7%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12.7%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Abattoire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Abattoire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Boba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Efoloko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Imbali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Kimbangu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Mfumu Nsuka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Mfumu Nsuka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Nzuzi Wa Mbombo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Sans Fils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Tshiangu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Télévision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444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Congo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21.2%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12.8%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8.5%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19.1%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perte par AS et antigène traceur (VPO, DTC, VAR, VAA, Td) (3)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720000"/>
          <a:ext cx="11831994" cy="592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49599"/>
                <a:gridCol w="1656479"/>
                <a:gridCol w="1656479"/>
                <a:gridCol w="1656479"/>
                <a:gridCol w="1656479"/>
                <a:gridCol w="1656479"/>
              </a:tblGrid>
              <a:tr h="14805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Td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Kasai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14.5%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Kivu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13.6%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Lokari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Lubamba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Mafuta Kizola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17.8%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Mandiangu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Mapela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Matadi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11.8%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12.6%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27.7%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28.8%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Pelende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9.5%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Tshuenge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25.6%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27.8%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17.0%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32.0%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10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11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12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13 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13 B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Badara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Bahumbu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Bahumbu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Bibwa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Buma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Dingidingi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Fleuve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Kindobo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Mikala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Mikondo (Nsele)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Mikonga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Mpasa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Mpasa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Pecheur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perdus de vue identifiés et récupérés par les RECO — par ZS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DTC = Penta1+Penta3 (RECO). VAR : récupérés VAR1 BCU-FAE (identifiés non collectés dans DHIS2).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64000"/>
          <a:ext cx="11831999" cy="2678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76320"/>
                <a:gridCol w="2366400"/>
                <a:gridCol w="2366400"/>
                <a:gridCol w="1656479"/>
                <a:gridCol w="2366400"/>
              </a:tblGrid>
              <a:tr h="2232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Entité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Identifiés DTC (Penta1+3)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Récupérés DTC (Penta1+3)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% récup. DTC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Récupérés VAR1 (BCU-FAE)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93B"/>
                          </a:solidFill>
                        </a:rPr>
                        <a:t>TOTAL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6398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5390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3061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1058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984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258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Kikimi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1486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1131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Kimbanseke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209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195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227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1245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1221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658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Maluku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612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402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663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Maluku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588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340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264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Masina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632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621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469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Masina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312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277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Ndjili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196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161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396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perdus de vue identifiés et récupérés par les RECO — par AS (1)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DTC = Penta1+Penta3 (RECO). VAR : récupérés VAR1 BCU-FAE.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64000"/>
          <a:ext cx="11831999" cy="577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76320"/>
                <a:gridCol w="2366400"/>
                <a:gridCol w="2366400"/>
                <a:gridCol w="1656479"/>
                <a:gridCol w="2366400"/>
              </a:tblGrid>
              <a:tr h="186387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Identifiés DTC (Penta1+3)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Récupérés DTC (Penta1+3)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% récup. DTC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Récupérés VAR1 (BCU-FAE)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Batumuna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31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78%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89%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252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Kamba Mulumba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Kisantu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88%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Luebo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25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71%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Luebo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154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135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88%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Malonda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235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234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Malonda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97%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Mokali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96%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Sakombi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94%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Sakombi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91%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Bisengo Mwambe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37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Bosembo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236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221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94%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Cité De L'Espoir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Kikimi (Kikimi)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466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403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86%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Lobiko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185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69%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Marechal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132%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Mfumu Nketo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160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67%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Mikondo (Kikimi)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31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32%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Ngampani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262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183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70%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Bahumbu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Bamboma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44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83%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Boma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172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Esanga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Kimfuta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Kutu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Mangana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86%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Maviokele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Mbuala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9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Nsumabua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49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perdus de vue identifiés et récupérés par les RECO — par AS (2)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DTC = Penta1+Penta3 (RECO). VAR : récupérés VAR1 BCU-FAE.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64000"/>
          <a:ext cx="11831999" cy="577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76320"/>
                <a:gridCol w="2366400"/>
                <a:gridCol w="2366400"/>
                <a:gridCol w="1656479"/>
                <a:gridCol w="2366400"/>
              </a:tblGrid>
              <a:tr h="186387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Identifiés DTC (Penta1+3)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Récupérés DTC (Penta1+3)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% récup. DTC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Récupérés VAR1 (BCU-FAE)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Salongo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17 Mai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273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257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94%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Atandele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30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73%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51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51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Lisanga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242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242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Molende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154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154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Mulie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38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Nsanga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356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356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299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St Paul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Basuku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Bita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67%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Kikimi (Maluku 1)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44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50%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Kimpoko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83%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Kingankati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Kingankati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Maluku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44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92%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Mangegenge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457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Mayindombe1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Mayindombe2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76%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Menkao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Monako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157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45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Ngana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Nguma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Nguma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Bukana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44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44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Busira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44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36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82%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Dumi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98%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Kingawa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9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Kinguala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perdus de vue identifiés et récupérés par les RECO — par AS (3)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DTC = Penta1+Penta3 (RECO). VAR : récupérés VAR1 BCU-FAE.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64000"/>
          <a:ext cx="11831999" cy="577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76320"/>
                <a:gridCol w="2366400"/>
                <a:gridCol w="2366400"/>
                <a:gridCol w="1656479"/>
                <a:gridCol w="2366400"/>
              </a:tblGrid>
              <a:tr h="186387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Identifiés DTC (Penta1+3)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Récupérés DTC (Penta1+3)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% récup. DTC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Récupérés VAR1 (BCU-FAE)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Mampu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70%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264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Mbankana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Mbete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Mongata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84%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Nkieme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Yoso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31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78%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Yuo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218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38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Abattoire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43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Abattoire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25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96%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39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Boba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Efoloko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99%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Imbali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130%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Kimbangu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95%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Mfumu Nsuka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Mfumu Nsuka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Nzuzi Wa Mbombo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Sans Fils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35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Tshiangu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35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Télévision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81%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25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Congo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91%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Kasai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Kivu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65%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Lokari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Lubamba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33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Mafuta Kizola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Mandiangu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93%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Mapela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47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98%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Matadi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86387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Pelende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51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31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61%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8639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Tshuenge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perdus de vue identifiés et récupérés par les RECO — par AS (4)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DTC = Penta1+Penta3 (RECO). VAR : récupérés VAR1 BCU-FAE.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64000"/>
          <a:ext cx="11831999" cy="577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76320"/>
                <a:gridCol w="2366400"/>
                <a:gridCol w="2366400"/>
                <a:gridCol w="1656479"/>
                <a:gridCol w="2366400"/>
              </a:tblGrid>
              <a:tr h="1926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Identifiés DTC (Penta1+3)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Récupérés DTC (Penta1+3)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% récup. DTC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Récupérés VAR1 (BCU-FAE)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1926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50%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926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10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926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11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926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12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926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13 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926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13 B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926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926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926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926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926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926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926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926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926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Badara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37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926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Bahumbu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37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926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Bahumbu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926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Bibwa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67%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926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Buma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926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Dingidingi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926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Fleuve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25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926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Kindobo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926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Mikala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36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926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Mikondo (Nsele)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926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Mikonga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926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Mpasa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35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926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Mpasa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926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23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926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Pecheur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14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d'abandon DTC1-DTC3 et BCG-VAR1(RR1) par ZS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792000"/>
          <a:ext cx="11832000" cy="5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d'abandon DTC1-DTC3 et BCG-VAR1(RR1) par AS (1)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792000"/>
          <a:ext cx="11832000" cy="5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d'abandon DTC1-DTC3 et BCG-VAR1(RR1) par AS (2)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792000"/>
          <a:ext cx="11832000" cy="5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d'abandon DTC1-DTC3 et BCG-VAR1(RR1) par AS (3)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792000"/>
          <a:ext cx="11832000" cy="5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hèm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résentation révue annuelle PEV 2017_Ir David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2017-11-22T23:57:00Z</dcterms:created>
  <dc:creator>David OLELA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CE351DEDF0EC43A685784B40C14E27B8_13</vt:lpwstr>
  </property>
  <property fmtid="{D5CDD505-2E9C-101B-9397-08002B2CF9AE}" pid="3" name="KSOProductBuildVer">
    <vt:lpwstr>3084-12.2.0.23196</vt:lpwstr>
  </property>
</Properties>
</file>